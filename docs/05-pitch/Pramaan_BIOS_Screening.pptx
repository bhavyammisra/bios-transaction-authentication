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04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We're team Caffeinated Nerds, on the Frontier challenge: Fast and Secure Online Transaction Authentication. Today every online payment in India gets the same check, a PIN or an OTP. That proves who holds the credential, but not whether this payment makes sense right now. And fraud has moved. In April 2026 the RBI said account-takeover fraud is now negligible. Most fraud is authorised push payment: the real user, on their own phone, types their own OTP while a scammer coaches them. Indians lost about 22,500 crore rupees to cyber fraud in 2025, and around 85 percent of that came from investment and digital-arrest scams. Our stakeholders are banks, UPI apps and payment gateways, who must decide in milliseconds, on behalf of everyday users, especially seniors. The obvious fix, delaying every big transfer, punishes every honest user, so we want precision instead. Primary SDG 16.4, supported by 8.10 and 9.1.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families of solutions exist today. First, static two-factor auth: PIN, OTP, 3-D Secure. It's mandatory and it's the floor, but it checks the credential, not the context. A coached victim simply types it in. Second, commercial risk engines like Stripe Radar, Sift and BioCatch. They're powerful, but proprietary and expensive, the output is a score for an analyst, and the challenge is a generic OTP regardless of what kind of risk it is. Third, India's ecosystem tools: NPCI's fraud monitoring, DoT's Fraud Risk Indicator, RBI's MuleHunter. They're great reputation lists, but they work after the fact: a number has to be reported first, and they score the receiver, not this session. So the gap is a lightweight real-time service that fuses all three signal families into an explained decision and picks the right kind of challenge.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solution is Pramaan, which means proof. It's a cloud risk API that a bank or UPI app calls just before the PIN or OTP step. It scores more than 20 signals against the user's own history and returns allow, challenge or block in milliseconds, with reasons in plain language. Two things make it different. First, thresholds depend on the amount: a 40-rupee tea is never stopped, an 85,000-rupee first-time transfer is checked closely. Second, the challenge depends on the kind of risk. Look at the same 85,000-rupee payment in four situations. Usual payee, own phone: allowed. New phone and a SIM swap yesterday: that's an impostor, so we ask for the owner's fingerprint. Own phone at home, but on a call and pasting a new UPI ID: that's a coached victim. An OTP won't help, so we pause it for 30 minutes and ask a trusted contact. An emulator firing 15 attempts: blocked.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it works. One: the payment app, with our small SDK, sends the transaction, device info and session behaviour, like typing rhythm, time on the confirm screen, a pasted payee, and on mobile whether a call or screen-share is active. Two: our FastAPI service on Cloud Run validates it and starts a timer. Three: we build 20-plus features against this user's own history from a Redis profile store. Four, the risk engine: hard rules first, then a LightGBM model gives a fraud probability, TreeSHAP tells us each signal's contribution, the strongest family tells us the risk type, and a cost policy picks the decision. The thresholds tighten as the amount grows, and the challenge type is whichever costs least for that risk type. Five: allow, challenge or block, plus reasons and latency. If we ever take longer than 150 milliseconds we fall back to standard 2FA, so we never fail open. Everything is logged to Supabase and streamed to a live dashboard. Our training data is synthetic, and we say so: no public dataset has these signals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we'll actually build in the hack: a live authenticate API on Cloud Run, the full risk engine, a demo UPI-style app with our SDK, a live dashboard, and a synthetic dataset with four attack types plus scenario tests and a load test. We're honest about the risks. Our data is synthetic, so we add hard negatives, report metrics per attack type and sanity-check on public datasets. Call and screen-share state needs a mobile SDK, so missing signals count as unknown, never safe. False positives hurt real people, so we only block at very high confidence and keep challenges under five percent. And there's privacy: we store derived features only, under the DPDP Act. Success means catching at least 80 percent of scam-type fraud while challenging at most 5 percent of honest payments, letting 90 percent of honest big transfers through with no delay, and deciding in under 50 milliseconds.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75646F-75AE-287F-BF55-16CDE5860235}"/>
              </a:ext>
            </a:extLst>
          </p:cNvPr>
          <p:cNvPicPr>
            <a:picLocks noChangeAspect="1"/>
          </p:cNvPicPr>
          <p:nvPr userDrawn="1"/>
        </p:nvPicPr>
        <p:blipFill>
          <a:blip r:embed="rId2"/>
          <a:stretch>
            <a:fillRect/>
          </a:stretch>
        </p:blipFill>
        <p:spPr>
          <a:xfrm>
            <a:off x="392844" y="413302"/>
            <a:ext cx="2446230" cy="9304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1 OF 5</a:t>
            </a:r>
            <a:endParaRPr lang="en-US" sz="1200" dirty="0"/>
          </a:p>
        </p:txBody>
      </p:sp>
      <p:sp>
        <p:nvSpPr>
          <p:cNvPr id="4" name="Text 2"/>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Problem, Stakeholder &amp; SDGs</a:t>
            </a:r>
            <a:endParaRPr lang="en-US" sz="2800" dirty="0"/>
          </a:p>
        </p:txBody>
      </p:sp>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Fraud has moved past OTPs: victims now approve the payment themselves</a:t>
            </a:r>
            <a:endParaRPr lang="en-US" sz="2000" dirty="0"/>
          </a:p>
        </p:txBody>
      </p:sp>
      <p:sp>
        <p:nvSpPr>
          <p:cNvPr id="7" name="Team strip"/>
          <p:cNvSpPr/>
          <p:nvPr/>
        </p:nvSpPr>
        <p:spPr>
          <a:xfrm>
            <a:off x="3794760" y="603504"/>
            <a:ext cx="7955279" cy="822960"/>
          </a:xfrm>
          <a:prstGeom prst="roundRect">
            <a:avLst>
              <a:gd name="adj" fmla="val 12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r>
              <a:rPr sz="1150" b="1" i="0">
                <a:solidFill>
                  <a:srgbClr val="1E2761"/>
                </a:solidFill>
                <a:latin typeface="Calibri"/>
              </a:rPr>
              <a:t>Team Caffeinated Nerds</a:t>
            </a:r>
            <a:r>
              <a:rPr sz="1100" b="0" i="0">
                <a:solidFill>
                  <a:srgbClr val="1E2761"/>
                </a:solidFill>
                <a:latin typeface="Calibri"/>
              </a:rPr>
              <a:t>   ·   Frontier · Fast and Secure Online Transaction Authentication   ·   Challenge ID: ________</a:t>
            </a:r>
          </a:p>
        </p:txBody>
      </p:sp>
      <p:sp>
        <p:nvSpPr>
          <p:cNvPr id="8" name="Member 1"/>
          <p:cNvSpPr txBox="1"/>
          <p:nvPr/>
        </p:nvSpPr>
        <p:spPr>
          <a:xfrm>
            <a:off x="3904487"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Bhavyam Misra</a:t>
            </a:r>
          </a:p>
          <a:p>
            <a:pPr algn="l"/>
            <a:r>
              <a:rPr sz="1000" b="0" i="0">
                <a:solidFill>
                  <a:srgbClr val="5A6275"/>
                </a:solidFill>
                <a:latin typeface="Calibri"/>
              </a:rPr>
              <a:t>Roll No: ______________</a:t>
            </a:r>
          </a:p>
        </p:txBody>
      </p:sp>
      <p:sp>
        <p:nvSpPr>
          <p:cNvPr id="9" name="Member 2"/>
          <p:cNvSpPr txBox="1"/>
          <p:nvPr/>
        </p:nvSpPr>
        <p:spPr>
          <a:xfrm>
            <a:off x="5852159"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Gunagye Jain</a:t>
            </a:r>
          </a:p>
          <a:p>
            <a:pPr algn="l"/>
            <a:r>
              <a:rPr sz="1000" b="0" i="0">
                <a:solidFill>
                  <a:srgbClr val="5A6275"/>
                </a:solidFill>
                <a:latin typeface="Calibri"/>
              </a:rPr>
              <a:t>Roll No: ______________</a:t>
            </a:r>
          </a:p>
        </p:txBody>
      </p:sp>
      <p:sp>
        <p:nvSpPr>
          <p:cNvPr id="10" name="Member 3"/>
          <p:cNvSpPr txBox="1"/>
          <p:nvPr/>
        </p:nvSpPr>
        <p:spPr>
          <a:xfrm>
            <a:off x="7799831"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Abhijay Nagal</a:t>
            </a:r>
          </a:p>
          <a:p>
            <a:pPr algn="l"/>
            <a:r>
              <a:rPr sz="1000" b="0" i="0">
                <a:solidFill>
                  <a:srgbClr val="5A6275"/>
                </a:solidFill>
                <a:latin typeface="Calibri"/>
              </a:rPr>
              <a:t>Roll No: ______________</a:t>
            </a:r>
          </a:p>
        </p:txBody>
      </p:sp>
      <p:sp>
        <p:nvSpPr>
          <p:cNvPr id="11" name="Member 4"/>
          <p:cNvSpPr txBox="1"/>
          <p:nvPr/>
        </p:nvSpPr>
        <p:spPr>
          <a:xfrm>
            <a:off x="9747504" y="923544"/>
            <a:ext cx="1874519" cy="411480"/>
          </a:xfrm>
          <a:prstGeom prst="rect">
            <a:avLst/>
          </a:prstGeom>
          <a:noFill/>
        </p:spPr>
        <p:txBody>
          <a:bodyPr wrap="square" lIns="0" rIns="0" tIns="0" bIns="0" anchor="t">
            <a:spAutoFit/>
          </a:bodyPr>
          <a:lstStyle/>
          <a:p>
            <a:pPr algn="l"/>
            <a:r>
              <a:rPr sz="1050" b="1" i="0">
                <a:solidFill>
                  <a:srgbClr val="222222"/>
                </a:solidFill>
                <a:latin typeface="Calibri"/>
              </a:rPr>
              <a:t>Shefali Sharma</a:t>
            </a:r>
          </a:p>
          <a:p>
            <a:pPr algn="l"/>
            <a:r>
              <a:rPr sz="1000" b="0" i="0">
                <a:solidFill>
                  <a:srgbClr val="5A6275"/>
                </a:solidFill>
                <a:latin typeface="Calibri"/>
              </a:rPr>
              <a:t>Roll No: ______________</a:t>
            </a:r>
          </a:p>
        </p:txBody>
      </p:sp>
      <p:sp>
        <p:nvSpPr>
          <p:cNvPr id="12" name="Problem text"/>
          <p:cNvSpPr txBox="1"/>
          <p:nvPr/>
        </p:nvSpPr>
        <p:spPr>
          <a:xfrm>
            <a:off x="457200" y="2578608"/>
            <a:ext cx="6172200" cy="3291840"/>
          </a:xfrm>
          <a:prstGeom prst="rect">
            <a:avLst/>
          </a:prstGeom>
          <a:noFill/>
        </p:spPr>
        <p:txBody>
          <a:bodyPr wrap="square" lIns="0" rIns="0" tIns="0" bIns="0" anchor="t">
            <a:spAutoFit/>
          </a:bodyPr>
          <a:lstStyle/>
          <a:p>
            <a:pPr algn="l">
              <a:spcAft>
                <a:spcPts val="200"/>
              </a:spcAft>
            </a:pPr>
            <a:r>
              <a:rPr sz="1100" b="1" i="0">
                <a:solidFill>
                  <a:srgbClr val="1E2761"/>
                </a:solidFill>
                <a:latin typeface="Calibri"/>
              </a:rPr>
              <a:t>PROBLEM</a:t>
            </a:r>
          </a:p>
          <a:p>
            <a:pPr algn="l">
              <a:spcAft>
                <a:spcPts val="1000"/>
              </a:spcAft>
            </a:pPr>
            <a:r>
              <a:rPr sz="1300" b="0" i="0">
                <a:solidFill>
                  <a:srgbClr val="222222"/>
                </a:solidFill>
                <a:latin typeface="Calibri"/>
              </a:rPr>
              <a:t>Every online payment gets the same static PIN/OTP check. It proves </a:t>
            </a:r>
            <a:r>
              <a:rPr sz="1300" b="1" i="0">
                <a:solidFill>
                  <a:srgbClr val="222222"/>
                </a:solidFill>
                <a:latin typeface="Calibri"/>
              </a:rPr>
              <a:t>who holds the credential</a:t>
            </a:r>
            <a:r>
              <a:rPr sz="1300" b="0" i="0">
                <a:solidFill>
                  <a:srgbClr val="222222"/>
                </a:solidFill>
                <a:latin typeface="Calibri"/>
              </a:rPr>
              <a:t>, not whether </a:t>
            </a:r>
            <a:r>
              <a:rPr sz="1300" b="1" i="0">
                <a:solidFill>
                  <a:srgbClr val="222222"/>
                </a:solidFill>
                <a:latin typeface="Calibri"/>
              </a:rPr>
              <a:t>this payment is normal for this person, right now</a:t>
            </a:r>
            <a:r>
              <a:rPr sz="1300" b="0" i="0">
                <a:solidFill>
                  <a:srgbClr val="222222"/>
                </a:solidFill>
                <a:latin typeface="Calibri"/>
              </a:rPr>
              <a:t>. Scam victims type their own OTP while a fraudster coaches them; SIM-swappers intercept it.</a:t>
            </a:r>
          </a:p>
          <a:p>
            <a:pPr algn="l">
              <a:spcAft>
                <a:spcPts val="200"/>
              </a:spcAft>
            </a:pPr>
            <a:r>
              <a:rPr sz="1100" b="1" i="0">
                <a:solidFill>
                  <a:srgbClr val="1E2761"/>
                </a:solidFill>
                <a:latin typeface="Calibri"/>
              </a:rPr>
              <a:t>TARGET STAKEHOLDER</a:t>
            </a:r>
          </a:p>
          <a:p>
            <a:pPr algn="l">
              <a:spcAft>
                <a:spcPts val="1000"/>
              </a:spcAft>
            </a:pPr>
            <a:r>
              <a:rPr sz="1300" b="1" i="0">
                <a:solidFill>
                  <a:srgbClr val="222222"/>
                </a:solidFill>
                <a:latin typeface="Calibri"/>
              </a:rPr>
              <a:t>Banks, UPI apps &amp; payment gateways</a:t>
            </a:r>
            <a:r>
              <a:rPr sz="1300" b="0" i="0">
                <a:solidFill>
                  <a:srgbClr val="222222"/>
                </a:solidFill>
                <a:latin typeface="Calibri"/>
              </a:rPr>
              <a:t> that must allow / challenge / block within UPI's 15-second window, on behalf of everyday users, especially </a:t>
            </a:r>
            <a:r>
              <a:rPr sz="1300" b="1" i="0">
                <a:solidFill>
                  <a:srgbClr val="222222"/>
                </a:solidFill>
                <a:latin typeface="Calibri"/>
              </a:rPr>
              <a:t>seniors and first-time digital payers</a:t>
            </a:r>
            <a:r>
              <a:rPr sz="1300" b="0" i="0">
                <a:solidFill>
                  <a:srgbClr val="222222"/>
                </a:solidFill>
                <a:latin typeface="Calibri"/>
              </a:rPr>
              <a:t>.</a:t>
            </a:r>
          </a:p>
          <a:p>
            <a:pPr algn="l">
              <a:spcAft>
                <a:spcPts val="200"/>
              </a:spcAft>
            </a:pPr>
            <a:r>
              <a:rPr sz="1100" b="1" i="0">
                <a:solidFill>
                  <a:srgbClr val="1E2761"/>
                </a:solidFill>
                <a:latin typeface="Calibri"/>
              </a:rPr>
              <a:t>WHY IT IS WORTH SOLVING</a:t>
            </a:r>
          </a:p>
          <a:p>
            <a:pPr algn="l"/>
            <a:r>
              <a:rPr sz="1300" b="0" i="0">
                <a:solidFill>
                  <a:srgbClr val="222222"/>
                </a:solidFill>
                <a:latin typeface="Calibri"/>
              </a:rPr>
              <a:t>Losses tripled from 2023 to 2024. RBI's proposed fix is a </a:t>
            </a:r>
            <a:r>
              <a:rPr sz="1300" b="1" i="0">
                <a:solidFill>
                  <a:srgbClr val="222222"/>
                </a:solidFill>
                <a:latin typeface="Calibri"/>
              </a:rPr>
              <a:t>blanket 1-hour delay on every ₹10k+ transfer</a:t>
            </a:r>
            <a:r>
              <a:rPr sz="1300" b="0" i="0">
                <a:solidFill>
                  <a:srgbClr val="222222"/>
                </a:solidFill>
                <a:latin typeface="Calibri"/>
              </a:rPr>
              <a:t>, adding friction for all honest users. A precise, explainable risk check stops the scam and keeps honest payments instant. RBI's 2025 rules already allow risk-based extra checks.</a:t>
            </a:r>
          </a:p>
        </p:txBody>
      </p:sp>
      <p:sp>
        <p:nvSpPr>
          <p:cNvPr id="13" name="Evidence label"/>
          <p:cNvSpPr txBox="1"/>
          <p:nvPr/>
        </p:nvSpPr>
        <p:spPr>
          <a:xfrm>
            <a:off x="6903720" y="2578608"/>
            <a:ext cx="4846320" cy="274320"/>
          </a:xfrm>
          <a:prstGeom prst="rect">
            <a:avLst/>
          </a:prstGeom>
          <a:noFill/>
        </p:spPr>
        <p:txBody>
          <a:bodyPr wrap="square" lIns="0" rIns="0" tIns="0" bIns="0" anchor="t">
            <a:spAutoFit/>
          </a:bodyPr>
          <a:lstStyle/>
          <a:p>
            <a:pPr algn="l">
              <a:spcAft>
                <a:spcPts val="200"/>
              </a:spcAft>
            </a:pPr>
            <a:r>
              <a:rPr sz="1100" b="1" i="0">
                <a:solidFill>
                  <a:srgbClr val="1E2761"/>
                </a:solidFill>
                <a:latin typeface="Calibri"/>
              </a:rPr>
              <a:t>EVIDENCE</a:t>
            </a:r>
          </a:p>
        </p:txBody>
      </p:sp>
      <p:sp>
        <p:nvSpPr>
          <p:cNvPr id="14" name="Stat 1"/>
          <p:cNvSpPr/>
          <p:nvPr/>
        </p:nvSpPr>
        <p:spPr>
          <a:xfrm>
            <a:off x="6903720" y="2852928"/>
            <a:ext cx="4846320" cy="91440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l"/>
            <a:r>
              <a:rPr sz="2400" b="1" i="0">
                <a:solidFill>
                  <a:srgbClr val="1E2761"/>
                </a:solidFill>
                <a:latin typeface="Cambria"/>
              </a:rPr>
              <a:t>₹22,495 cr</a:t>
            </a:r>
          </a:p>
          <a:p>
            <a:pPr algn="l"/>
            <a:r>
              <a:rPr sz="1100" b="0" i="0">
                <a:solidFill>
                  <a:srgbClr val="222222"/>
                </a:solidFill>
                <a:latin typeface="Calibri"/>
              </a:rPr>
              <a:t>lost to cyber fraud in 2025: 28 lakh complaints, +24% year on year (MHA / NCRP)</a:t>
            </a:r>
          </a:p>
        </p:txBody>
      </p:sp>
      <p:sp>
        <p:nvSpPr>
          <p:cNvPr id="15" name="Stat 2"/>
          <p:cNvSpPr/>
          <p:nvPr/>
        </p:nvSpPr>
        <p:spPr>
          <a:xfrm>
            <a:off x="6903720" y="3858768"/>
            <a:ext cx="4846320" cy="91440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l"/>
            <a:r>
              <a:rPr sz="2400" b="1" i="0">
                <a:solidFill>
                  <a:srgbClr val="1E2761"/>
                </a:solidFill>
                <a:latin typeface="Cambria"/>
              </a:rPr>
              <a:t>~85%</a:t>
            </a:r>
          </a:p>
          <a:p>
            <a:pPr algn="l"/>
            <a:r>
              <a:rPr sz="1100" b="0" i="0">
                <a:solidFill>
                  <a:srgbClr val="222222"/>
                </a:solidFill>
                <a:latin typeface="Calibri"/>
              </a:rPr>
              <a:t>of 2025 losses came from investment &amp; “digital arrest” scams, where the victim pays (MHA)</a:t>
            </a:r>
          </a:p>
        </p:txBody>
      </p:sp>
      <p:sp>
        <p:nvSpPr>
          <p:cNvPr id="16" name="Stat 3"/>
          <p:cNvSpPr/>
          <p:nvPr/>
        </p:nvSpPr>
        <p:spPr>
          <a:xfrm>
            <a:off x="6903720" y="4864608"/>
            <a:ext cx="4846320" cy="914400"/>
          </a:xfrm>
          <a:prstGeom prst="roundRect">
            <a:avLst>
              <a:gd name="adj" fmla="val 10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l"/>
            <a:r>
              <a:rPr sz="2400" b="1" i="0">
                <a:solidFill>
                  <a:srgbClr val="1E2761"/>
                </a:solidFill>
                <a:latin typeface="Cambria"/>
              </a:rPr>
              <a:t>98.5%</a:t>
            </a:r>
          </a:p>
          <a:p>
            <a:pPr algn="l"/>
            <a:r>
              <a:rPr sz="1100" b="0" i="0">
                <a:solidFill>
                  <a:srgbClr val="222222"/>
                </a:solidFill>
                <a:latin typeface="Calibri"/>
              </a:rPr>
              <a:t>of fraud value is in payments above ₹10,000. RBI: account takeover is “now negligible”, most fraud is authorised push payment (RBI, Apr 2026)</a:t>
            </a:r>
          </a:p>
        </p:txBody>
      </p:sp>
      <p:sp>
        <p:nvSpPr>
          <p:cNvPr id="17" name="SDG 1"/>
          <p:cNvSpPr/>
          <p:nvPr/>
        </p:nvSpPr>
        <p:spPr>
          <a:xfrm>
            <a:off x="457200" y="5925312"/>
            <a:ext cx="3657600" cy="548640"/>
          </a:xfrm>
          <a:prstGeom prst="roundRect">
            <a:avLst>
              <a:gd name="adj" fmla="val 18000"/>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PRIMARY · SDG 16</a:t>
            </a:r>
          </a:p>
          <a:p>
            <a:pPr algn="l"/>
            <a:r>
              <a:rPr sz="1050" b="0" i="0">
                <a:solidFill>
                  <a:srgbClr val="FFFFFF"/>
                </a:solidFill>
                <a:latin typeface="Calibri"/>
              </a:rPr>
              <a:t>16.4: cut illicit financial flows &amp; organised crime</a:t>
            </a:r>
          </a:p>
        </p:txBody>
      </p:sp>
      <p:sp>
        <p:nvSpPr>
          <p:cNvPr id="18" name="SDG 2"/>
          <p:cNvSpPr/>
          <p:nvPr/>
        </p:nvSpPr>
        <p:spPr>
          <a:xfrm>
            <a:off x="4274820" y="5925312"/>
            <a:ext cx="3657600" cy="548640"/>
          </a:xfrm>
          <a:prstGeom prst="roundRect">
            <a:avLst>
              <a:gd name="adj" fmla="val 18000"/>
            </a:avLst>
          </a:prstGeom>
          <a:solidFill>
            <a:srgbClr val="A219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SUPPORTING · SDG 8</a:t>
            </a:r>
          </a:p>
          <a:p>
            <a:pPr algn="l"/>
            <a:r>
              <a:rPr sz="1050" b="0" i="0">
                <a:solidFill>
                  <a:srgbClr val="FFFFFF"/>
                </a:solidFill>
                <a:latin typeface="Calibri"/>
              </a:rPr>
              <a:t>8.10: access to financial services for all</a:t>
            </a:r>
          </a:p>
        </p:txBody>
      </p:sp>
      <p:sp>
        <p:nvSpPr>
          <p:cNvPr id="19" name="SDG 3"/>
          <p:cNvSpPr/>
          <p:nvPr/>
        </p:nvSpPr>
        <p:spPr>
          <a:xfrm>
            <a:off x="8092440" y="5925312"/>
            <a:ext cx="3657600" cy="548640"/>
          </a:xfrm>
          <a:prstGeom prst="roundRect">
            <a:avLst>
              <a:gd name="adj" fmla="val 18000"/>
            </a:avLst>
          </a:prstGeom>
          <a:solidFill>
            <a:srgbClr val="DD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050" b="1" i="0">
                <a:solidFill>
                  <a:srgbClr val="FFFFFF"/>
                </a:solidFill>
                <a:latin typeface="Calibri"/>
              </a:rPr>
              <a:t>SUPPORTING · SDG 9</a:t>
            </a:r>
          </a:p>
          <a:p>
            <a:pPr algn="l"/>
            <a:r>
              <a:rPr sz="1050" b="0" i="0">
                <a:solidFill>
                  <a:srgbClr val="FFFFFF"/>
                </a:solidFill>
                <a:latin typeface="Calibri"/>
              </a:rPr>
              <a:t>9.1: reliable, resilient (digital) infrastructure</a:t>
            </a:r>
          </a:p>
        </p:txBody>
      </p:sp>
      <p:sp>
        <p:nvSpPr>
          <p:cNvPr id="20" name="Sources"/>
          <p:cNvSpPr txBox="1"/>
          <p:nvPr/>
        </p:nvSpPr>
        <p:spPr>
          <a:xfrm>
            <a:off x="457200" y="6510528"/>
            <a:ext cx="11292840" cy="274320"/>
          </a:xfrm>
          <a:prstGeom prst="rect">
            <a:avLst/>
          </a:prstGeom>
          <a:noFill/>
        </p:spPr>
        <p:txBody>
          <a:bodyPr wrap="square" lIns="0" rIns="0" tIns="0" bIns="0" anchor="t">
            <a:spAutoFit/>
          </a:bodyPr>
          <a:lstStyle/>
          <a:p>
            <a:pPr algn="l"/>
            <a:r>
              <a:rPr sz="900" b="0" i="1">
                <a:solidFill>
                  <a:srgbClr val="5A6275"/>
                </a:solidFill>
                <a:latin typeface="Calibri"/>
              </a:rPr>
              <a:t>Sources: MHA/NCRP data via Parliament replies (2024, 2025); RBI Discussion Paper on safeguards in digital payments, 9 Apr 2026; RBI Authentication Directions, 25 Sep 2025. Links: repo › docs/02-research/problem-evidence.md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Today's defences check the credential or the receiver, never the moment</a:t>
            </a:r>
            <a:endParaRPr lang="en-US" sz="2000" dirty="0"/>
          </a:p>
        </p:txBody>
      </p:sp>
      <p:sp>
        <p:nvSpPr>
          <p:cNvPr id="13" name="Text 1">
            <a:extLst>
              <a:ext uri="{FF2B5EF4-FFF2-40B4-BE49-F238E27FC236}">
                <a16:creationId xmlns:a16="http://schemas.microsoft.com/office/drawing/2014/main" id="{99D536E1-DBFD-B790-6092-C55BAED3C2B5}"/>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2 OF 5</a:t>
            </a:r>
            <a:endParaRPr lang="en-US" sz="1200" dirty="0"/>
          </a:p>
        </p:txBody>
      </p:sp>
      <p:sp>
        <p:nvSpPr>
          <p:cNvPr id="15" name="Text 2">
            <a:extLst>
              <a:ext uri="{FF2B5EF4-FFF2-40B4-BE49-F238E27FC236}">
                <a16:creationId xmlns:a16="http://schemas.microsoft.com/office/drawing/2014/main" id="{D559D67C-E338-52FF-A042-EDCC455427F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Existing Approaches &amp; Gap</a:t>
            </a:r>
            <a:endParaRPr lang="en-US" sz="2800" dirty="0"/>
          </a:p>
        </p:txBody>
      </p:sp>
      <p:sp>
        <p:nvSpPr>
          <p:cNvPr id="16" name="Approach 1"/>
          <p:cNvSpPr/>
          <p:nvPr/>
        </p:nvSpPr>
        <p:spPr>
          <a:xfrm>
            <a:off x="457200" y="2560320"/>
            <a:ext cx="3630168" cy="2852928"/>
          </a:xfrm>
          <a:prstGeom prst="roundRect">
            <a:avLst>
              <a:gd name="adj" fmla="val 6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l"/>
            <a:r>
              <a:rPr sz="1500" b="1" i="0">
                <a:solidFill>
                  <a:srgbClr val="1E2761"/>
                </a:solidFill>
                <a:latin typeface="Cambria"/>
              </a:rPr>
              <a:t>1 · Static two-factor auth</a:t>
            </a:r>
          </a:p>
          <a:p>
            <a:pPr algn="l">
              <a:spcAft>
                <a:spcPts val="800"/>
              </a:spcAft>
            </a:pPr>
            <a:r>
              <a:rPr sz="1050" b="0" i="1">
                <a:solidFill>
                  <a:srgbClr val="5A6275"/>
                </a:solidFill>
                <a:latin typeface="Calibri"/>
              </a:rPr>
              <a:t>UPI PIN · SMS OTP · 3-D Secure</a:t>
            </a:r>
          </a:p>
          <a:p>
            <a:pPr algn="l">
              <a:spcAft>
                <a:spcPts val="100"/>
              </a:spcAft>
            </a:pPr>
            <a:r>
              <a:rPr sz="1100" b="1" i="0">
                <a:solidFill>
                  <a:srgbClr val="1E2761"/>
                </a:solidFill>
                <a:latin typeface="Calibri"/>
              </a:rPr>
              <a:t>What it does</a:t>
            </a:r>
          </a:p>
          <a:p>
            <a:pPr algn="l">
              <a:spcAft>
                <a:spcPts val="1000"/>
              </a:spcAft>
            </a:pPr>
            <a:r>
              <a:rPr sz="1300" b="0" i="0">
                <a:solidFill>
                  <a:srgbClr val="222222"/>
                </a:solidFill>
                <a:latin typeface="Calibri"/>
              </a:rPr>
              <a:t>Device binding + PIN/OTP on every payment. RBI keeps 2FA as the minimum from April 2026.</a:t>
            </a:r>
          </a:p>
          <a:p>
            <a:pPr algn="l">
              <a:spcAft>
                <a:spcPts val="100"/>
              </a:spcAft>
            </a:pPr>
            <a:r>
              <a:rPr sz="1100" b="1" i="0">
                <a:solidFill>
                  <a:srgbClr val="C62828"/>
                </a:solidFill>
                <a:latin typeface="Calibri"/>
              </a:rPr>
              <a:t>What's still missing</a:t>
            </a:r>
          </a:p>
          <a:p>
            <a:pPr algn="l"/>
            <a:r>
              <a:rPr sz="1300" b="0" i="0">
                <a:solidFill>
                  <a:srgbClr val="222222"/>
                </a:solidFill>
                <a:latin typeface="Calibri"/>
              </a:rPr>
              <a:t>Checks the credential, not the context. Coached victims type it in; SIM-swap steals it. Same friction for a ₹50 tea and a ₹2 lakh transfer.</a:t>
            </a:r>
          </a:p>
        </p:txBody>
      </p:sp>
      <p:sp>
        <p:nvSpPr>
          <p:cNvPr id="17" name="Approach 2"/>
          <p:cNvSpPr/>
          <p:nvPr/>
        </p:nvSpPr>
        <p:spPr>
          <a:xfrm>
            <a:off x="4288536" y="2560320"/>
            <a:ext cx="3630168" cy="2852928"/>
          </a:xfrm>
          <a:prstGeom prst="roundRect">
            <a:avLst>
              <a:gd name="adj" fmla="val 6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l"/>
            <a:r>
              <a:rPr sz="1500" b="1" i="0">
                <a:solidFill>
                  <a:srgbClr val="1E2761"/>
                </a:solidFill>
                <a:latin typeface="Cambria"/>
              </a:rPr>
              <a:t>2 · Commercial risk engines</a:t>
            </a:r>
          </a:p>
          <a:p>
            <a:pPr algn="l">
              <a:spcAft>
                <a:spcPts val="800"/>
              </a:spcAft>
            </a:pPr>
            <a:r>
              <a:rPr sz="1050" b="0" i="1">
                <a:solidFill>
                  <a:srgbClr val="5A6275"/>
                </a:solidFill>
                <a:latin typeface="Calibri"/>
              </a:rPr>
              <a:t>Stripe Radar · Sift · BioCatch · 3DS-2 issuer engines</a:t>
            </a:r>
          </a:p>
          <a:p>
            <a:pPr algn="l">
              <a:spcAft>
                <a:spcPts val="100"/>
              </a:spcAft>
            </a:pPr>
            <a:r>
              <a:rPr sz="1100" b="1" i="0">
                <a:solidFill>
                  <a:srgbClr val="1E2761"/>
                </a:solidFill>
                <a:latin typeface="Calibri"/>
              </a:rPr>
              <a:t>What it does</a:t>
            </a:r>
          </a:p>
          <a:p>
            <a:pPr algn="l">
              <a:spcAft>
                <a:spcPts val="1000"/>
              </a:spcAft>
            </a:pPr>
            <a:r>
              <a:rPr sz="1300" b="0" i="0">
                <a:solidFill>
                  <a:srgbClr val="222222"/>
                </a:solidFill>
                <a:latin typeface="Calibri"/>
              </a:rPr>
              <a:t>ML score over hundreds of signals → block / review / ask for 3DS. BioCatch adds behavioural biometrics.</a:t>
            </a:r>
          </a:p>
          <a:p>
            <a:pPr algn="l">
              <a:spcAft>
                <a:spcPts val="100"/>
              </a:spcAft>
            </a:pPr>
            <a:r>
              <a:rPr sz="1100" b="1" i="0">
                <a:solidFill>
                  <a:srgbClr val="C62828"/>
                </a:solidFill>
                <a:latin typeface="Calibri"/>
              </a:rPr>
              <a:t>What's still missing</a:t>
            </a:r>
          </a:p>
          <a:p>
            <a:pPr algn="l"/>
            <a:r>
              <a:rPr sz="1300" b="0" i="0">
                <a:solidFill>
                  <a:srgbClr val="222222"/>
                </a:solidFill>
                <a:latin typeface="Calibri"/>
              </a:rPr>
              <a:t>Proprietary, priced for large players, sold as separate products. Gives analysts a score, not the customer a reason. The challenge is a generic OTP whatever the risk.</a:t>
            </a:r>
          </a:p>
        </p:txBody>
      </p:sp>
      <p:sp>
        <p:nvSpPr>
          <p:cNvPr id="18" name="Approach 3"/>
          <p:cNvSpPr/>
          <p:nvPr/>
        </p:nvSpPr>
        <p:spPr>
          <a:xfrm>
            <a:off x="8119872" y="2560320"/>
            <a:ext cx="3630168" cy="2852928"/>
          </a:xfrm>
          <a:prstGeom prst="roundRect">
            <a:avLst>
              <a:gd name="adj" fmla="val 6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2412" bIns="102412"/>
          <a:lstStyle/>
          <a:p>
            <a:pPr algn="l"/>
            <a:r>
              <a:rPr sz="1500" b="1" i="0">
                <a:solidFill>
                  <a:srgbClr val="1E2761"/>
                </a:solidFill>
                <a:latin typeface="Cambria"/>
              </a:rPr>
              <a:t>3 · India's ecosystem tools</a:t>
            </a:r>
          </a:p>
          <a:p>
            <a:pPr algn="l">
              <a:spcAft>
                <a:spcPts val="800"/>
              </a:spcAft>
            </a:pPr>
            <a:r>
              <a:rPr sz="1050" b="0" i="1">
                <a:solidFill>
                  <a:srgbClr val="5A6275"/>
                </a:solidFill>
                <a:latin typeface="Calibri"/>
              </a:rPr>
              <a:t>NPCI FRM · DoT FRI · RBI MuleHunter.AI · DPIP (pilot)</a:t>
            </a:r>
          </a:p>
          <a:p>
            <a:pPr algn="l">
              <a:spcAft>
                <a:spcPts val="100"/>
              </a:spcAft>
            </a:pPr>
            <a:r>
              <a:rPr sz="1100" b="1" i="0">
                <a:solidFill>
                  <a:srgbClr val="1E2761"/>
                </a:solidFill>
                <a:latin typeface="Calibri"/>
              </a:rPr>
              <a:t>What it does</a:t>
            </a:r>
          </a:p>
          <a:p>
            <a:pPr algn="l">
              <a:spcAft>
                <a:spcPts val="1000"/>
              </a:spcAft>
            </a:pPr>
            <a:r>
              <a:rPr sz="1300" b="0" i="0">
                <a:solidFill>
                  <a:srgbClr val="222222"/>
                </a:solidFill>
                <a:latin typeface="Calibri"/>
              </a:rPr>
              <a:t>Shared intelligence on risky numbers and mule accounts; alerts to banks. RBI also proposes blanket delays &amp; trusted-person approval.</a:t>
            </a:r>
          </a:p>
          <a:p>
            <a:pPr algn="l">
              <a:spcAft>
                <a:spcPts val="100"/>
              </a:spcAft>
            </a:pPr>
            <a:r>
              <a:rPr sz="1100" b="1" i="0">
                <a:solidFill>
                  <a:srgbClr val="C62828"/>
                </a:solidFill>
                <a:latin typeface="Calibri"/>
              </a:rPr>
              <a:t>What's still missing</a:t>
            </a:r>
          </a:p>
          <a:p>
            <a:pPr algn="l"/>
            <a:r>
              <a:rPr sz="1300" b="0" i="0">
                <a:solidFill>
                  <a:srgbClr val="222222"/>
                </a:solidFill>
                <a:latin typeface="Calibri"/>
              </a:rPr>
              <a:t>Reputation after the fact: a number must be reported first, and scam numbers live only days. Scores the receiver, not this session. Blanket rules add friction for everyone.</a:t>
            </a:r>
          </a:p>
        </p:txBody>
      </p:sp>
      <p:sp>
        <p:nvSpPr>
          <p:cNvPr id="19" name="Gap statement"/>
          <p:cNvSpPr/>
          <p:nvPr/>
        </p:nvSpPr>
        <p:spPr>
          <a:xfrm>
            <a:off x="457200" y="5532120"/>
            <a:ext cx="11292840" cy="868680"/>
          </a:xfrm>
          <a:prstGeom prst="roundRect">
            <a:avLst>
              <a:gd name="adj" fmla="val 12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28015" bIns="128015"/>
          <a:lstStyle/>
          <a:p>
            <a:pPr algn="l"/>
            <a:r>
              <a:rPr sz="1400" b="1" i="0">
                <a:solidFill>
                  <a:srgbClr val="CADCFC"/>
                </a:solidFill>
                <a:latin typeface="Cambria"/>
              </a:rPr>
              <a:t>The gap we are addressing is: </a:t>
            </a:r>
            <a:r>
              <a:rPr sz="1350" b="0" i="0">
                <a:solidFill>
                  <a:srgbClr val="FFFFFF"/>
                </a:solidFill>
                <a:latin typeface="Calibri"/>
              </a:rPr>
              <a:t>no lightweight, real-time service fuses behaviour + device + transaction context into an explained allow / challenge / block decision that also picks the </a:t>
            </a:r>
            <a:r>
              <a:rPr sz="1350" b="1" i="0">
                <a:solidFill>
                  <a:srgbClr val="FFFFFF"/>
                </a:solidFill>
                <a:latin typeface="Calibri"/>
              </a:rPr>
              <a:t>right kind</a:t>
            </a:r>
            <a:r>
              <a:rPr sz="1350" b="0" i="0">
                <a:solidFill>
                  <a:srgbClr val="FFFFFF"/>
                </a:solidFill>
                <a:latin typeface="Calibri"/>
              </a:rPr>
              <a:t> of challenge. Coached victims get stopped; honest payments stay instant.</a:t>
            </a:r>
          </a:p>
        </p:txBody>
      </p:sp>
      <p:sp>
        <p:nvSpPr>
          <p:cNvPr id="20" name="Sources"/>
          <p:cNvSpPr txBox="1"/>
          <p:nvPr/>
        </p:nvSpPr>
        <p:spPr>
          <a:xfrm>
            <a:off x="457200" y="6510528"/>
            <a:ext cx="11292840" cy="274320"/>
          </a:xfrm>
          <a:prstGeom prst="rect">
            <a:avLst/>
          </a:prstGeom>
          <a:noFill/>
        </p:spPr>
        <p:txBody>
          <a:bodyPr wrap="square" lIns="0" rIns="0" tIns="0" bIns="0" anchor="t">
            <a:spAutoFit/>
          </a:bodyPr>
          <a:lstStyle/>
          <a:p>
            <a:pPr algn="l"/>
            <a:r>
              <a:rPr sz="900" b="0" i="1">
                <a:solidFill>
                  <a:srgbClr val="5A6275"/>
                </a:solidFill>
                <a:latin typeface="Calibri"/>
              </a:rPr>
              <a:t>Sources: RBI press release 25 Sep 2025 &amp; Discussion Paper 9 Apr 2026; Stripe Radar docs (risk evaluation); Sift; BioCatch (remote-access scams; India 2024 report); NPCI FRM; DoT FRI (May 2025); IBTimes on IDPIC/MuleHunter (Sep 2026). Links: repo › docs/02-research/prior-art.md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Pramaan: OTP checks the person. We check the situation.</a:t>
            </a:r>
            <a:endParaRPr lang="en-US" sz="2000" dirty="0"/>
          </a:p>
        </p:txBody>
      </p:sp>
      <p:sp>
        <p:nvSpPr>
          <p:cNvPr id="13" name="Text 1">
            <a:extLst>
              <a:ext uri="{FF2B5EF4-FFF2-40B4-BE49-F238E27FC236}">
                <a16:creationId xmlns:a16="http://schemas.microsoft.com/office/drawing/2014/main" id="{80560093-520F-F5AF-E515-D345B911F19E}"/>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3 OF 5</a:t>
            </a:r>
            <a:endParaRPr lang="en-US" sz="1200" dirty="0"/>
          </a:p>
        </p:txBody>
      </p:sp>
      <p:sp>
        <p:nvSpPr>
          <p:cNvPr id="15" name="Text 2">
            <a:extLst>
              <a:ext uri="{FF2B5EF4-FFF2-40B4-BE49-F238E27FC236}">
                <a16:creationId xmlns:a16="http://schemas.microsoft.com/office/drawing/2014/main" id="{E4DA8332-A739-9AE8-00E2-0E55CEF5D70C}"/>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Proposed Solution</a:t>
            </a:r>
            <a:endParaRPr lang="en-US" sz="2800" dirty="0"/>
          </a:p>
        </p:txBody>
      </p:sp>
      <p:sp>
        <p:nvSpPr>
          <p:cNvPr id="16" name="Solution text"/>
          <p:cNvSpPr txBox="1"/>
          <p:nvPr/>
        </p:nvSpPr>
        <p:spPr>
          <a:xfrm>
            <a:off x="457200" y="2560320"/>
            <a:ext cx="5257800" cy="3931920"/>
          </a:xfrm>
          <a:prstGeom prst="rect">
            <a:avLst/>
          </a:prstGeom>
          <a:noFill/>
        </p:spPr>
        <p:txBody>
          <a:bodyPr wrap="square" lIns="0" rIns="0" tIns="0" bIns="0" anchor="t">
            <a:spAutoFit/>
          </a:bodyPr>
          <a:lstStyle/>
          <a:p>
            <a:pPr algn="l">
              <a:spcAft>
                <a:spcPts val="200"/>
              </a:spcAft>
            </a:pPr>
            <a:r>
              <a:rPr sz="1100" b="1" i="0">
                <a:solidFill>
                  <a:srgbClr val="1E2761"/>
                </a:solidFill>
                <a:latin typeface="Calibri"/>
              </a:rPr>
              <a:t>WHAT WE BUILD</a:t>
            </a:r>
          </a:p>
          <a:p>
            <a:pPr algn="l">
              <a:spcAft>
                <a:spcPts val="900"/>
              </a:spcAft>
            </a:pPr>
            <a:r>
              <a:rPr sz="1300" b="0" i="0">
                <a:solidFill>
                  <a:srgbClr val="222222"/>
                </a:solidFill>
                <a:latin typeface="Calibri"/>
              </a:rPr>
              <a:t>A cloud risk API that banks and UPI apps call </a:t>
            </a:r>
            <a:r>
              <a:rPr sz="1300" b="1" i="0">
                <a:solidFill>
                  <a:srgbClr val="222222"/>
                </a:solidFill>
                <a:latin typeface="Calibri"/>
              </a:rPr>
              <a:t>before</a:t>
            </a:r>
            <a:r>
              <a:rPr sz="1300" b="0" i="0">
                <a:solidFill>
                  <a:srgbClr val="222222"/>
                </a:solidFill>
                <a:latin typeface="Calibri"/>
              </a:rPr>
              <a:t> PIN/OTP. It returns </a:t>
            </a:r>
            <a:r>
              <a:rPr sz="1300" b="1" i="0">
                <a:solidFill>
                  <a:srgbClr val="222222"/>
                </a:solidFill>
                <a:latin typeface="Calibri"/>
              </a:rPr>
              <a:t>allow / challenge / block</a:t>
            </a:r>
            <a:r>
              <a:rPr sz="1300" b="0" i="0">
                <a:solidFill>
                  <a:srgbClr val="222222"/>
                </a:solidFill>
                <a:latin typeface="Calibri"/>
              </a:rPr>
              <a:t> in milliseconds, with plain-language reasons. It adds to mandated 2FA; it never replaces it.</a:t>
            </a:r>
          </a:p>
          <a:p>
            <a:pPr algn="l">
              <a:spcAft>
                <a:spcPts val="200"/>
              </a:spcAft>
            </a:pPr>
            <a:r>
              <a:rPr sz="1100" b="1" i="0">
                <a:solidFill>
                  <a:srgbClr val="1E2761"/>
                </a:solidFill>
                <a:latin typeface="Calibri"/>
              </a:rPr>
              <a:t>CORE FUNCTIONALITY</a:t>
            </a:r>
          </a:p>
          <a:p>
            <a:pPr algn="l" marL="155448" indent="-137160">
              <a:spcAft>
                <a:spcPts val="300"/>
              </a:spcAft>
              <a:buClr>
                <a:srgbClr val="1E2761"/>
              </a:buClr>
              <a:buChar char="•"/>
            </a:pPr>
            <a:r>
              <a:rPr sz="1250" b="1" i="0">
                <a:solidFill>
                  <a:srgbClr val="222222"/>
                </a:solidFill>
                <a:latin typeface="Calibri"/>
              </a:rPr>
              <a:t>20+ signals</a:t>
            </a:r>
            <a:r>
              <a:rPr sz="1250" b="0" i="0">
                <a:solidFill>
                  <a:srgbClr val="222222"/>
                </a:solidFill>
                <a:latin typeface="Calibri"/>
              </a:rPr>
              <a:t> (behaviour, device, transaction, receiver) scored against each user's own history</a:t>
            </a:r>
          </a:p>
          <a:p>
            <a:pPr algn="l" marL="155448" indent="-137160">
              <a:spcAft>
                <a:spcPts val="300"/>
              </a:spcAft>
              <a:buClr>
                <a:srgbClr val="1E2761"/>
              </a:buClr>
              <a:buChar char="•"/>
            </a:pPr>
            <a:r>
              <a:rPr sz="1250" b="1" i="0">
                <a:solidFill>
                  <a:srgbClr val="222222"/>
                </a:solidFill>
                <a:latin typeface="Calibri"/>
              </a:rPr>
              <a:t>Hybrid engine:</a:t>
            </a:r>
            <a:r>
              <a:rPr sz="1250" b="0" i="0">
                <a:solidFill>
                  <a:srgbClr val="222222"/>
                </a:solidFill>
                <a:latin typeface="Calibri"/>
              </a:rPr>
              <a:t> policy rules + gradient-boosted model, with each signal's contribution explained</a:t>
            </a:r>
          </a:p>
          <a:p>
            <a:pPr algn="l" marL="155448" indent="-137160">
              <a:spcAft>
                <a:spcPts val="300"/>
              </a:spcAft>
              <a:buClr>
                <a:srgbClr val="1E2761"/>
              </a:buClr>
              <a:buChar char="•"/>
            </a:pPr>
            <a:r>
              <a:rPr sz="1250" b="1" i="0">
                <a:solidFill>
                  <a:srgbClr val="222222"/>
                </a:solidFill>
                <a:latin typeface="Calibri"/>
              </a:rPr>
              <a:t>Amount-aware:</a:t>
            </a:r>
            <a:r>
              <a:rPr sz="1250" b="0" i="0">
                <a:solidFill>
                  <a:srgbClr val="222222"/>
                </a:solidFill>
                <a:latin typeface="Calibri"/>
              </a:rPr>
              <a:t> a ₹40 tea is never stopped; an ₹85k first-time transfer is checked closely</a:t>
            </a:r>
          </a:p>
          <a:p>
            <a:pPr algn="l" marL="155448" indent="-137160">
              <a:spcAft>
                <a:spcPts val="300"/>
              </a:spcAft>
              <a:buClr>
                <a:srgbClr val="1E2761"/>
              </a:buClr>
              <a:buChar char="•"/>
            </a:pPr>
            <a:r>
              <a:rPr sz="1250" b="1" i="0">
                <a:solidFill>
                  <a:srgbClr val="222222"/>
                </a:solidFill>
                <a:latin typeface="Calibri"/>
              </a:rPr>
              <a:t>Typed challenges:</a:t>
            </a:r>
            <a:r>
              <a:rPr sz="1250" b="0" i="0">
                <a:solidFill>
                  <a:srgbClr val="222222"/>
                </a:solidFill>
                <a:latin typeface="Calibri"/>
              </a:rPr>
              <a:t> biometric for a likely impostor; cooling-off + trusted contact for a likely coached victim</a:t>
            </a:r>
          </a:p>
          <a:p>
            <a:pPr algn="l">
              <a:spcBef>
                <a:spcPts val="600"/>
              </a:spcBef>
              <a:spcAft>
                <a:spcPts val="200"/>
              </a:spcAft>
            </a:pPr>
            <a:r>
              <a:rPr sz="1100" b="1" i="0">
                <a:solidFill>
                  <a:srgbClr val="1E2761"/>
                </a:solidFill>
                <a:latin typeface="Calibri"/>
              </a:rPr>
              <a:t>WHY THIS CLOSES THE GAP</a:t>
            </a:r>
          </a:p>
          <a:p>
            <a:pPr algn="l"/>
            <a:r>
              <a:rPr sz="1250" b="0" i="0">
                <a:solidFill>
                  <a:srgbClr val="222222"/>
                </a:solidFill>
                <a:latin typeface="Calibri"/>
              </a:rPr>
              <a:t>An OTP can't stop someone who is being coached. A pause, a scam-specific warning and a trusted contact can. We use them </a:t>
            </a:r>
            <a:r>
              <a:rPr sz="1250" b="1" i="0">
                <a:solidFill>
                  <a:srgbClr val="222222"/>
                </a:solidFill>
                <a:latin typeface="Calibri"/>
              </a:rPr>
              <a:t>only</a:t>
            </a:r>
            <a:r>
              <a:rPr sz="1250" b="0" i="0">
                <a:solidFill>
                  <a:srgbClr val="222222"/>
                </a:solidFill>
                <a:latin typeface="Calibri"/>
              </a:rPr>
              <a:t> when the context is risky, unlike RBI's proposed blanket 1-hour delay.</a:t>
            </a:r>
          </a:p>
        </p:txBody>
      </p:sp>
      <p:sp>
        <p:nvSpPr>
          <p:cNvPr id="17" name="Scenarios label"/>
          <p:cNvSpPr txBox="1"/>
          <p:nvPr/>
        </p:nvSpPr>
        <p:spPr>
          <a:xfrm>
            <a:off x="5989320" y="2560320"/>
            <a:ext cx="5760720" cy="274320"/>
          </a:xfrm>
          <a:prstGeom prst="rect">
            <a:avLst/>
          </a:prstGeom>
          <a:noFill/>
        </p:spPr>
        <p:txBody>
          <a:bodyPr wrap="square" lIns="0" rIns="0" tIns="0" bIns="0" anchor="t">
            <a:spAutoFit/>
          </a:bodyPr>
          <a:lstStyle/>
          <a:p>
            <a:pPr algn="l">
              <a:spcAft>
                <a:spcPts val="200"/>
              </a:spcAft>
            </a:pPr>
            <a:r>
              <a:rPr sz="1100" b="1" i="0">
                <a:solidFill>
                  <a:srgbClr val="1E2761"/>
                </a:solidFill>
                <a:latin typeface="Calibri"/>
              </a:rPr>
              <a:t>USER INTERACTION: the same ₹85,000 payment, four situations</a:t>
            </a:r>
          </a:p>
        </p:txBody>
      </p:sp>
      <p:sp>
        <p:nvSpPr>
          <p:cNvPr id="18" name="Scenario 1"/>
          <p:cNvSpPr/>
          <p:nvPr/>
        </p:nvSpPr>
        <p:spPr>
          <a:xfrm>
            <a:off x="5989320" y="2862072"/>
            <a:ext cx="5760720" cy="713232"/>
          </a:xfrm>
          <a:prstGeom prst="roundRect">
            <a:avLst>
              <a:gd name="adj" fmla="val 1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2487168" tIns="83210" bIns="83210"/>
          <a:lstStyle/>
          <a:p>
            <a:pPr algn="l"/>
            <a:r>
              <a:rPr sz="1200" b="1" i="0">
                <a:solidFill>
                  <a:srgbClr val="222222"/>
                </a:solidFill>
                <a:latin typeface="Calibri"/>
              </a:rPr>
              <a:t>Usual payee, own phone, normal typing</a:t>
            </a:r>
          </a:p>
          <a:p>
            <a:pPr algn="l"/>
            <a:r>
              <a:rPr sz="1100" b="0" i="0">
                <a:solidFill>
                  <a:srgbClr val="5A6275"/>
                </a:solidFill>
                <a:latin typeface="Calibri"/>
              </a:rPr>
              <a:t>No extra step. Pays instantly.</a:t>
            </a:r>
          </a:p>
        </p:txBody>
      </p:sp>
      <p:sp>
        <p:nvSpPr>
          <p:cNvPr id="19" name="Decision 1"/>
          <p:cNvSpPr/>
          <p:nvPr/>
        </p:nvSpPr>
        <p:spPr>
          <a:xfrm>
            <a:off x="9372600" y="3008376"/>
            <a:ext cx="2286000" cy="4206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ALLOW</a:t>
            </a:r>
          </a:p>
        </p:txBody>
      </p:sp>
      <p:sp>
        <p:nvSpPr>
          <p:cNvPr id="20" name="Scenario 2"/>
          <p:cNvSpPr/>
          <p:nvPr/>
        </p:nvSpPr>
        <p:spPr>
          <a:xfrm>
            <a:off x="5989320" y="3657600"/>
            <a:ext cx="5760720" cy="713232"/>
          </a:xfrm>
          <a:prstGeom prst="roundRect">
            <a:avLst>
              <a:gd name="adj" fmla="val 10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2487168" tIns="83210" bIns="83210"/>
          <a:lstStyle/>
          <a:p>
            <a:pPr algn="l"/>
            <a:r>
              <a:rPr sz="1200" b="1" i="0">
                <a:solidFill>
                  <a:srgbClr val="222222"/>
                </a:solidFill>
                <a:latin typeface="Calibri"/>
              </a:rPr>
              <a:t>New phone, SIM swapped 20 h ago, new city</a:t>
            </a:r>
          </a:p>
          <a:p>
            <a:pPr algn="l"/>
            <a:r>
              <a:rPr sz="1100" b="0" i="0">
                <a:solidFill>
                  <a:srgbClr val="5A6275"/>
                </a:solidFill>
                <a:latin typeface="Calibri"/>
              </a:rPr>
              <a:t>Impostor risk: the owner's fingerprint is needed.</a:t>
            </a:r>
          </a:p>
        </p:txBody>
      </p:sp>
      <p:sp>
        <p:nvSpPr>
          <p:cNvPr id="21" name="Decision 2"/>
          <p:cNvSpPr/>
          <p:nvPr/>
        </p:nvSpPr>
        <p:spPr>
          <a:xfrm>
            <a:off x="9372600" y="3803904"/>
            <a:ext cx="2286000" cy="420624"/>
          </a:xfrm>
          <a:prstGeom prst="roundRect">
            <a:avLst>
              <a:gd name="adj" fmla="val 50000"/>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000" b="1" i="0">
                <a:solidFill>
                  <a:srgbClr val="FFFFFF"/>
                </a:solidFill>
                <a:latin typeface="Calibri"/>
              </a:rPr>
              <a:t>CHALLENGE · biometric</a:t>
            </a:r>
          </a:p>
        </p:txBody>
      </p:sp>
      <p:sp>
        <p:nvSpPr>
          <p:cNvPr id="22" name="Scenario 3"/>
          <p:cNvSpPr/>
          <p:nvPr/>
        </p:nvSpPr>
        <p:spPr>
          <a:xfrm>
            <a:off x="5989320" y="4453128"/>
            <a:ext cx="5760720" cy="713232"/>
          </a:xfrm>
          <a:prstGeom prst="roundRect">
            <a:avLst>
              <a:gd name="adj" fmla="val 10000"/>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2487168" tIns="83210" bIns="83210"/>
          <a:lstStyle/>
          <a:p>
            <a:pPr algn="l"/>
            <a:r>
              <a:rPr sz="1200" b="1" i="0">
                <a:solidFill>
                  <a:srgbClr val="222222"/>
                </a:solidFill>
                <a:latin typeface="Calibri"/>
              </a:rPr>
              <a:t>On a call, new UPI ID pasted, own phone</a:t>
            </a:r>
          </a:p>
          <a:p>
            <a:pPr algn="l"/>
            <a:r>
              <a:rPr sz="1100" b="0" i="0">
                <a:solidFill>
                  <a:srgbClr val="5A6275"/>
                </a:solidFill>
                <a:latin typeface="Calibri"/>
              </a:rPr>
              <a:t>Scam risk: 30-min pause + scam warning</a:t>
            </a:r>
          </a:p>
        </p:txBody>
      </p:sp>
      <p:sp>
        <p:nvSpPr>
          <p:cNvPr id="23" name="Decision 3"/>
          <p:cNvSpPr/>
          <p:nvPr/>
        </p:nvSpPr>
        <p:spPr>
          <a:xfrm>
            <a:off x="9372600" y="4599432"/>
            <a:ext cx="2286000" cy="420624"/>
          </a:xfrm>
          <a:prstGeom prst="roundRect">
            <a:avLst>
              <a:gd name="adj" fmla="val 50000"/>
            </a:avLst>
          </a:prstGeom>
          <a:solidFill>
            <a:srgbClr val="B25E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000" b="1" i="0">
                <a:solidFill>
                  <a:srgbClr val="FFFFFF"/>
                </a:solidFill>
                <a:latin typeface="Calibri"/>
              </a:rPr>
              <a:t>CHALLENGE · hold + trusted contact</a:t>
            </a:r>
          </a:p>
        </p:txBody>
      </p:sp>
      <p:sp>
        <p:nvSpPr>
          <p:cNvPr id="24" name="Scenario 4"/>
          <p:cNvSpPr/>
          <p:nvPr/>
        </p:nvSpPr>
        <p:spPr>
          <a:xfrm>
            <a:off x="5989320" y="5248656"/>
            <a:ext cx="5760720" cy="713232"/>
          </a:xfrm>
          <a:prstGeom prst="roundRect">
            <a:avLst>
              <a:gd name="adj" fmla="val 10000"/>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2487168" tIns="83210" bIns="83210"/>
          <a:lstStyle/>
          <a:p>
            <a:pPr algn="l"/>
            <a:r>
              <a:rPr sz="1200" b="1" i="0">
                <a:solidFill>
                  <a:srgbClr val="222222"/>
                </a:solidFill>
                <a:latin typeface="Calibri"/>
              </a:rPr>
              <a:t>Emulator + VPN, 15 attempts in 10 minutes</a:t>
            </a:r>
          </a:p>
          <a:p>
            <a:pPr algn="l"/>
            <a:r>
              <a:rPr sz="1100" b="0" i="0">
                <a:solidFill>
                  <a:srgbClr val="5A6275"/>
                </a:solidFill>
                <a:latin typeface="Calibri"/>
              </a:rPr>
              <a:t>Bot / card-testing: stopped, analyst alerted.</a:t>
            </a:r>
          </a:p>
        </p:txBody>
      </p:sp>
      <p:sp>
        <p:nvSpPr>
          <p:cNvPr id="25" name="Decision 4"/>
          <p:cNvSpPr/>
          <p:nvPr/>
        </p:nvSpPr>
        <p:spPr>
          <a:xfrm>
            <a:off x="9372600" y="5394960"/>
            <a:ext cx="2286000" cy="42062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32003" bIns="32003"/>
          <a:lstStyle/>
          <a:p>
            <a:pPr algn="ctr"/>
            <a:r>
              <a:rPr sz="1200" b="1" i="0">
                <a:solidFill>
                  <a:srgbClr val="FFFFFF"/>
                </a:solidFill>
                <a:latin typeface="Calibri"/>
              </a:rPr>
              <a:t>BLOCK</a:t>
            </a:r>
          </a:p>
        </p:txBody>
      </p:sp>
      <p:sp>
        <p:nvSpPr>
          <p:cNvPr id="26" name="Analyst note"/>
          <p:cNvSpPr/>
          <p:nvPr/>
        </p:nvSpPr>
        <p:spPr>
          <a:xfrm>
            <a:off x="5989320" y="6071616"/>
            <a:ext cx="5760720" cy="411480"/>
          </a:xfrm>
          <a:prstGeom prst="roundRect">
            <a:avLst>
              <a:gd name="adj" fmla="val 15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83210" bIns="83210"/>
          <a:lstStyle/>
          <a:p>
            <a:pPr algn="l"/>
            <a:r>
              <a:rPr sz="1150" b="1" i="0">
                <a:solidFill>
                  <a:srgbClr val="1E2761"/>
                </a:solidFill>
                <a:latin typeface="Calibri"/>
              </a:rPr>
              <a:t>Analysts</a:t>
            </a:r>
            <a:r>
              <a:rPr sz="1150" b="0" i="0">
                <a:solidFill>
                  <a:srgbClr val="222222"/>
                </a:solidFill>
                <a:latin typeface="Calibri"/>
              </a:rPr>
              <a:t> see every decision live with its “why”; their feedback retrains the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One API call: context in, an explained decision out, in milliseconds</a:t>
            </a:r>
            <a:endParaRPr lang="en-US" sz="2000" dirty="0"/>
          </a:p>
        </p:txBody>
      </p:sp>
      <p:sp>
        <p:nvSpPr>
          <p:cNvPr id="13" name="Text 1">
            <a:extLst>
              <a:ext uri="{FF2B5EF4-FFF2-40B4-BE49-F238E27FC236}">
                <a16:creationId xmlns:a16="http://schemas.microsoft.com/office/drawing/2014/main" id="{62A87E1A-1A0A-8674-804A-3DF0E9A8DB8B}"/>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4 OF 5</a:t>
            </a:r>
            <a:endParaRPr lang="en-US" sz="1200" dirty="0"/>
          </a:p>
        </p:txBody>
      </p:sp>
      <p:sp>
        <p:nvSpPr>
          <p:cNvPr id="15" name="Text 2">
            <a:extLst>
              <a:ext uri="{FF2B5EF4-FFF2-40B4-BE49-F238E27FC236}">
                <a16:creationId xmlns:a16="http://schemas.microsoft.com/office/drawing/2014/main" id="{15DDE14C-9F4C-B780-B8A2-5E0A1B67CED5}"/>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Technical Approach</a:t>
            </a:r>
            <a:endParaRPr lang="en-US" sz="2800" dirty="0"/>
          </a:p>
        </p:txBody>
      </p:sp>
      <p:sp>
        <p:nvSpPr>
          <p:cNvPr id="16" name="D1 Input"/>
          <p:cNvSpPr/>
          <p:nvPr/>
        </p:nvSpPr>
        <p:spPr>
          <a:xfrm>
            <a:off x="457200" y="2542032"/>
            <a:ext cx="1828800" cy="2029968"/>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spcAft>
                <a:spcPts val="200"/>
              </a:spcAft>
            </a:pPr>
            <a:r>
              <a:rPr sz="1050" b="1" i="0">
                <a:solidFill>
                  <a:srgbClr val="5A6275"/>
                </a:solidFill>
                <a:latin typeface="Calibri"/>
              </a:rPr>
              <a:t>1 · INPUT</a:t>
            </a:r>
          </a:p>
          <a:p>
            <a:pPr algn="l">
              <a:spcAft>
                <a:spcPts val="400"/>
              </a:spcAft>
            </a:pPr>
            <a:r>
              <a:rPr sz="1250" b="1" i="0">
                <a:solidFill>
                  <a:srgbClr val="1E2761"/>
                </a:solidFill>
                <a:latin typeface="Calibri"/>
              </a:rPr>
              <a:t>Payment app + Pramaan SDK</a:t>
            </a:r>
          </a:p>
          <a:p>
            <a:pPr algn="l"/>
            <a:r>
              <a:rPr sz="1050" b="0" i="0">
                <a:solidFill>
                  <a:srgbClr val="222222"/>
                </a:solidFill>
                <a:latin typeface="Calibri"/>
              </a:rPr>
              <a:t>transaction · device · session behaviour: typing rhythm, dwell, paste, login→pay time, on-call*, screen-share*</a:t>
            </a:r>
          </a:p>
        </p:txBody>
      </p:sp>
      <p:sp>
        <p:nvSpPr>
          <p:cNvPr id="17" name="D2 API"/>
          <p:cNvSpPr/>
          <p:nvPr/>
        </p:nvSpPr>
        <p:spPr>
          <a:xfrm>
            <a:off x="2587752" y="2542032"/>
            <a:ext cx="1645920" cy="2029968"/>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spcAft>
                <a:spcPts val="200"/>
              </a:spcAft>
            </a:pPr>
            <a:r>
              <a:rPr sz="1050" b="1" i="0">
                <a:solidFill>
                  <a:srgbClr val="5A6275"/>
                </a:solidFill>
                <a:latin typeface="Calibri"/>
              </a:rPr>
              <a:t>2 · API</a:t>
            </a:r>
          </a:p>
          <a:p>
            <a:pPr algn="l">
              <a:spcAft>
                <a:spcPts val="400"/>
              </a:spcAft>
            </a:pPr>
            <a:r>
              <a:rPr sz="1200" b="1" i="0">
                <a:solidFill>
                  <a:srgbClr val="1E2761"/>
                </a:solidFill>
                <a:latin typeface="Calibri"/>
              </a:rPr>
              <a:t>POST /v1/authenticate</a:t>
            </a:r>
          </a:p>
          <a:p>
            <a:pPr algn="l"/>
            <a:r>
              <a:rPr sz="1050" b="0" i="0">
                <a:solidFill>
                  <a:srgbClr val="222222"/>
                </a:solidFill>
                <a:latin typeface="Calibri"/>
              </a:rPr>
              <a:t>FastAPI on Cloud Run: validate, start timer. Over 150 ms → falls back to standard 2FA</a:t>
            </a:r>
          </a:p>
        </p:txBody>
      </p:sp>
      <p:sp>
        <p:nvSpPr>
          <p:cNvPr id="18" name="D3 Features"/>
          <p:cNvSpPr/>
          <p:nvPr/>
        </p:nvSpPr>
        <p:spPr>
          <a:xfrm>
            <a:off x="4535424" y="2542032"/>
            <a:ext cx="1828800" cy="1207008"/>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spcAft>
                <a:spcPts val="200"/>
              </a:spcAft>
            </a:pPr>
            <a:r>
              <a:rPr sz="1050" b="1" i="0">
                <a:solidFill>
                  <a:srgbClr val="5A6275"/>
                </a:solidFill>
                <a:latin typeface="Calibri"/>
              </a:rPr>
              <a:t>3 · FEATURES</a:t>
            </a:r>
          </a:p>
          <a:p>
            <a:pPr algn="l">
              <a:spcAft>
                <a:spcPts val="200"/>
              </a:spcAft>
            </a:pPr>
            <a:r>
              <a:rPr sz="1150" b="1" i="0">
                <a:solidFill>
                  <a:srgbClr val="1E2761"/>
                </a:solidFill>
                <a:latin typeface="Calibri"/>
              </a:rPr>
              <a:t>20+ features vs the user's own baseline</a:t>
            </a:r>
          </a:p>
          <a:p>
            <a:pPr algn="l"/>
            <a:r>
              <a:rPr sz="1050" b="0" i="0">
                <a:solidFill>
                  <a:srgbClr val="222222"/>
                </a:solidFill>
                <a:latin typeface="Calibri"/>
              </a:rPr>
              <a:t>“8× usual amount”, new payee, new device…</a:t>
            </a:r>
          </a:p>
        </p:txBody>
      </p:sp>
      <p:sp>
        <p:nvSpPr>
          <p:cNvPr id="19" name="D3b Profile store"/>
          <p:cNvSpPr/>
          <p:nvPr/>
        </p:nvSpPr>
        <p:spPr>
          <a:xfrm>
            <a:off x="4535424" y="4023360"/>
            <a:ext cx="1828800" cy="548640"/>
          </a:xfrm>
          <a:prstGeom prst="roundRect">
            <a:avLst>
              <a:gd name="adj" fmla="val 15000"/>
            </a:avLst>
          </a:prstGeom>
          <a:solidFill>
            <a:srgbClr val="FFFFFF"/>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r>
              <a:rPr sz="1050" b="1" i="0">
                <a:solidFill>
                  <a:srgbClr val="1E2761"/>
                </a:solidFill>
                <a:latin typeface="Calibri"/>
              </a:rPr>
              <a:t>Profile store (Redis)</a:t>
            </a:r>
          </a:p>
          <a:p>
            <a:pPr algn="ctr"/>
            <a:r>
              <a:rPr sz="950" b="0" i="0">
                <a:solidFill>
                  <a:srgbClr val="222222"/>
                </a:solidFill>
                <a:latin typeface="Calibri"/>
              </a:rPr>
              <a:t>habits · devices · payees · receiver risk</a:t>
            </a:r>
          </a:p>
        </p:txBody>
      </p:sp>
      <p:sp>
        <p:nvSpPr>
          <p:cNvPr id="20" name="D4 Engine"/>
          <p:cNvSpPr/>
          <p:nvPr/>
        </p:nvSpPr>
        <p:spPr>
          <a:xfrm>
            <a:off x="6665976" y="2542032"/>
            <a:ext cx="2880360" cy="2029968"/>
          </a:xfrm>
          <a:prstGeom prst="roundRect">
            <a:avLst>
              <a:gd name="adj" fmla="val 6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r>
              <a:rPr sz="1050" b="1" i="0">
                <a:solidFill>
                  <a:srgbClr val="CADCFC"/>
                </a:solidFill>
                <a:latin typeface="Calibri"/>
              </a:rPr>
              <a:t>4 · RISK ENGINE</a:t>
            </a:r>
          </a:p>
        </p:txBody>
      </p:sp>
      <p:sp>
        <p:nvSpPr>
          <p:cNvPr id="21" name="Engine step a"/>
          <p:cNvSpPr/>
          <p:nvPr/>
        </p:nvSpPr>
        <p:spPr>
          <a:xfrm>
            <a:off x="6775704" y="2871215"/>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50" b="1" i="0">
                <a:solidFill>
                  <a:srgbClr val="CADCFC"/>
                </a:solidFill>
                <a:latin typeface="Calibri"/>
              </a:rPr>
              <a:t>a  </a:t>
            </a:r>
            <a:r>
              <a:rPr sz="1050" b="0" i="0">
                <a:solidFill>
                  <a:srgbClr val="FFFFFF"/>
                </a:solidFill>
                <a:latin typeface="Calibri"/>
              </a:rPr>
              <a:t>Rules: hard policy + fast-path allow</a:t>
            </a:r>
          </a:p>
        </p:txBody>
      </p:sp>
      <p:sp>
        <p:nvSpPr>
          <p:cNvPr id="22" name="Engine step b"/>
          <p:cNvSpPr/>
          <p:nvPr/>
        </p:nvSpPr>
        <p:spPr>
          <a:xfrm>
            <a:off x="6775704" y="3204972"/>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50" b="1" i="0">
                <a:solidFill>
                  <a:srgbClr val="CADCFC"/>
                </a:solidFill>
                <a:latin typeface="Calibri"/>
              </a:rPr>
              <a:t>b  </a:t>
            </a:r>
            <a:r>
              <a:rPr sz="1050" b="0" i="0">
                <a:solidFill>
                  <a:srgbClr val="FFFFFF"/>
                </a:solidFill>
                <a:latin typeface="Calibri"/>
              </a:rPr>
              <a:t>LightGBM → fraud probability p</a:t>
            </a:r>
          </a:p>
        </p:txBody>
      </p:sp>
      <p:sp>
        <p:nvSpPr>
          <p:cNvPr id="23" name="Engine step c"/>
          <p:cNvSpPr/>
          <p:nvPr/>
        </p:nvSpPr>
        <p:spPr>
          <a:xfrm>
            <a:off x="6775704" y="3538728"/>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50" b="1" i="0">
                <a:solidFill>
                  <a:srgbClr val="CADCFC"/>
                </a:solidFill>
                <a:latin typeface="Calibri"/>
              </a:rPr>
              <a:t>c  </a:t>
            </a:r>
            <a:r>
              <a:rPr sz="1050" b="0" i="0">
                <a:solidFill>
                  <a:srgbClr val="FFFFFF"/>
                </a:solidFill>
                <a:latin typeface="Calibri"/>
              </a:rPr>
              <a:t>TreeSHAP → each signal's contribution</a:t>
            </a:r>
          </a:p>
        </p:txBody>
      </p:sp>
      <p:sp>
        <p:nvSpPr>
          <p:cNvPr id="24" name="Engine step d"/>
          <p:cNvSpPr/>
          <p:nvPr/>
        </p:nvSpPr>
        <p:spPr>
          <a:xfrm>
            <a:off x="6775704" y="3872484"/>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50" b="1" i="0">
                <a:solidFill>
                  <a:srgbClr val="CADCFC"/>
                </a:solidFill>
                <a:latin typeface="Calibri"/>
              </a:rPr>
              <a:t>d  </a:t>
            </a:r>
            <a:r>
              <a:rPr sz="1050" b="0" i="0">
                <a:solidFill>
                  <a:srgbClr val="FFFFFF"/>
                </a:solidFill>
                <a:latin typeface="Calibri"/>
              </a:rPr>
              <a:t>Risk type: impostor · scam · bot · mule</a:t>
            </a:r>
          </a:p>
        </p:txBody>
      </p:sp>
      <p:sp>
        <p:nvSpPr>
          <p:cNvPr id="25" name="Engine step e"/>
          <p:cNvSpPr/>
          <p:nvPr/>
        </p:nvSpPr>
        <p:spPr>
          <a:xfrm>
            <a:off x="6775704" y="4206240"/>
            <a:ext cx="2660904" cy="301752"/>
          </a:xfrm>
          <a:prstGeom prst="roundRect">
            <a:avLst>
              <a:gd name="adj" fmla="val 20000"/>
            </a:avLst>
          </a:prstGeom>
          <a:solidFill>
            <a:srgbClr val="2C3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l"/>
            <a:r>
              <a:rPr sz="1050" b="1" i="0">
                <a:solidFill>
                  <a:srgbClr val="CADCFC"/>
                </a:solidFill>
                <a:latin typeface="Calibri"/>
              </a:rPr>
              <a:t>e  </a:t>
            </a:r>
            <a:r>
              <a:rPr sz="1050" b="0" i="0">
                <a:solidFill>
                  <a:srgbClr val="FFFFFF"/>
                </a:solidFill>
                <a:latin typeface="Calibri"/>
              </a:rPr>
              <a:t>Cost policy → decision + challenge type</a:t>
            </a:r>
          </a:p>
        </p:txBody>
      </p:sp>
      <p:sp>
        <p:nvSpPr>
          <p:cNvPr id="26" name="D5 Output"/>
          <p:cNvSpPr/>
          <p:nvPr/>
        </p:nvSpPr>
        <p:spPr>
          <a:xfrm>
            <a:off x="9848088" y="2542032"/>
            <a:ext cx="1901952" cy="2029968"/>
          </a:xfrm>
          <a:prstGeom prst="roundRect">
            <a:avLst>
              <a:gd name="adj" fmla="val 8000"/>
            </a:avLst>
          </a:prstGeom>
          <a:solidFill>
            <a:srgbClr val="EEF1FB"/>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6809" bIns="76809"/>
          <a:lstStyle/>
          <a:p>
            <a:pPr algn="l">
              <a:spcAft>
                <a:spcPts val="400"/>
              </a:spcAft>
            </a:pPr>
            <a:r>
              <a:rPr sz="1050" b="1" i="0">
                <a:solidFill>
                  <a:srgbClr val="5A6275"/>
                </a:solidFill>
                <a:latin typeface="Calibri"/>
              </a:rPr>
              <a:t>5 · OUTPUT</a:t>
            </a:r>
          </a:p>
          <a:p>
            <a:pPr algn="l">
              <a:spcAft>
                <a:spcPts val="100"/>
              </a:spcAft>
            </a:pPr>
            <a:r>
              <a:rPr sz="1150" b="1" i="0">
                <a:solidFill>
                  <a:srgbClr val="2E7D32"/>
                </a:solidFill>
                <a:latin typeface="Calibri"/>
              </a:rPr>
              <a:t>ALLOW</a:t>
            </a:r>
          </a:p>
          <a:p>
            <a:pPr algn="l">
              <a:spcAft>
                <a:spcPts val="100"/>
              </a:spcAft>
            </a:pPr>
            <a:r>
              <a:rPr sz="1150" b="1" i="0">
                <a:solidFill>
                  <a:srgbClr val="B25E00"/>
                </a:solidFill>
                <a:latin typeface="Calibri"/>
              </a:rPr>
              <a:t>CHALLENGE (type)</a:t>
            </a:r>
          </a:p>
          <a:p>
            <a:pPr algn="l">
              <a:spcAft>
                <a:spcPts val="100"/>
              </a:spcAft>
            </a:pPr>
            <a:r>
              <a:rPr sz="1150" b="1" i="0">
                <a:solidFill>
                  <a:srgbClr val="C62828"/>
                </a:solidFill>
                <a:latin typeface="Calibri"/>
              </a:rPr>
              <a:t>BLOCK</a:t>
            </a:r>
          </a:p>
          <a:p>
            <a:pPr algn="l">
              <a:spcBef>
                <a:spcPts val="400"/>
              </a:spcBef>
            </a:pPr>
            <a:r>
              <a:rPr sz="1050" b="0" i="0">
                <a:solidFill>
                  <a:srgbClr val="222222"/>
                </a:solidFill>
                <a:latin typeface="Calibri"/>
              </a:rPr>
              <a:t>+ score, top-3 reasons, latency, model version</a:t>
            </a:r>
          </a:p>
        </p:txBody>
      </p:sp>
      <p:cxnSp>
        <p:nvCxnSpPr>
          <p:cNvPr id="27" name="A1"/>
          <p:cNvCxnSpPr/>
          <p:nvPr/>
        </p:nvCxnSpPr>
        <p:spPr>
          <a:xfrm>
            <a:off x="2286000" y="3227832"/>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2"/>
          <p:cNvCxnSpPr/>
          <p:nvPr/>
        </p:nvCxnSpPr>
        <p:spPr>
          <a:xfrm>
            <a:off x="4233672" y="3227832"/>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A3"/>
          <p:cNvCxnSpPr/>
          <p:nvPr/>
        </p:nvCxnSpPr>
        <p:spPr>
          <a:xfrm>
            <a:off x="6364224" y="3227832"/>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A4"/>
          <p:cNvCxnSpPr/>
          <p:nvPr/>
        </p:nvCxnSpPr>
        <p:spPr>
          <a:xfrm>
            <a:off x="9546336" y="3227832"/>
            <a:ext cx="301752" cy="0"/>
          </a:xfrm>
          <a:prstGeom prst="line">
            <a:avLst/>
          </a:prstGeom>
          <a:ln w="2222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5 profile"/>
          <p:cNvCxnSpPr/>
          <p:nvPr/>
        </p:nvCxnSpPr>
        <p:spPr>
          <a:xfrm>
            <a:off x="5449824" y="3749039"/>
            <a:ext cx="0" cy="274321"/>
          </a:xfrm>
          <a:prstGeom prst="line">
            <a:avLst/>
          </a:prstGeom>
          <a:ln w="15875">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Built strip"/>
          <p:cNvSpPr/>
          <p:nvPr/>
        </p:nvSpPr>
        <p:spPr>
          <a:xfrm>
            <a:off x="457200" y="4681728"/>
            <a:ext cx="11292840" cy="384048"/>
          </a:xfrm>
          <a:prstGeom prst="roundRect">
            <a:avLst>
              <a:gd name="adj" fmla="val 30000"/>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l"/>
            <a:r>
              <a:rPr sz="1100" b="1" i="0">
                <a:solidFill>
                  <a:srgbClr val="2E7D32"/>
                </a:solidFill>
                <a:latin typeface="Calibri"/>
              </a:rPr>
              <a:t>Built during the hack: </a:t>
            </a:r>
            <a:r>
              <a:rPr sz="1100" b="0" i="0">
                <a:solidFill>
                  <a:srgbClr val="222222"/>
                </a:solidFill>
                <a:latin typeface="Calibri"/>
              </a:rPr>
              <a:t>SDK + demo app, API, feature builder, rules + LightGBM + TreeSHAP, cost policy, event log, live dashboard, cloud deploy, load test.   </a:t>
            </a:r>
            <a:r>
              <a:rPr sz="1100" b="1" i="0">
                <a:solidFill>
                  <a:srgbClr val="B25E00"/>
                </a:solidFill>
                <a:latin typeface="Calibri"/>
              </a:rPr>
              <a:t>Mocked: </a:t>
            </a:r>
            <a:r>
              <a:rPr sz="1100" b="0" i="0">
                <a:solidFill>
                  <a:srgbClr val="222222"/>
                </a:solidFill>
                <a:latin typeface="Calibri"/>
              </a:rPr>
              <a:t>bank/NPCI rails, FRI &amp; mule feeds, *phone call-state.</a:t>
            </a:r>
          </a:p>
        </p:txBody>
      </p:sp>
      <p:sp>
        <p:nvSpPr>
          <p:cNvPr id="33" name="Panel STACK"/>
          <p:cNvSpPr/>
          <p:nvPr/>
        </p:nvSpPr>
        <p:spPr>
          <a:xfrm>
            <a:off x="457200" y="5193792"/>
            <a:ext cx="3657600" cy="1417320"/>
          </a:xfrm>
          <a:prstGeom prst="roundRect">
            <a:avLst>
              <a:gd name="adj" fmla="val 7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83210" bIns="83210"/>
          <a:lstStyle/>
          <a:p>
            <a:pPr algn="l">
              <a:spcAft>
                <a:spcPts val="200"/>
              </a:spcAft>
            </a:pPr>
            <a:r>
              <a:rPr sz="1050" b="1" i="0">
                <a:solidFill>
                  <a:srgbClr val="1E2761"/>
                </a:solidFill>
                <a:latin typeface="Calibri"/>
              </a:rPr>
              <a:t>STACK</a:t>
            </a:r>
          </a:p>
          <a:p>
            <a:pPr algn="l" marL="155448" indent="-137160">
              <a:spcAft>
                <a:spcPts val="200"/>
              </a:spcAft>
              <a:buClr>
                <a:srgbClr val="1E2761"/>
              </a:buClr>
              <a:buChar char="•"/>
            </a:pPr>
            <a:r>
              <a:rPr sz="1050" b="0" i="0">
                <a:solidFill>
                  <a:srgbClr val="222222"/>
                </a:solidFill>
                <a:latin typeface="Calibri"/>
              </a:rPr>
              <a:t>Python 3.11 · FastAPI · LightGBM · SHAP · Redis</a:t>
            </a:r>
          </a:p>
          <a:p>
            <a:pPr algn="l" marL="155448" indent="-137160">
              <a:spcAft>
                <a:spcPts val="200"/>
              </a:spcAft>
              <a:buClr>
                <a:srgbClr val="1E2761"/>
              </a:buClr>
              <a:buChar char="•"/>
            </a:pPr>
            <a:r>
              <a:rPr sz="1050" b="0" i="0">
                <a:solidFill>
                  <a:srgbClr val="222222"/>
                </a:solidFill>
                <a:latin typeface="Calibri"/>
              </a:rPr>
              <a:t>Supabase Postgres (event log, realtime) · React (Vite) on Vercel · Docker → Google Cloud Run</a:t>
            </a:r>
          </a:p>
          <a:p>
            <a:pPr algn="l" marL="155448" indent="-137160">
              <a:spcAft>
                <a:spcPts val="200"/>
              </a:spcAft>
              <a:buClr>
                <a:srgbClr val="1E2761"/>
              </a:buClr>
              <a:buChar char="•"/>
            </a:pPr>
            <a:r>
              <a:rPr sz="1050" b="0" i="0">
                <a:solidFill>
                  <a:srgbClr val="222222"/>
                </a:solidFill>
                <a:latin typeface="Calibri"/>
              </a:rPr>
              <a:t>Log → dashboard: live feed, “why” panel, latency, threshold sliders. Feedback API → labels → retrain.</a:t>
            </a:r>
          </a:p>
        </p:txBody>
      </p:sp>
      <p:sp>
        <p:nvSpPr>
          <p:cNvPr id="34" name="Panel DATA"/>
          <p:cNvSpPr/>
          <p:nvPr/>
        </p:nvSpPr>
        <p:spPr>
          <a:xfrm>
            <a:off x="4274820" y="5193792"/>
            <a:ext cx="3657600" cy="1417320"/>
          </a:xfrm>
          <a:prstGeom prst="roundRect">
            <a:avLst>
              <a:gd name="adj" fmla="val 7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83210" bIns="83210"/>
          <a:lstStyle/>
          <a:p>
            <a:pPr algn="l">
              <a:spcAft>
                <a:spcPts val="200"/>
              </a:spcAft>
            </a:pPr>
            <a:r>
              <a:rPr sz="1050" b="1" i="0">
                <a:solidFill>
                  <a:srgbClr val="1E2761"/>
                </a:solidFill>
                <a:latin typeface="Calibri"/>
              </a:rPr>
              <a:t>DATA</a:t>
            </a:r>
          </a:p>
          <a:p>
            <a:pPr algn="l" marL="155448" indent="-137160">
              <a:spcAft>
                <a:spcPts val="200"/>
              </a:spcAft>
              <a:buClr>
                <a:srgbClr val="1E2761"/>
              </a:buClr>
              <a:buChar char="•"/>
            </a:pPr>
            <a:r>
              <a:rPr sz="1050" b="0" i="0">
                <a:solidFill>
                  <a:srgbClr val="222222"/>
                </a:solidFill>
                <a:latin typeface="Calibri"/>
              </a:rPr>
              <a:t>No public dataset has all three signal families → synthetic generator: 5k users, 30 days, 4 labelled attack types + hard negatives (travel, new phone, rent)</a:t>
            </a:r>
          </a:p>
          <a:p>
            <a:pPr algn="l" marL="155448" indent="-137160">
              <a:spcAft>
                <a:spcPts val="200"/>
              </a:spcAft>
              <a:buClr>
                <a:srgbClr val="1E2761"/>
              </a:buClr>
              <a:buChar char="•"/>
            </a:pPr>
            <a:r>
              <a:rPr sz="1050" b="0" i="0">
                <a:solidFill>
                  <a:srgbClr val="222222"/>
                </a:solidFill>
                <a:latin typeface="Calibri"/>
              </a:rPr>
              <a:t>Sanity-checked on IEEE-CIS (590k txns) &amp; PaySim · *call state: mobile SDK, toggles in demo</a:t>
            </a:r>
          </a:p>
        </p:txBody>
      </p:sp>
      <p:sp>
        <p:nvSpPr>
          <p:cNvPr id="35" name="Panel DECISION RULE"/>
          <p:cNvSpPr/>
          <p:nvPr/>
        </p:nvSpPr>
        <p:spPr>
          <a:xfrm>
            <a:off x="8092440" y="5193792"/>
            <a:ext cx="3657600" cy="1417320"/>
          </a:xfrm>
          <a:prstGeom prst="roundRect">
            <a:avLst>
              <a:gd name="adj" fmla="val 7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18872" rIns="118872" tIns="83210" bIns="83210"/>
          <a:lstStyle/>
          <a:p>
            <a:pPr algn="l">
              <a:spcAft>
                <a:spcPts val="200"/>
              </a:spcAft>
            </a:pPr>
            <a:r>
              <a:rPr sz="1050" b="1" i="0">
                <a:solidFill>
                  <a:srgbClr val="1E2761"/>
                </a:solidFill>
                <a:latin typeface="Calibri"/>
              </a:rPr>
              <a:t>DECISION RULE</a:t>
            </a:r>
          </a:p>
          <a:p>
            <a:pPr algn="l" marL="155448" indent="-137160">
              <a:spcAft>
                <a:spcPts val="200"/>
              </a:spcAft>
              <a:buClr>
                <a:srgbClr val="1E2761"/>
              </a:buClr>
              <a:buChar char="•"/>
            </a:pPr>
            <a:r>
              <a:rPr sz="1050" b="0" i="0">
                <a:solidFill>
                  <a:srgbClr val="222222"/>
                </a:solidFill>
                <a:latin typeface="Calibri"/>
              </a:rPr>
              <a:t>Block if p ≥ 0.90 or a hard rule fires</a:t>
            </a:r>
          </a:p>
          <a:p>
            <a:pPr algn="l" marL="155448" indent="-137160">
              <a:spcAft>
                <a:spcPts val="200"/>
              </a:spcAft>
              <a:buClr>
                <a:srgbClr val="1E2761"/>
              </a:buClr>
              <a:buChar char="•"/>
            </a:pPr>
            <a:r>
              <a:rPr sz="1050" b="0" i="0">
                <a:solidFill>
                  <a:srgbClr val="222222"/>
                </a:solidFill>
                <a:latin typeface="Calibri"/>
              </a:rPr>
              <a:t>Challenge if p ≥ clip(₹500 ÷ amount, 0.05, 0.60): stricter as the amount grows</a:t>
            </a:r>
          </a:p>
          <a:p>
            <a:pPr algn="l" marL="155448" indent="-137160">
              <a:spcAft>
                <a:spcPts val="200"/>
              </a:spcAft>
              <a:buClr>
                <a:srgbClr val="1E2761"/>
              </a:buClr>
              <a:buChar char="•"/>
            </a:pPr>
            <a:r>
              <a:rPr sz="1050" b="0" i="0">
                <a:solidFill>
                  <a:srgbClr val="222222"/>
                </a:solidFill>
                <a:latin typeface="Calibri"/>
              </a:rPr>
              <a:t>Challenge type = lowest friction + p × amount × (1 − effectiveness vs this risk type)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6" name="Text 4"/>
          <p:cNvSpPr txBox="1"/>
          <p:nvPr/>
        </p:nvSpPr>
        <p:spPr>
          <a:xfrm>
            <a:off x="457200" y="1947672"/>
            <a:ext cx="11292840" cy="457200"/>
          </a:xfrm>
          <a:prstGeom prst="rect">
            <a:avLst/>
          </a:prstGeom>
          <a:noFill/>
          <a:ln/>
        </p:spPr>
        <p:txBody>
          <a:bodyPr wrap="square" lIns="0" tIns="0" rIns="0" bIns="0" rtlCol="0" anchor="ctr"/>
          <a:lstStyle/>
          <a:p>
            <a:pPr marL="0" indent="0">
              <a:buNone/>
            </a:pPr>
            <a:r>
              <a:rPr lang="en-US" sz="2000" b="1" i="1" dirty="0">
                <a:solidFill>
                  <a:srgbClr val="1E2761"/>
                </a:solidFill>
                <a:latin typeface="Cambria" pitchFamily="34" charset="0"/>
                <a:ea typeface="Cambria" pitchFamily="34" charset="-122"/>
                <a:cs typeface="Cambria" pitchFamily="34" charset="-120"/>
              </a:rPr>
              <a:t>&gt; A deployed, working prototype in the hack, honest about its limits</a:t>
            </a:r>
            <a:endParaRPr lang="en-US" sz="2000" dirty="0"/>
          </a:p>
        </p:txBody>
      </p:sp>
      <p:sp>
        <p:nvSpPr>
          <p:cNvPr id="13" name="Text 1">
            <a:extLst>
              <a:ext uri="{FF2B5EF4-FFF2-40B4-BE49-F238E27FC236}">
                <a16:creationId xmlns:a16="http://schemas.microsoft.com/office/drawing/2014/main" id="{3F1D7908-2C9B-D0C1-C6B4-F476CD7593EC}"/>
              </a:ext>
            </a:extLst>
          </p:cNvPr>
          <p:cNvSpPr txBox="1"/>
          <p:nvPr/>
        </p:nvSpPr>
        <p:spPr>
          <a:xfrm>
            <a:off x="10332720" y="292768"/>
            <a:ext cx="1417320" cy="365760"/>
          </a:xfrm>
          <a:prstGeom prst="rect">
            <a:avLst/>
          </a:prstGeom>
          <a:noFill/>
          <a:ln/>
        </p:spPr>
        <p:txBody>
          <a:bodyPr wrap="square" lIns="0" tIns="0" rIns="0" bIns="0" rtlCol="0" anchor="ctr"/>
          <a:lstStyle/>
          <a:p>
            <a:pPr marL="0" indent="0" algn="r">
              <a:buNone/>
            </a:pPr>
            <a:r>
              <a:rPr lang="en-US" sz="1200" b="1" kern="0" spc="100" dirty="0">
                <a:solidFill>
                  <a:srgbClr val="CADCFC"/>
                </a:solidFill>
                <a:latin typeface="Calibri" pitchFamily="34" charset="0"/>
                <a:ea typeface="Calibri" pitchFamily="34" charset="-122"/>
                <a:cs typeface="Calibri" pitchFamily="34" charset="-120"/>
              </a:rPr>
              <a:t>SLIDE 5 OF 5</a:t>
            </a:r>
            <a:endParaRPr lang="en-US" sz="1200" dirty="0"/>
          </a:p>
        </p:txBody>
      </p:sp>
      <p:sp>
        <p:nvSpPr>
          <p:cNvPr id="15" name="Text 2">
            <a:extLst>
              <a:ext uri="{FF2B5EF4-FFF2-40B4-BE49-F238E27FC236}">
                <a16:creationId xmlns:a16="http://schemas.microsoft.com/office/drawing/2014/main" id="{AB4164AD-F079-5D4C-5467-4DABD5DBBFFD}"/>
              </a:ext>
            </a:extLst>
          </p:cNvPr>
          <p:cNvSpPr txBox="1"/>
          <p:nvPr/>
        </p:nvSpPr>
        <p:spPr>
          <a:xfrm>
            <a:off x="457200" y="1444752"/>
            <a:ext cx="7315200" cy="825930"/>
          </a:xfrm>
          <a:prstGeom prst="rect">
            <a:avLst/>
          </a:prstGeom>
          <a:noFill/>
          <a:ln/>
        </p:spPr>
        <p:txBody>
          <a:bodyPr wrap="square" lIns="0" tIns="0" rIns="0" bIns="0" rtlCol="0" anchor="t"/>
          <a:lstStyle/>
          <a:p>
            <a:pPr marL="0" indent="0">
              <a:buNone/>
            </a:pPr>
            <a:r>
              <a:rPr lang="en-US" sz="2800" b="1" dirty="0">
                <a:latin typeface="Cambria" pitchFamily="34" charset="0"/>
                <a:ea typeface="Cambria" pitchFamily="34" charset="-122"/>
                <a:cs typeface="Cambria" pitchFamily="34" charset="-120"/>
              </a:rPr>
              <a:t>Build Plan, Risks &amp; Impact</a:t>
            </a:r>
            <a:endParaRPr lang="en-US" sz="2800" dirty="0"/>
          </a:p>
        </p:txBody>
      </p:sp>
      <p:sp>
        <p:nvSpPr>
          <p:cNvPr id="16" name="Col head 1"/>
          <p:cNvSpPr/>
          <p:nvPr/>
        </p:nvSpPr>
        <p:spPr>
          <a:xfrm>
            <a:off x="457200" y="2560320"/>
            <a:ext cx="3630168" cy="384048"/>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200" b="1" i="0">
                <a:solidFill>
                  <a:srgbClr val="FFFFFF"/>
                </a:solidFill>
                <a:latin typeface="Calibri"/>
              </a:rPr>
              <a:t>1 · WHAT WE WOULD BUILD</a:t>
            </a:r>
          </a:p>
        </p:txBody>
      </p:sp>
      <p:sp>
        <p:nvSpPr>
          <p:cNvPr id="17" name="Col head 2"/>
          <p:cNvSpPr/>
          <p:nvPr/>
        </p:nvSpPr>
        <p:spPr>
          <a:xfrm>
            <a:off x="4288536" y="2560320"/>
            <a:ext cx="3630168" cy="384048"/>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200" b="1" i="0">
                <a:solidFill>
                  <a:srgbClr val="FFFFFF"/>
                </a:solidFill>
                <a:latin typeface="Calibri"/>
              </a:rPr>
              <a:t>2 · RISKS &amp; LIMITATIONS</a:t>
            </a:r>
          </a:p>
        </p:txBody>
      </p:sp>
      <p:sp>
        <p:nvSpPr>
          <p:cNvPr id="18" name="Col head 3"/>
          <p:cNvSpPr/>
          <p:nvPr/>
        </p:nvSpPr>
        <p:spPr>
          <a:xfrm>
            <a:off x="8119872" y="2560320"/>
            <a:ext cx="3630168" cy="384048"/>
          </a:xfrm>
          <a:prstGeom prst="roundRect">
            <a:avLst>
              <a:gd name="adj" fmla="val 30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r>
              <a:rPr sz="1200" b="1" i="0">
                <a:solidFill>
                  <a:srgbClr val="FFFFFF"/>
                </a:solidFill>
                <a:latin typeface="Calibri"/>
              </a:rPr>
              <a:t>3 · EXPECTED IMPACT</a:t>
            </a:r>
          </a:p>
        </p:txBody>
      </p:sp>
      <p:sp>
        <p:nvSpPr>
          <p:cNvPr id="19" name="Build body"/>
          <p:cNvSpPr/>
          <p:nvPr/>
        </p:nvSpPr>
        <p:spPr>
          <a:xfrm>
            <a:off x="457200" y="3035808"/>
            <a:ext cx="3630168" cy="3566160"/>
          </a:xfrm>
          <a:prstGeom prst="roundRect">
            <a:avLst>
              <a:gd name="adj" fmla="val 5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6012" bIns="96012"/>
          <a:lstStyle/>
          <a:p>
            <a:pPr algn="l">
              <a:spcAft>
                <a:spcPts val="300"/>
              </a:spcAft>
            </a:pPr>
            <a:r>
              <a:rPr sz="1150" b="1" i="0">
                <a:solidFill>
                  <a:srgbClr val="1E2761"/>
                </a:solidFill>
                <a:latin typeface="Calibri"/>
              </a:rPr>
              <a:t>A working prototype by the end of the hack:</a:t>
            </a:r>
          </a:p>
          <a:p>
            <a:pPr algn="l" marL="155448" indent="-137160">
              <a:spcAft>
                <a:spcPts val="300"/>
              </a:spcAft>
              <a:buClr>
                <a:srgbClr val="1E2761"/>
              </a:buClr>
              <a:buChar char="•"/>
            </a:pPr>
            <a:r>
              <a:rPr sz="1200" b="0" i="0">
                <a:solidFill>
                  <a:srgbClr val="222222"/>
                </a:solidFill>
                <a:latin typeface="Calibri"/>
              </a:rPr>
              <a:t>Live /v1/authenticate on Cloud Run, with fail-safe</a:t>
            </a:r>
          </a:p>
          <a:p>
            <a:pPr algn="l" marL="155448" indent="-137160">
              <a:spcAft>
                <a:spcPts val="300"/>
              </a:spcAft>
              <a:buClr>
                <a:srgbClr val="1E2761"/>
              </a:buClr>
              <a:buChar char="•"/>
            </a:pPr>
            <a:r>
              <a:rPr sz="1200" b="0" i="0">
                <a:solidFill>
                  <a:srgbClr val="222222"/>
                </a:solidFill>
                <a:latin typeface="Calibri"/>
              </a:rPr>
              <a:t>Rules + LightGBM + TreeSHAP reasons + cost policy</a:t>
            </a:r>
          </a:p>
          <a:p>
            <a:pPr algn="l" marL="155448" indent="-137160">
              <a:spcAft>
                <a:spcPts val="300"/>
              </a:spcAft>
              <a:buClr>
                <a:srgbClr val="1E2761"/>
              </a:buClr>
              <a:buChar char="•"/>
            </a:pPr>
            <a:r>
              <a:rPr sz="1200" b="0" i="0">
                <a:solidFill>
                  <a:srgbClr val="222222"/>
                </a:solidFill>
                <a:latin typeface="Calibri"/>
              </a:rPr>
              <a:t>Demo UPI-style app + JS SDK + scenario toggles</a:t>
            </a:r>
          </a:p>
          <a:p>
            <a:pPr algn="l" marL="155448" indent="-137160">
              <a:spcAft>
                <a:spcPts val="300"/>
              </a:spcAft>
              <a:buClr>
                <a:srgbClr val="1E2761"/>
              </a:buClr>
              <a:buChar char="•"/>
            </a:pPr>
            <a:r>
              <a:rPr sz="1200" b="0" i="0">
                <a:solidFill>
                  <a:srgbClr val="222222"/>
                </a:solidFill>
                <a:latin typeface="Calibri"/>
              </a:rPr>
              <a:t>Dashboard: live feed, “why” panel, latency, sliders</a:t>
            </a:r>
          </a:p>
          <a:p>
            <a:pPr algn="l" marL="155448" indent="-137160">
              <a:spcAft>
                <a:spcPts val="300"/>
              </a:spcAft>
              <a:buClr>
                <a:srgbClr val="1E2761"/>
              </a:buClr>
              <a:buChar char="•"/>
            </a:pPr>
            <a:r>
              <a:rPr sz="1200" b="0" i="0">
                <a:solidFill>
                  <a:srgbClr val="222222"/>
                </a:solidFill>
                <a:latin typeface="Calibri"/>
              </a:rPr>
              <a:t>Synthetic data (4 attack types), scenario tests, load test</a:t>
            </a:r>
          </a:p>
          <a:p>
            <a:pPr algn="l">
              <a:spcBef>
                <a:spcPts val="800"/>
              </a:spcBef>
              <a:spcAft>
                <a:spcPts val="100"/>
              </a:spcAft>
            </a:pPr>
            <a:r>
              <a:rPr sz="1150" b="1" i="0">
                <a:solidFill>
                  <a:srgbClr val="1E2761"/>
                </a:solidFill>
                <a:latin typeface="Calibri"/>
              </a:rPr>
              <a:t>Plan (hack hours)</a:t>
            </a:r>
          </a:p>
          <a:p>
            <a:pPr algn="l">
              <a:spcAft>
                <a:spcPts val="600"/>
              </a:spcAft>
            </a:pPr>
            <a:r>
              <a:rPr sz="1100" b="0" i="0">
                <a:solidFill>
                  <a:srgbClr val="222222"/>
                </a:solidFill>
                <a:latin typeface="Calibri"/>
              </a:rPr>
              <a:t>H0–6 data + scaffolding · H6–12 engine + API · H8–16 app + dashboard · H12–18 tests + metrics · H18+ deploy + rehearse</a:t>
            </a:r>
          </a:p>
          <a:p>
            <a:pPr algn="l"/>
            <a:r>
              <a:rPr sz="1100" b="1" i="0">
                <a:solidFill>
                  <a:srgbClr val="1E2761"/>
                </a:solidFill>
                <a:latin typeface="Calibri"/>
              </a:rPr>
              <a:t>Owners: </a:t>
            </a:r>
            <a:r>
              <a:rPr sz="1100" b="0" i="0">
                <a:solidFill>
                  <a:srgbClr val="222222"/>
                </a:solidFill>
                <a:latin typeface="Calibri"/>
              </a:rPr>
              <a:t>Bhavyam API/cloud · Gunagye ML · Abhijay app/SDK · Shefali dashboard/eval</a:t>
            </a:r>
          </a:p>
        </p:txBody>
      </p:sp>
      <p:sp>
        <p:nvSpPr>
          <p:cNvPr id="20" name="Risks body"/>
          <p:cNvSpPr/>
          <p:nvPr/>
        </p:nvSpPr>
        <p:spPr>
          <a:xfrm>
            <a:off x="4288536" y="3035808"/>
            <a:ext cx="3630168" cy="3566160"/>
          </a:xfrm>
          <a:prstGeom prst="roundRect">
            <a:avLst>
              <a:gd name="adj" fmla="val 5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6012" bIns="96012"/>
          <a:lstStyle/>
          <a:p>
            <a:pPr algn="l">
              <a:spcAft>
                <a:spcPts val="900"/>
              </a:spcAft>
            </a:pPr>
            <a:r>
              <a:rPr sz="1200" b="1" i="0">
                <a:solidFill>
                  <a:srgbClr val="C62828"/>
                </a:solidFill>
                <a:latin typeface="Calibri"/>
              </a:rPr>
              <a:t>Data realism.</a:t>
            </a:r>
            <a:r>
              <a:rPr sz="1200" b="0" i="0">
                <a:solidFill>
                  <a:srgbClr val="222222"/>
                </a:solidFill>
                <a:latin typeface="Calibri"/>
              </a:rPr>
              <a:t> Synthetic ≠ real fraud.</a:t>
            </a:r>
            <a:r>
              <a:rPr sz="1100" b="0" i="1">
                <a:solidFill>
                  <a:srgbClr val="5A6275"/>
                </a:solidFill>
                <a:latin typeface="Calibri"/>
              </a:rPr>
              <a:t> → hard negatives, per-type metrics, IEEE-CIS/PaySim check; retrain on bank history in a pilot.</a:t>
            </a:r>
          </a:p>
          <a:p>
            <a:pPr algn="l">
              <a:spcAft>
                <a:spcPts val="900"/>
              </a:spcAft>
            </a:pPr>
            <a:r>
              <a:rPr sz="1200" b="1" i="0">
                <a:solidFill>
                  <a:srgbClr val="C62828"/>
                </a:solidFill>
                <a:latin typeface="Calibri"/>
              </a:rPr>
              <a:t>Signal access.</a:t>
            </a:r>
            <a:r>
              <a:rPr sz="1200" b="0" i="0">
                <a:solidFill>
                  <a:srgbClr val="222222"/>
                </a:solidFill>
                <a:latin typeface="Calibri"/>
              </a:rPr>
              <a:t> Call/screen-share state needs a mobile SDK + app adoption.</a:t>
            </a:r>
            <a:r>
              <a:rPr sz="1100" b="0" i="1">
                <a:solidFill>
                  <a:srgbClr val="5A6275"/>
                </a:solidFill>
                <a:latin typeface="Calibri"/>
              </a:rPr>
              <a:t> → missing = “unknown”, never “safe”; Google is already piloting screen-share alerts in GPay/Paytm.</a:t>
            </a:r>
          </a:p>
          <a:p>
            <a:pPr algn="l">
              <a:spcAft>
                <a:spcPts val="900"/>
              </a:spcAft>
            </a:pPr>
            <a:r>
              <a:rPr sz="1200" b="1" i="0">
                <a:solidFill>
                  <a:srgbClr val="C62828"/>
                </a:solidFill>
                <a:latin typeface="Calibri"/>
              </a:rPr>
              <a:t>False positives.</a:t>
            </a:r>
            <a:r>
              <a:rPr sz="1200" b="0" i="0">
                <a:solidFill>
                  <a:srgbClr val="222222"/>
                </a:solidFill>
                <a:latin typeface="Calibri"/>
              </a:rPr>
              <a:t> Delaying a genuine urgent payment hurts.</a:t>
            </a:r>
            <a:r>
              <a:rPr sz="1100" b="0" i="1">
                <a:solidFill>
                  <a:srgbClr val="5A6275"/>
                </a:solidFill>
                <a:latin typeface="Calibri"/>
              </a:rPr>
              <a:t> → block only at p ≥ 0.9, ≤ 5% challenge budget, cancel/whitelist, feedback loop.</a:t>
            </a:r>
          </a:p>
          <a:p>
            <a:pPr algn="l">
              <a:spcAft>
                <a:spcPts val="900"/>
              </a:spcAft>
            </a:pPr>
            <a:r>
              <a:rPr sz="1200" b="1" i="0">
                <a:solidFill>
                  <a:srgbClr val="C62828"/>
                </a:solidFill>
                <a:latin typeface="Calibri"/>
              </a:rPr>
              <a:t>Privacy &amp; adaptation.</a:t>
            </a:r>
            <a:r>
              <a:rPr sz="1200" b="0" i="0">
                <a:solidFill>
                  <a:srgbClr val="222222"/>
                </a:solidFill>
                <a:latin typeface="Calibri"/>
              </a:rPr>
              <a:t> DPDP consent rules (from 13 Nov 2026); scammers adapt.</a:t>
            </a:r>
            <a:r>
              <a:rPr sz="1100" b="0" i="1">
                <a:solidFill>
                  <a:srgbClr val="5A6275"/>
                </a:solidFill>
                <a:latin typeface="Calibri"/>
              </a:rPr>
              <a:t> → derived features only, hashed IDs; no single signal decides; retraining.</a:t>
            </a:r>
          </a:p>
        </p:txBody>
      </p:sp>
      <p:sp>
        <p:nvSpPr>
          <p:cNvPr id="21" name="Impact lead"/>
          <p:cNvSpPr/>
          <p:nvPr/>
        </p:nvSpPr>
        <p:spPr>
          <a:xfrm>
            <a:off x="8119872" y="3035808"/>
            <a:ext cx="3630168" cy="713232"/>
          </a:xfrm>
          <a:prstGeom prst="roundRect">
            <a:avLst>
              <a:gd name="adj" fmla="val 8000"/>
            </a:avLst>
          </a:prstGeom>
          <a:solidFill>
            <a:srgbClr val="EE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6012" bIns="96012"/>
          <a:lstStyle/>
          <a:p>
            <a:pPr algn="l"/>
            <a:r>
              <a:rPr sz="1150" b="1" i="0">
                <a:solidFill>
                  <a:srgbClr val="1E2761"/>
                </a:solidFill>
                <a:latin typeface="Calibri"/>
              </a:rPr>
              <a:t>For banks &amp; UPI apps: </a:t>
            </a:r>
            <a:r>
              <a:rPr sz="1150" b="0" i="0">
                <a:solidFill>
                  <a:srgbClr val="222222"/>
                </a:solidFill>
                <a:latin typeface="Calibri"/>
              </a:rPr>
              <a:t>stop the scams OTP can't, without slowing down honest users.</a:t>
            </a:r>
          </a:p>
        </p:txBody>
      </p:sp>
      <p:sp>
        <p:nvSpPr>
          <p:cNvPr id="22" name="Metric 1"/>
          <p:cNvSpPr/>
          <p:nvPr/>
        </p:nvSpPr>
        <p:spPr>
          <a:xfrm>
            <a:off x="8119872" y="3840480"/>
            <a:ext cx="3630168" cy="731520"/>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0" rIns="109728" tIns="76809" bIns="76809"/>
          <a:lstStyle/>
          <a:p>
            <a:pPr algn="l"/>
            <a:r>
              <a:rPr sz="1050" b="0" i="0">
                <a:solidFill>
                  <a:srgbClr val="222222"/>
                </a:solidFill>
                <a:latin typeface="Calibri"/>
              </a:rPr>
              <a:t>of scam-type fraud caught while ≤ 5% of legit payments are challenged (OTP-only: ~0%)</a:t>
            </a:r>
          </a:p>
        </p:txBody>
      </p:sp>
      <p:sp>
        <p:nvSpPr>
          <p:cNvPr id="23" name="Metric 1 value"/>
          <p:cNvSpPr txBox="1"/>
          <p:nvPr/>
        </p:nvSpPr>
        <p:spPr>
          <a:xfrm>
            <a:off x="8211312" y="3840480"/>
            <a:ext cx="1097280" cy="731520"/>
          </a:xfrm>
          <a:prstGeom prst="rect">
            <a:avLst/>
          </a:prstGeom>
          <a:noFill/>
        </p:spPr>
        <p:txBody>
          <a:bodyPr wrap="square" lIns="0" rIns="0" tIns="0" bIns="0" anchor="ctr">
            <a:spAutoFit/>
          </a:bodyPr>
          <a:lstStyle/>
          <a:p>
            <a:pPr algn="ctr"/>
            <a:r>
              <a:rPr sz="2000" b="1" i="0">
                <a:solidFill>
                  <a:srgbClr val="2E7D32"/>
                </a:solidFill>
                <a:latin typeface="Cambria"/>
              </a:rPr>
              <a:t>≥ 80%</a:t>
            </a:r>
          </a:p>
        </p:txBody>
      </p:sp>
      <p:sp>
        <p:nvSpPr>
          <p:cNvPr id="24" name="Metric 2"/>
          <p:cNvSpPr/>
          <p:nvPr/>
        </p:nvSpPr>
        <p:spPr>
          <a:xfrm>
            <a:off x="8119872" y="4645152"/>
            <a:ext cx="3630168" cy="731520"/>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0" rIns="109728" tIns="76809" bIns="76809"/>
          <a:lstStyle/>
          <a:p>
            <a:pPr algn="l"/>
            <a:r>
              <a:rPr sz="1050" b="0" i="0">
                <a:solidFill>
                  <a:srgbClr val="222222"/>
                </a:solidFill>
                <a:latin typeface="Calibri"/>
              </a:rPr>
              <a:t>of legit ₹10k+ transfers pass with no delay (a blanket 1-hour rule delays 100%)</a:t>
            </a:r>
          </a:p>
        </p:txBody>
      </p:sp>
      <p:sp>
        <p:nvSpPr>
          <p:cNvPr id="25" name="Metric 2 value"/>
          <p:cNvSpPr txBox="1"/>
          <p:nvPr/>
        </p:nvSpPr>
        <p:spPr>
          <a:xfrm>
            <a:off x="8211312" y="4645152"/>
            <a:ext cx="1097280" cy="731520"/>
          </a:xfrm>
          <a:prstGeom prst="rect">
            <a:avLst/>
          </a:prstGeom>
          <a:noFill/>
        </p:spPr>
        <p:txBody>
          <a:bodyPr wrap="square" lIns="0" rIns="0" tIns="0" bIns="0" anchor="ctr">
            <a:spAutoFit/>
          </a:bodyPr>
          <a:lstStyle/>
          <a:p>
            <a:pPr algn="ctr"/>
            <a:r>
              <a:rPr sz="2000" b="1" i="0">
                <a:solidFill>
                  <a:srgbClr val="2E7D32"/>
                </a:solidFill>
                <a:latin typeface="Cambria"/>
              </a:rPr>
              <a:t>≥ 90%</a:t>
            </a:r>
          </a:p>
        </p:txBody>
      </p:sp>
      <p:sp>
        <p:nvSpPr>
          <p:cNvPr id="26" name="Metric 3"/>
          <p:cNvSpPr/>
          <p:nvPr/>
        </p:nvSpPr>
        <p:spPr>
          <a:xfrm>
            <a:off x="8119872" y="5449824"/>
            <a:ext cx="3630168" cy="731520"/>
          </a:xfrm>
          <a:prstGeom prst="roundRect">
            <a:avLst>
              <a:gd name="adj" fmla="val 10000"/>
            </a:avLst>
          </a:prstGeom>
          <a:solidFill>
            <a:srgbClr val="FFFFFF"/>
          </a:solidFill>
          <a:ln w="1270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0" rIns="109728" tIns="76809" bIns="76809"/>
          <a:lstStyle/>
          <a:p>
            <a:pPr algn="l"/>
            <a:r>
              <a:rPr sz="1050" b="0" i="0">
                <a:solidFill>
                  <a:srgbClr val="222222"/>
                </a:solidFill>
                <a:latin typeface="Calibri"/>
              </a:rPr>
              <a:t>p95 decision latency, well inside UPI's 15 s window</a:t>
            </a:r>
          </a:p>
        </p:txBody>
      </p:sp>
      <p:sp>
        <p:nvSpPr>
          <p:cNvPr id="27" name="Metric 3 value"/>
          <p:cNvSpPr txBox="1"/>
          <p:nvPr/>
        </p:nvSpPr>
        <p:spPr>
          <a:xfrm>
            <a:off x="8211312" y="5449824"/>
            <a:ext cx="1097280" cy="731520"/>
          </a:xfrm>
          <a:prstGeom prst="rect">
            <a:avLst/>
          </a:prstGeom>
          <a:noFill/>
        </p:spPr>
        <p:txBody>
          <a:bodyPr wrap="square" lIns="0" rIns="0" tIns="0" bIns="0" anchor="ctr">
            <a:spAutoFit/>
          </a:bodyPr>
          <a:lstStyle/>
          <a:p>
            <a:pPr algn="ctr"/>
            <a:r>
              <a:rPr sz="2000" b="1" i="0">
                <a:solidFill>
                  <a:srgbClr val="2E7D32"/>
                </a:solidFill>
                <a:latin typeface="Cambria"/>
              </a:rPr>
              <a:t>&lt; 50 ms</a:t>
            </a:r>
          </a:p>
        </p:txBody>
      </p:sp>
      <p:sp>
        <p:nvSpPr>
          <p:cNvPr id="28" name="Metric note"/>
          <p:cNvSpPr txBox="1"/>
          <p:nvPr/>
        </p:nvSpPr>
        <p:spPr>
          <a:xfrm>
            <a:off x="8119872" y="6263640"/>
            <a:ext cx="3630168" cy="320040"/>
          </a:xfrm>
          <a:prstGeom prst="rect">
            <a:avLst/>
          </a:prstGeom>
          <a:noFill/>
        </p:spPr>
        <p:txBody>
          <a:bodyPr wrap="square" lIns="0" rIns="0" tIns="0" bIns="0" anchor="t">
            <a:spAutoFit/>
          </a:bodyPr>
          <a:lstStyle/>
          <a:p>
            <a:pPr algn="l"/>
            <a:r>
              <a:rPr sz="1000" b="0" i="1">
                <a:solidFill>
                  <a:srgbClr val="5A6275"/>
                </a:solidFill>
                <a:latin typeface="Calibri"/>
              </a:rPr>
              <a:t>Targets, measured live on the dashboard against held-out synthetic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