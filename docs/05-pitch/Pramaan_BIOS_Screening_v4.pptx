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1.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Lst>
  <p:sldSz cy="6858000" cx="12192000"/>
  <p:notesSz cx="6858000" cy="12192000"/>
  <p:defaultTextStyle>
    <a:defPPr lvl="0"/>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1E2761"/>
                </a:solidFill>
                <a:latin typeface="Calibri"/>
              </a:rPr>
              <a:t>Decision rule: stricter as the amount grows</a:t>
            </a:r>
          </a:p>
        </c:rich>
      </c:tx>
      <c:layout/>
      <c:overlay val="0"/>
    </c:title>
    <c:autoTitleDeleted val="0"/>
    <c:plotArea>
      <c:lineChart>
        <c:grouping val="standard"/>
        <c:varyColors val="0"/>
        <c:ser>
          <c:idx val="0"/>
          <c:order val="0"/>
          <c:tx>
            <c:strRef>
              <c:f>Sheet1!$B$1</c:f>
              <c:strCache>
                <c:ptCount val="1"/>
                <c:pt idx="0">
                  <c:v>challenge threshold</c:v>
                </c:pt>
              </c:strCache>
            </c:strRef>
          </c:tx>
          <c:spPr>
            <a:ln w="28575">
              <a:solidFill>
                <a:srgbClr val="B25E00"/>
              </a:solidFill>
            </a:ln>
          </c:spPr>
          <c:marker>
            <c:size val="5"/>
            <c:spPr>
              <a:solidFill>
                <a:srgbClr val="B25E00"/>
              </a:solidFill>
              <a:ln>
                <a:noFill/>
              </a:ln>
            </c:spPr>
          </c:marker>
          <c:cat>
            <c:strRef>
              <c:f>Sheet1!$A$2:$A$8</c:f>
              <c:strCache>
                <c:ptCount val="7"/>
                <c:pt idx="0">
                  <c:v>₹500</c:v>
                </c:pt>
                <c:pt idx="1">
                  <c:v>₹1k</c:v>
                </c:pt>
                <c:pt idx="2">
                  <c:v>₹2k</c:v>
                </c:pt>
                <c:pt idx="3">
                  <c:v>₹5k</c:v>
                </c:pt>
                <c:pt idx="4">
                  <c:v>₹10k</c:v>
                </c:pt>
                <c:pt idx="5">
                  <c:v>₹50k</c:v>
                </c:pt>
                <c:pt idx="6">
                  <c:v>₹85k</c:v>
                </c:pt>
              </c:strCache>
            </c:strRef>
          </c:cat>
          <c:val>
            <c:numRef>
              <c:f>Sheet1!$B$2:$B$8</c:f>
              <c:numCache>
                <c:formatCode>General</c:formatCode>
                <c:ptCount val="7"/>
                <c:pt idx="0">
                  <c:v>0.6</c:v>
                </c:pt>
                <c:pt idx="1">
                  <c:v>0.5</c:v>
                </c:pt>
                <c:pt idx="2">
                  <c:v>0.25</c:v>
                </c:pt>
                <c:pt idx="3">
                  <c:v>0.1</c:v>
                </c:pt>
                <c:pt idx="4">
                  <c:v>0.05</c:v>
                </c:pt>
                <c:pt idx="5">
                  <c:v>0.05</c:v>
                </c:pt>
                <c:pt idx="6">
                  <c:v>0.05</c:v>
                </c:pt>
              </c:numCache>
            </c:numRef>
          </c:val>
          <c:smooth val="0"/>
        </c:ser>
        <c:ser>
          <c:idx val="1"/>
          <c:order val="1"/>
          <c:tx>
            <c:strRef>
              <c:f>Sheet1!$C$1</c:f>
              <c:strCache>
                <c:ptCount val="1"/>
                <c:pt idx="0">
                  <c:v>block threshold</c:v>
                </c:pt>
              </c:strCache>
            </c:strRef>
          </c:tx>
          <c:spPr>
            <a:ln w="28575">
              <a:solidFill>
                <a:srgbClr val="C62828"/>
              </a:solidFill>
            </a:ln>
          </c:spPr>
          <c:marker>
            <c:size val="5"/>
            <c:spPr>
              <a:solidFill>
                <a:srgbClr val="C62828"/>
              </a:solidFill>
              <a:ln>
                <a:noFill/>
              </a:ln>
            </c:spPr>
          </c:marker>
          <c:cat>
            <c:strRef>
              <c:f>Sheet1!$A$2:$A$8</c:f>
              <c:strCache>
                <c:ptCount val="7"/>
                <c:pt idx="0">
                  <c:v>₹500</c:v>
                </c:pt>
                <c:pt idx="1">
                  <c:v>₹1k</c:v>
                </c:pt>
                <c:pt idx="2">
                  <c:v>₹2k</c:v>
                </c:pt>
                <c:pt idx="3">
                  <c:v>₹5k</c:v>
                </c:pt>
                <c:pt idx="4">
                  <c:v>₹10k</c:v>
                </c:pt>
                <c:pt idx="5">
                  <c:v>₹50k</c:v>
                </c:pt>
                <c:pt idx="6">
                  <c:v>₹85k</c:v>
                </c:pt>
              </c:strCache>
            </c:strRef>
          </c:cat>
          <c:val>
            <c:numRef>
              <c:f>Sheet1!$C$2:$C$8</c:f>
              <c:numCache>
                <c:formatCode>General</c:formatCode>
                <c:ptCount val="7"/>
                <c:pt idx="0">
                  <c:v>0.9</c:v>
                </c:pt>
                <c:pt idx="1">
                  <c:v>0.9</c:v>
                </c:pt>
                <c:pt idx="2">
                  <c:v>0.9</c:v>
                </c:pt>
                <c:pt idx="3">
                  <c:v>0.9</c:v>
                </c:pt>
                <c:pt idx="4">
                  <c:v>0.9</c:v>
                </c:pt>
                <c:pt idx="5">
                  <c:v>0.9</c:v>
                </c:pt>
                <c:pt idx="6">
                  <c:v>0.9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9CEDB"/>
            </a:solidFill>
          </a:ln>
        </c:spPr>
        <c:txPr>
          <a:bodyPr/>
          <a:lstStyle/>
          <a:p>
            <a:pPr>
              <a:defRPr sz="900">
                <a:solidFill>
                  <a:srgbClr val="5A6275"/>
                </a:solidFill>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E3E6EF"/>
              </a:solidFill>
            </a:ln>
          </c:spPr>
        </c:majorGridlines>
        <c:majorTickMark val="out"/>
        <c:minorTickMark val="none"/>
        <c:tickLblPos val="nextTo"/>
        <c:spPr>
          <a:ln>
            <a:noFill/>
          </a:ln>
        </c:spPr>
        <c:txPr>
          <a:bodyPr/>
          <a:lstStyle/>
          <a:p>
            <a:pPr>
              <a:defRPr sz="900">
                <a:solidFill>
                  <a:srgbClr val="5A6275"/>
                </a:solidFill>
              </a:defRPr>
            </a:pPr>
          </a:p>
        </c:txPr>
        <c:crossAx val="2118791784"/>
        <c:crosses val="autoZero"/>
        <c:majorUnit val="0.5"/>
      </c:valAx>
    </c:plotArea>
    <c:legend>
      <c:legendPos val="b"/>
      <c:layout/>
      <c:overlay val="0"/>
      <c:txPr>
        <a:bodyPr/>
        <a:lstStyle/>
        <a:p>
          <a:pPr>
            <a:defRPr sz="900">
              <a:solidFill>
                <a:srgbClr val="5A6275"/>
              </a:solidFill>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04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We're team Caffeinated Nerds, on the Frontier challenge: Fast and Secure Online Transaction Authentication. Meet Asha. She's 72. A fake CBI officer calls and pressures her to pay. She opens UPI on her own phone, enters her own PIN, and the payment is approved. A PIN checks who you are. Nobody checks what's happening. Today every online payment in India gets the same check, a PIN or an OTP. That proves who holds the credential, but not whether this payment makes sense right now. And fraud has moved. In April 2026 the RBI said account-takeover fraud is now negligible. Most fraud is authorised push payment: the real user, on their own phone, types their own OTP while a scammer coaches them. Indians lost about 22,500 crore rupees to cyber fraud in 2025, and around 85 percent of that came from investment and digital-arrest scams. Our stakeholders are banks, UPI apps and payment gateways, who must decide in milliseconds, on behalf of everyday users, especially seniors. The obvious fix, delaying every big transfer, punishes every honest user, so we want precision instead. Primary SDG 16.4, supported by 8.10 and 9.1.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families of solutions exist today. First, static two-factor auth: PIN, OTP, 3-D Secure. It's mandatory and it's the floor, but it checks the credential, not the context. A coached victim simply types it in. Second, commercial risk engines like Stripe Radar, Sift and BioCatch. They're powerful, but proprietary and expensive, the output is a score for an analyst, and the challenge is a generic OTP regardless of what kind of risk it is. Third, India's ecosystem tools: NPCI's fraud monitoring, DoT's Fraud Risk Indicator, RBI's MuleHunter. They're great reputation lists, but they work after the fact: a number has to be reported first, and they score the receiver, not this session. So the gap is a lightweight real-time service that fuses all three signal families into an explained decision and picks the right kind of challenge.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solution is Pramaan, which means proof. It's a cloud risk API that a bank or UPI app calls just before the PIN or OTP step. It scores more than 20 signals against the user's own history and returns allow, challenge or block in milliseconds, with reasons in plain language. Two things make it different. First, thresholds depend on the amount: a 40-rupee tea is never stopped, an 85,000-rupee first-time transfer is checked closely. Second, the challenge depends on the kind of risk. Look at the same 85,000-rupee payment in four situations. Usual payee, own phone: allowed. New phone and a SIM swap yesterday: that's an impostor, so we ask for the owner's fingerprint. Own phone at home, but on a call and pasting a new UPI ID: that's a coached victim. An OTP won't help, so we pause it for 30 minutes with a scam warning, and her son Rohan gets an Approve or Cancel message on Telegram. He taps Cancel and the money is safe. An emulator firing 15 attempts in 10 minutes: blocked. Every decision comes with a clear reason in the analyst console, and analyst feedback keeps the model learning.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how it works. One: the payment app, with our small SDK, sends the transaction, device info and session behaviour, like typing rhythm, time on the confirm screen, a pasted payee, and on mobile whether a call or screen-share is active. Two: our FastAPI service, on Render's free tier, validates it and starts a timer. Three: we build 20-plus features against this user's own history from an in-memory profile store. Four, the risk engine: hard rules first, then a LightGBM model gives a fraud probability, TreeSHAP tells us each signal's contribution, the strongest family tells us the risk type, and a cost policy picks the decision. The thresholds tighten as the amount grows, and the challenge type is whichever costs least for that risk type. Five: allow, challenge or block, plus reasons and latency. If we ever take longer than 150 milliseconds we fall back to standard 2FA, so we never fail open. For a likely scam, the hold goes to an n8n workflow that messages a family member on Telegram to approve or cancel; for a likely impostor, a passkey fingerprint check. Everything is free and open, so running cost is zero. Our training data is synthetic, and we say so: no public dataset has these signals together.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we'll actually build in the hack: a live authenticate API on a free host, the full risk engine, all four response levels working, including a real passkey fingerprint check and an n8n plus Telegram loop where a family member can cancel a held payment, a dashboard, and a replay simulator comparing us with RBI's blanket delay. All on free tools, zero running cost. We're honest about the risks. Our data is synthetic, so we add hard negatives, report metrics per attack type and sanity-check on public datasets. Call and screen-share state needs a mobile SDK, so missing signals count as unknown, never safe. False positives hurt real people, so we only block at very high confidence and keep challenges under five percent. And there's privacy: we store derived features only, under the DPDP Act. Success means catching at least 80 percent of scam-type fraud while challenging at most 5 percent of honest payments, letting 90 percent of honest big transfers through with no delay, and deciding in under 50 milliseconds.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75646F-75AE-287F-BF55-16CDE5860235}"/>
              </a:ext>
            </a:extLst>
          </p:cNvPr>
          <p:cNvPicPr>
            <a:picLocks noChangeAspect="1"/>
          </p:cNvPicPr>
          <p:nvPr userDrawn="1"/>
        </p:nvPicPr>
        <p:blipFill>
          <a:blip r:embed="rId2"/>
          <a:stretch>
            <a:fillRect/>
          </a:stretch>
        </p:blipFill>
        <p:spPr>
          <a:xfrm>
            <a:off x="392844" y="413302"/>
            <a:ext cx="2446230" cy="93046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6.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9.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image" Target="../media/image5.png"/><Relationship Id="rId13" Type="http://schemas.openxmlformats.org/officeDocument/2006/relationships/image" Target="../media/image23.png"/><Relationship Id="rId14" Type="http://schemas.openxmlformats.org/officeDocument/2006/relationships/image" Target="../media/image24.png"/><Relationship Id="rId15" Type="http://schemas.openxmlformats.org/officeDocument/2006/relationships/image" Target="../media/image25.png"/><Relationship Id="rId16" Type="http://schemas.openxmlformats.org/officeDocument/2006/relationships/image" Target="../media/image26.png"/><Relationship Id="rId17" Type="http://schemas.openxmlformats.org/officeDocument/2006/relationships/image" Target="../media/image27.png"/><Relationship Id="rId18" Type="http://schemas.openxmlformats.org/officeDocument/2006/relationships/image" Target="../media/image28.png"/><Relationship Id="rId19" Type="http://schemas.openxmlformats.org/officeDocument/2006/relationships/image" Target="../media/image29.png"/><Relationship Id="rId20" Type="http://schemas.openxmlformats.org/officeDocument/2006/relationships/image" Target="../media/image30.png"/><Relationship Id="rId21" Type="http://schemas.openxmlformats.org/officeDocument/2006/relationships/image" Target="../media/image31.png"/><Relationship Id="rId22" Type="http://schemas.openxmlformats.org/officeDocument/2006/relationships/image" Target="../media/image32.png"/><Relationship Id="rId23" Type="http://schemas.openxmlformats.org/officeDocument/2006/relationships/image" Target="../media/image33.png"/><Relationship Id="rId24" Type="http://schemas.openxmlformats.org/officeDocument/2006/relationships/image" Target="../media/image3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41.png"/><Relationship Id="rId11" Type="http://schemas.openxmlformats.org/officeDocument/2006/relationships/image" Target="../media/image42.png"/><Relationship Id="rId12" Type="http://schemas.openxmlformats.org/officeDocument/2006/relationships/image" Target="../media/image43.png"/><Relationship Id="rId13" Type="http://schemas.openxmlformats.org/officeDocument/2006/relationships/image" Target="../media/image44.png"/><Relationship Id="rId14" Type="http://schemas.openxmlformats.org/officeDocument/2006/relationships/image" Target="../media/image45.png"/><Relationship Id="rId15" Type="http://schemas.openxmlformats.org/officeDocument/2006/relationships/image" Target="../media/image46.png"/><Relationship Id="rId16" Type="http://schemas.openxmlformats.org/officeDocument/2006/relationships/image" Target="../media/image47.png"/><Relationship Id="rId17" Type="http://schemas.openxmlformats.org/officeDocument/2006/relationships/image" Target="../media/image48.png"/><Relationship Id="rId18" Type="http://schemas.openxmlformats.org/officeDocument/2006/relationships/image" Target="../media/image49.png"/><Relationship Id="rId19" Type="http://schemas.openxmlformats.org/officeDocument/2006/relationships/image" Target="../media/image50.png"/><Relationship Id="rId20" Type="http://schemas.openxmlformats.org/officeDocument/2006/relationships/image" Target="../media/image51.png"/><Relationship Id="rId21"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image" Target="../media/image58.png"/><Relationship Id="rId10" Type="http://schemas.openxmlformats.org/officeDocument/2006/relationships/image" Target="../media/image59.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1 OF 5</a:t>
            </a:r>
            <a:endParaRPr lang="en-US" sz="1200" dirty="0"/>
          </a:p>
        </p:txBody>
      </p:sp>
      <p:sp>
        <p:nvSpPr>
          <p:cNvPr id="4" name="Text 2"/>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Problem, Stakeholder &amp; SDGs</a:t>
            </a:r>
            <a:endParaRPr lang="en-US" sz="2800" dirty="0"/>
          </a:p>
        </p:txBody>
      </p:sp>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Fraud has moved past OTPs: victims now approve the payment themselves</a:t>
            </a:r>
            <a:endParaRPr lang="en-US" sz="2000" dirty="0"/>
          </a:p>
        </p:txBody>
      </p:sp>
      <p:sp>
        <p:nvSpPr>
          <p:cNvPr id="7" name="Team strip"/>
          <p:cNvSpPr/>
          <p:nvPr/>
        </p:nvSpPr>
        <p:spPr>
          <a:xfrm>
            <a:off x="3794760" y="603504"/>
            <a:ext cx="7955279" cy="822960"/>
          </a:xfrm>
          <a:prstGeom prst="roundRect">
            <a:avLst>
              <a:gd name="adj" fmla="val 12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l"/>
            <a:r>
              <a:rPr sz="1150" b="1" i="0">
                <a:solidFill>
                  <a:srgbClr val="1E2761"/>
                </a:solidFill>
                <a:latin typeface="Calibri"/>
              </a:rPr>
              <a:t>Team Caffeinated Nerds</a:t>
            </a:r>
            <a:r>
              <a:rPr sz="1100" b="0" i="0">
                <a:solidFill>
                  <a:srgbClr val="1E2761"/>
                </a:solidFill>
                <a:latin typeface="Calibri"/>
              </a:rPr>
              <a:t>   ·   Challenge: </a:t>
            </a:r>
            <a:r>
              <a:rPr sz="1100" b="1" i="0">
                <a:solidFill>
                  <a:srgbClr val="1E2761"/>
                </a:solidFill>
                <a:latin typeface="Calibri"/>
              </a:rPr>
              <a:t>Frontier · PS-04</a:t>
            </a:r>
            <a:r>
              <a:rPr sz="1100" b="0" i="0">
                <a:solidFill>
                  <a:srgbClr val="1E2761"/>
                </a:solidFill>
                <a:latin typeface="Calibri"/>
              </a:rPr>
              <a:t> · Fast and Secure Online Transaction Authentication</a:t>
            </a:r>
          </a:p>
        </p:txBody>
      </p:sp>
      <p:sp>
        <p:nvSpPr>
          <p:cNvPr id="8" name="Member 1"/>
          <p:cNvSpPr txBox="1"/>
          <p:nvPr/>
        </p:nvSpPr>
        <p:spPr>
          <a:xfrm>
            <a:off x="3904487" y="923544"/>
            <a:ext cx="1874519" cy="411480"/>
          </a:xfrm>
          <a:prstGeom prst="rect">
            <a:avLst/>
          </a:prstGeom>
          <a:noFill/>
        </p:spPr>
        <p:txBody>
          <a:bodyPr wrap="square" lIns="0" rIns="0" tIns="0" bIns="0" anchor="t">
            <a:spAutoFit/>
          </a:bodyPr>
          <a:lstStyle/>
          <a:p>
            <a:pPr algn="l"/>
            <a:r>
              <a:rPr sz="1050" b="1" i="0">
                <a:solidFill>
                  <a:srgbClr val="222222"/>
                </a:solidFill>
                <a:latin typeface="Calibri"/>
              </a:rPr>
              <a:t>Bhavyam Misra</a:t>
            </a:r>
          </a:p>
          <a:p>
            <a:pPr algn="l"/>
            <a:r>
              <a:rPr sz="1000" b="0" i="0">
                <a:solidFill>
                  <a:srgbClr val="5A6275"/>
                </a:solidFill>
                <a:latin typeface="Calibri"/>
              </a:rPr>
              <a:t>Roll No: 1024030535</a:t>
            </a:r>
          </a:p>
        </p:txBody>
      </p:sp>
      <p:sp>
        <p:nvSpPr>
          <p:cNvPr id="9" name="Member 2"/>
          <p:cNvSpPr txBox="1"/>
          <p:nvPr/>
        </p:nvSpPr>
        <p:spPr>
          <a:xfrm>
            <a:off x="5852159" y="923544"/>
            <a:ext cx="1874519" cy="411480"/>
          </a:xfrm>
          <a:prstGeom prst="rect">
            <a:avLst/>
          </a:prstGeom>
          <a:noFill/>
        </p:spPr>
        <p:txBody>
          <a:bodyPr wrap="square" lIns="0" rIns="0" tIns="0" bIns="0" anchor="t">
            <a:spAutoFit/>
          </a:bodyPr>
          <a:lstStyle/>
          <a:p>
            <a:pPr algn="l"/>
            <a:r>
              <a:rPr sz="1050" b="1" i="0">
                <a:solidFill>
                  <a:srgbClr val="222222"/>
                </a:solidFill>
                <a:latin typeface="Calibri"/>
              </a:rPr>
              <a:t>Gunagye Jain</a:t>
            </a:r>
          </a:p>
          <a:p>
            <a:pPr algn="l"/>
            <a:r>
              <a:rPr sz="1000" b="0" i="0">
                <a:solidFill>
                  <a:srgbClr val="5A6275"/>
                </a:solidFill>
                <a:latin typeface="Calibri"/>
              </a:rPr>
              <a:t>Roll No: 1024030019</a:t>
            </a:r>
          </a:p>
        </p:txBody>
      </p:sp>
      <p:sp>
        <p:nvSpPr>
          <p:cNvPr id="10" name="Member 3"/>
          <p:cNvSpPr txBox="1"/>
          <p:nvPr/>
        </p:nvSpPr>
        <p:spPr>
          <a:xfrm>
            <a:off x="7799831" y="923544"/>
            <a:ext cx="1874519" cy="411480"/>
          </a:xfrm>
          <a:prstGeom prst="rect">
            <a:avLst/>
          </a:prstGeom>
          <a:noFill/>
        </p:spPr>
        <p:txBody>
          <a:bodyPr wrap="square" lIns="0" rIns="0" tIns="0" bIns="0" anchor="t">
            <a:spAutoFit/>
          </a:bodyPr>
          <a:lstStyle/>
          <a:p>
            <a:pPr algn="l"/>
            <a:r>
              <a:rPr sz="1050" b="1" i="0">
                <a:solidFill>
                  <a:srgbClr val="222222"/>
                </a:solidFill>
                <a:latin typeface="Calibri"/>
              </a:rPr>
              <a:t>Abhijay Nagal</a:t>
            </a:r>
          </a:p>
          <a:p>
            <a:pPr algn="l"/>
            <a:r>
              <a:rPr sz="1000" b="0" i="0">
                <a:solidFill>
                  <a:srgbClr val="5A6275"/>
                </a:solidFill>
                <a:latin typeface="Calibri"/>
              </a:rPr>
              <a:t>Roll No: 1024170013</a:t>
            </a:r>
          </a:p>
        </p:txBody>
      </p:sp>
      <p:sp>
        <p:nvSpPr>
          <p:cNvPr id="11" name="Member 4"/>
          <p:cNvSpPr txBox="1"/>
          <p:nvPr/>
        </p:nvSpPr>
        <p:spPr>
          <a:xfrm>
            <a:off x="9747504" y="923544"/>
            <a:ext cx="1874519" cy="411480"/>
          </a:xfrm>
          <a:prstGeom prst="rect">
            <a:avLst/>
          </a:prstGeom>
          <a:noFill/>
        </p:spPr>
        <p:txBody>
          <a:bodyPr wrap="square" lIns="0" rIns="0" tIns="0" bIns="0" anchor="t">
            <a:spAutoFit/>
          </a:bodyPr>
          <a:lstStyle/>
          <a:p>
            <a:pPr algn="l"/>
            <a:r>
              <a:rPr sz="1050" b="1" i="0">
                <a:solidFill>
                  <a:srgbClr val="222222"/>
                </a:solidFill>
                <a:latin typeface="Calibri"/>
              </a:rPr>
              <a:t>Shefali Sharma</a:t>
            </a:r>
          </a:p>
          <a:p>
            <a:pPr algn="l"/>
            <a:r>
              <a:rPr sz="1000" b="0" i="0">
                <a:solidFill>
                  <a:srgbClr val="5A6275"/>
                </a:solidFill>
                <a:latin typeface="Calibri"/>
              </a:rPr>
              <a:t>Roll No: 1024030284</a:t>
            </a:r>
          </a:p>
        </p:txBody>
      </p:sp>
      <p:sp>
        <p:nvSpPr>
          <p:cNvPr id="12" name="Story label"/>
          <p:cNvSpPr txBox="1"/>
          <p:nvPr/>
        </p:nvSpPr>
        <p:spPr>
          <a:xfrm>
            <a:off x="457200" y="2560320"/>
            <a:ext cx="6172200" cy="274320"/>
          </a:xfrm>
          <a:prstGeom prst="rect">
            <a:avLst/>
          </a:prstGeom>
          <a:noFill/>
        </p:spPr>
        <p:txBody>
          <a:bodyPr wrap="square" lIns="0" rIns="0" tIns="0" bIns="0" anchor="t">
            <a:spAutoFit/>
          </a:bodyPr>
          <a:lstStyle/>
          <a:p>
            <a:pPr algn="l"/>
            <a:r>
              <a:rPr sz="1100" b="1" i="0">
                <a:solidFill>
                  <a:srgbClr val="1E2761"/>
                </a:solidFill>
                <a:latin typeface="Calibri"/>
              </a:rPr>
              <a:t>THE PROBLEM: ASHA, 72, PAYS A SCAMMER WITH HER OWN PIN</a:t>
            </a:r>
          </a:p>
        </p:txBody>
      </p:sp>
      <p:sp>
        <p:nvSpPr>
          <p:cNvPr id="13" name="Step 1"/>
          <p:cNvSpPr/>
          <p:nvPr/>
        </p:nvSpPr>
        <p:spPr>
          <a:xfrm>
            <a:off x="457200" y="2852928"/>
            <a:ext cx="1371600" cy="1234440"/>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14" name="Badge phonecall"/>
          <p:cNvSpPr/>
          <p:nvPr/>
        </p:nvSpPr>
        <p:spPr>
          <a:xfrm>
            <a:off x="868680" y="2944368"/>
            <a:ext cx="548640" cy="548640"/>
          </a:xfrm>
          <a:prstGeom prst="ellipse">
            <a:avLst/>
          </a:prstGeom>
          <a:solidFill>
            <a:srgbClr val="B2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phonecall_FFFFFF.png"/>
          <p:cNvPicPr>
            <a:picLocks noChangeAspect="1"/>
          </p:cNvPicPr>
          <p:nvPr/>
        </p:nvPicPr>
        <p:blipFill>
          <a:blip r:embed="rId3"/>
          <a:stretch>
            <a:fillRect/>
          </a:stretch>
        </p:blipFill>
        <p:spPr>
          <a:xfrm>
            <a:off x="989380" y="3065068"/>
            <a:ext cx="307238" cy="307238"/>
          </a:xfrm>
          <a:prstGeom prst="rect">
            <a:avLst/>
          </a:prstGeom>
        </p:spPr>
      </p:pic>
      <p:sp>
        <p:nvSpPr>
          <p:cNvPr id="16" name="Step 1 text"/>
          <p:cNvSpPr txBox="1"/>
          <p:nvPr/>
        </p:nvSpPr>
        <p:spPr>
          <a:xfrm>
            <a:off x="530352" y="3529584"/>
            <a:ext cx="1225296" cy="502920"/>
          </a:xfrm>
          <a:prstGeom prst="rect">
            <a:avLst/>
          </a:prstGeom>
          <a:noFill/>
        </p:spPr>
        <p:txBody>
          <a:bodyPr wrap="square" lIns="0" rIns="0" tIns="0" bIns="0" anchor="t">
            <a:spAutoFit/>
          </a:bodyPr>
          <a:lstStyle/>
          <a:p>
            <a:pPr algn="ctr"/>
            <a:r>
              <a:rPr sz="1150" b="1" i="0">
                <a:solidFill>
                  <a:srgbClr val="222222"/>
                </a:solidFill>
                <a:latin typeface="Calibri"/>
              </a:rPr>
              <a:t>Fake “CBI” officer calls</a:t>
            </a:r>
          </a:p>
        </p:txBody>
      </p:sp>
      <p:cxnSp>
        <p:nvCxnSpPr>
          <p:cNvPr id="17" name="Step arrow 1"/>
          <p:cNvCxnSpPr/>
          <p:nvPr/>
        </p:nvCxnSpPr>
        <p:spPr>
          <a:xfrm>
            <a:off x="1847088" y="3474720"/>
            <a:ext cx="192024"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Step 2"/>
          <p:cNvSpPr/>
          <p:nvPr/>
        </p:nvSpPr>
        <p:spPr>
          <a:xfrm>
            <a:off x="2057400" y="2852928"/>
            <a:ext cx="1371600" cy="1234440"/>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19" name="Badge phone"/>
          <p:cNvSpPr/>
          <p:nvPr/>
        </p:nvSpPr>
        <p:spPr>
          <a:xfrm>
            <a:off x="2468880" y="2944368"/>
            <a:ext cx="548640" cy="5486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phone_FFFFFF.png"/>
          <p:cNvPicPr>
            <a:picLocks noChangeAspect="1"/>
          </p:cNvPicPr>
          <p:nvPr/>
        </p:nvPicPr>
        <p:blipFill>
          <a:blip r:embed="rId4"/>
          <a:stretch>
            <a:fillRect/>
          </a:stretch>
        </p:blipFill>
        <p:spPr>
          <a:xfrm>
            <a:off x="2589580" y="3065068"/>
            <a:ext cx="307238" cy="307238"/>
          </a:xfrm>
          <a:prstGeom prst="rect">
            <a:avLst/>
          </a:prstGeom>
        </p:spPr>
      </p:pic>
      <p:sp>
        <p:nvSpPr>
          <p:cNvPr id="21" name="Step 2 text"/>
          <p:cNvSpPr txBox="1"/>
          <p:nvPr/>
        </p:nvSpPr>
        <p:spPr>
          <a:xfrm>
            <a:off x="2130552" y="3529584"/>
            <a:ext cx="1225296" cy="502920"/>
          </a:xfrm>
          <a:prstGeom prst="rect">
            <a:avLst/>
          </a:prstGeom>
          <a:noFill/>
        </p:spPr>
        <p:txBody>
          <a:bodyPr wrap="square" lIns="0" rIns="0" tIns="0" bIns="0" anchor="t">
            <a:spAutoFit/>
          </a:bodyPr>
          <a:lstStyle/>
          <a:p>
            <a:pPr algn="ctr"/>
            <a:r>
              <a:rPr sz="1150" b="1" i="0">
                <a:solidFill>
                  <a:srgbClr val="222222"/>
                </a:solidFill>
                <a:latin typeface="Calibri"/>
              </a:rPr>
              <a:t>Opens UPI on her own phone</a:t>
            </a:r>
          </a:p>
        </p:txBody>
      </p:sp>
      <p:cxnSp>
        <p:nvCxnSpPr>
          <p:cNvPr id="22" name="Step arrow 2"/>
          <p:cNvCxnSpPr/>
          <p:nvPr/>
        </p:nvCxnSpPr>
        <p:spPr>
          <a:xfrm>
            <a:off x="3447288" y="3474720"/>
            <a:ext cx="192024"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Step 3"/>
          <p:cNvSpPr/>
          <p:nvPr/>
        </p:nvSpPr>
        <p:spPr>
          <a:xfrm>
            <a:off x="3657600" y="2852928"/>
            <a:ext cx="1371600" cy="1234440"/>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24" name="Badge lock"/>
          <p:cNvSpPr/>
          <p:nvPr/>
        </p:nvSpPr>
        <p:spPr>
          <a:xfrm>
            <a:off x="4069080" y="2944368"/>
            <a:ext cx="548640" cy="5486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ock_FFFFFF.png"/>
          <p:cNvPicPr>
            <a:picLocks noChangeAspect="1"/>
          </p:cNvPicPr>
          <p:nvPr/>
        </p:nvPicPr>
        <p:blipFill>
          <a:blip r:embed="rId5"/>
          <a:stretch>
            <a:fillRect/>
          </a:stretch>
        </p:blipFill>
        <p:spPr>
          <a:xfrm>
            <a:off x="4189780" y="3065068"/>
            <a:ext cx="307238" cy="307238"/>
          </a:xfrm>
          <a:prstGeom prst="rect">
            <a:avLst/>
          </a:prstGeom>
        </p:spPr>
      </p:pic>
      <p:sp>
        <p:nvSpPr>
          <p:cNvPr id="26" name="Step 3 text"/>
          <p:cNvSpPr txBox="1"/>
          <p:nvPr/>
        </p:nvSpPr>
        <p:spPr>
          <a:xfrm>
            <a:off x="3730752" y="3529584"/>
            <a:ext cx="1225296" cy="502920"/>
          </a:xfrm>
          <a:prstGeom prst="rect">
            <a:avLst/>
          </a:prstGeom>
          <a:noFill/>
        </p:spPr>
        <p:txBody>
          <a:bodyPr wrap="square" lIns="0" rIns="0" tIns="0" bIns="0" anchor="t">
            <a:spAutoFit/>
          </a:bodyPr>
          <a:lstStyle/>
          <a:p>
            <a:pPr algn="ctr"/>
            <a:r>
              <a:rPr sz="1150" b="1" i="0">
                <a:solidFill>
                  <a:srgbClr val="222222"/>
                </a:solidFill>
                <a:latin typeface="Calibri"/>
              </a:rPr>
              <a:t>Types her own PIN</a:t>
            </a:r>
          </a:p>
        </p:txBody>
      </p:sp>
      <p:cxnSp>
        <p:nvCxnSpPr>
          <p:cNvPr id="27" name="Step arrow 3"/>
          <p:cNvCxnSpPr/>
          <p:nvPr/>
        </p:nvCxnSpPr>
        <p:spPr>
          <a:xfrm>
            <a:off x="5047488" y="3474720"/>
            <a:ext cx="192024"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Step 4"/>
          <p:cNvSpPr/>
          <p:nvPr/>
        </p:nvSpPr>
        <p:spPr>
          <a:xfrm>
            <a:off x="5257800" y="2852928"/>
            <a:ext cx="1371600" cy="1234440"/>
          </a:xfrm>
          <a:prstGeom prst="roundRect">
            <a:avLst>
              <a:gd name="adj" fmla="val 1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29" name="Badge checkc"/>
          <p:cNvSpPr/>
          <p:nvPr/>
        </p:nvSpPr>
        <p:spPr>
          <a:xfrm>
            <a:off x="5669280" y="2944368"/>
            <a:ext cx="548640" cy="54864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heckc_FFFFFF.png"/>
          <p:cNvPicPr>
            <a:picLocks noChangeAspect="1"/>
          </p:cNvPicPr>
          <p:nvPr/>
        </p:nvPicPr>
        <p:blipFill>
          <a:blip r:embed="rId6"/>
          <a:stretch>
            <a:fillRect/>
          </a:stretch>
        </p:blipFill>
        <p:spPr>
          <a:xfrm>
            <a:off x="5789980" y="3065068"/>
            <a:ext cx="307238" cy="307238"/>
          </a:xfrm>
          <a:prstGeom prst="rect">
            <a:avLst/>
          </a:prstGeom>
        </p:spPr>
      </p:pic>
      <p:sp>
        <p:nvSpPr>
          <p:cNvPr id="31" name="Step 4 text"/>
          <p:cNvSpPr txBox="1"/>
          <p:nvPr/>
        </p:nvSpPr>
        <p:spPr>
          <a:xfrm>
            <a:off x="5330952" y="3529584"/>
            <a:ext cx="1225296" cy="502920"/>
          </a:xfrm>
          <a:prstGeom prst="rect">
            <a:avLst/>
          </a:prstGeom>
          <a:noFill/>
        </p:spPr>
        <p:txBody>
          <a:bodyPr wrap="square" lIns="0" rIns="0" tIns="0" bIns="0" anchor="t">
            <a:spAutoFit/>
          </a:bodyPr>
          <a:lstStyle/>
          <a:p>
            <a:pPr algn="ctr"/>
            <a:r>
              <a:rPr sz="1150" b="1" i="0">
                <a:solidFill>
                  <a:srgbClr val="C62828"/>
                </a:solidFill>
                <a:latin typeface="Calibri"/>
              </a:rPr>
              <a:t>Approved: ₹85,000 gone</a:t>
            </a:r>
          </a:p>
        </p:txBody>
      </p:sp>
      <p:sp>
        <p:nvSpPr>
          <p:cNvPr id="32" name="Insight"/>
          <p:cNvSpPr/>
          <p:nvPr/>
        </p:nvSpPr>
        <p:spPr>
          <a:xfrm>
            <a:off x="457200" y="4224528"/>
            <a:ext cx="6172200" cy="658368"/>
          </a:xfrm>
          <a:prstGeom prst="roundRect">
            <a:avLst>
              <a:gd name="adj" fmla="val 14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5" bIns="128015"/>
          <a:lstStyle/>
          <a:p>
            <a:pPr algn="ctr"/>
            <a:r>
              <a:rPr sz="1700" b="0" i="0">
                <a:solidFill>
                  <a:srgbClr val="FFFFFF"/>
                </a:solidFill>
                <a:latin typeface="Cambria"/>
              </a:rPr>
              <a:t>A PIN checks </a:t>
            </a:r>
            <a:r>
              <a:rPr sz="1700" b="1" i="0">
                <a:solidFill>
                  <a:srgbClr val="CADCFC"/>
                </a:solidFill>
                <a:latin typeface="Cambria"/>
              </a:rPr>
              <a:t>who</a:t>
            </a:r>
            <a:r>
              <a:rPr sz="1700" b="0" i="0">
                <a:solidFill>
                  <a:srgbClr val="FFFFFF"/>
                </a:solidFill>
                <a:latin typeface="Cambria"/>
              </a:rPr>
              <a:t> you are. Nobody checks </a:t>
            </a:r>
            <a:r>
              <a:rPr sz="1700" b="1" i="0">
                <a:solidFill>
                  <a:srgbClr val="CADCFC"/>
                </a:solidFill>
                <a:latin typeface="Cambria"/>
              </a:rPr>
              <a:t>what's happening</a:t>
            </a:r>
            <a:r>
              <a:rPr sz="1700" b="0" i="0">
                <a:solidFill>
                  <a:srgbClr val="FFFFFF"/>
                </a:solidFill>
                <a:latin typeface="Cambria"/>
              </a:rPr>
              <a:t>.</a:t>
            </a:r>
          </a:p>
        </p:txBody>
      </p:sp>
      <p:sp>
        <p:nvSpPr>
          <p:cNvPr id="33" name="Stakeholder label"/>
          <p:cNvSpPr txBox="1"/>
          <p:nvPr/>
        </p:nvSpPr>
        <p:spPr>
          <a:xfrm>
            <a:off x="457200" y="4992624"/>
            <a:ext cx="6172200" cy="274320"/>
          </a:xfrm>
          <a:prstGeom prst="rect">
            <a:avLst/>
          </a:prstGeom>
          <a:noFill/>
        </p:spPr>
        <p:txBody>
          <a:bodyPr wrap="square" lIns="0" rIns="0" tIns="0" bIns="0" anchor="t">
            <a:spAutoFit/>
          </a:bodyPr>
          <a:lstStyle/>
          <a:p>
            <a:pPr algn="l"/>
            <a:r>
              <a:rPr sz="1100" b="1" i="0">
                <a:solidFill>
                  <a:srgbClr val="1E2761"/>
                </a:solidFill>
                <a:latin typeface="Calibri"/>
              </a:rPr>
              <a:t>WHO WE SERVE</a:t>
            </a:r>
          </a:p>
        </p:txBody>
      </p:sp>
      <p:sp>
        <p:nvSpPr>
          <p:cNvPr id="34" name="Who 1"/>
          <p:cNvSpPr/>
          <p:nvPr/>
        </p:nvSpPr>
        <p:spPr>
          <a:xfrm>
            <a:off x="457200" y="5266944"/>
            <a:ext cx="1965960" cy="530352"/>
          </a:xfrm>
          <a:prstGeom prst="roundRect">
            <a:avLst>
              <a:gd name="adj" fmla="val 2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35" name="Badge bank"/>
          <p:cNvSpPr/>
          <p:nvPr/>
        </p:nvSpPr>
        <p:spPr>
          <a:xfrm>
            <a:off x="530352" y="5330952"/>
            <a:ext cx="402336" cy="40233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bank_FFFFFF.png"/>
          <p:cNvPicPr>
            <a:picLocks noChangeAspect="1"/>
          </p:cNvPicPr>
          <p:nvPr/>
        </p:nvPicPr>
        <p:blipFill>
          <a:blip r:embed="rId7"/>
          <a:stretch>
            <a:fillRect/>
          </a:stretch>
        </p:blipFill>
        <p:spPr>
          <a:xfrm>
            <a:off x="618865" y="5419465"/>
            <a:ext cx="225308" cy="225308"/>
          </a:xfrm>
          <a:prstGeom prst="rect">
            <a:avLst/>
          </a:prstGeom>
        </p:spPr>
      </p:pic>
      <p:sp>
        <p:nvSpPr>
          <p:cNvPr id="37" name="Who 1 text"/>
          <p:cNvSpPr txBox="1"/>
          <p:nvPr/>
        </p:nvSpPr>
        <p:spPr>
          <a:xfrm>
            <a:off x="1005840" y="5266944"/>
            <a:ext cx="1371600" cy="530352"/>
          </a:xfrm>
          <a:prstGeom prst="rect">
            <a:avLst/>
          </a:prstGeom>
          <a:noFill/>
        </p:spPr>
        <p:txBody>
          <a:bodyPr wrap="square" lIns="0" rIns="0" tIns="0" bIns="0" anchor="ctr">
            <a:spAutoFit/>
          </a:bodyPr>
          <a:lstStyle/>
          <a:p>
            <a:pPr algn="l"/>
            <a:r>
              <a:rPr sz="1100" b="1" i="0">
                <a:solidFill>
                  <a:srgbClr val="222222"/>
                </a:solidFill>
                <a:latin typeface="Calibri"/>
              </a:rPr>
              <a:t>Banks, UPI apps &amp; gateways</a:t>
            </a:r>
          </a:p>
        </p:txBody>
      </p:sp>
      <p:sp>
        <p:nvSpPr>
          <p:cNvPr id="38" name="Who 2"/>
          <p:cNvSpPr/>
          <p:nvPr/>
        </p:nvSpPr>
        <p:spPr>
          <a:xfrm>
            <a:off x="2560320" y="5266944"/>
            <a:ext cx="1965960" cy="530352"/>
          </a:xfrm>
          <a:prstGeom prst="roundRect">
            <a:avLst>
              <a:gd name="adj" fmla="val 2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39" name="Badge users"/>
          <p:cNvSpPr/>
          <p:nvPr/>
        </p:nvSpPr>
        <p:spPr>
          <a:xfrm>
            <a:off x="2633472" y="5330952"/>
            <a:ext cx="402336" cy="40233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users_FFFFFF.png"/>
          <p:cNvPicPr>
            <a:picLocks noChangeAspect="1"/>
          </p:cNvPicPr>
          <p:nvPr/>
        </p:nvPicPr>
        <p:blipFill>
          <a:blip r:embed="rId8"/>
          <a:stretch>
            <a:fillRect/>
          </a:stretch>
        </p:blipFill>
        <p:spPr>
          <a:xfrm>
            <a:off x="2721985" y="5419465"/>
            <a:ext cx="225308" cy="225308"/>
          </a:xfrm>
          <a:prstGeom prst="rect">
            <a:avLst/>
          </a:prstGeom>
        </p:spPr>
      </p:pic>
      <p:sp>
        <p:nvSpPr>
          <p:cNvPr id="41" name="Who 2 text"/>
          <p:cNvSpPr txBox="1"/>
          <p:nvPr/>
        </p:nvSpPr>
        <p:spPr>
          <a:xfrm>
            <a:off x="3108960" y="5266944"/>
            <a:ext cx="1371600" cy="530352"/>
          </a:xfrm>
          <a:prstGeom prst="rect">
            <a:avLst/>
          </a:prstGeom>
          <a:noFill/>
        </p:spPr>
        <p:txBody>
          <a:bodyPr wrap="square" lIns="0" rIns="0" tIns="0" bIns="0" anchor="ctr">
            <a:spAutoFit/>
          </a:bodyPr>
          <a:lstStyle/>
          <a:p>
            <a:pPr algn="l"/>
            <a:r>
              <a:rPr sz="1100" b="1" i="0">
                <a:solidFill>
                  <a:srgbClr val="222222"/>
                </a:solidFill>
                <a:latin typeface="Calibri"/>
              </a:rPr>
              <a:t>Seniors &amp; first-time payers</a:t>
            </a:r>
          </a:p>
        </p:txBody>
      </p:sp>
      <p:sp>
        <p:nvSpPr>
          <p:cNvPr id="42" name="Who 3"/>
          <p:cNvSpPr/>
          <p:nvPr/>
        </p:nvSpPr>
        <p:spPr>
          <a:xfrm>
            <a:off x="4663440" y="5266944"/>
            <a:ext cx="1965960" cy="530352"/>
          </a:xfrm>
          <a:prstGeom prst="roundRect">
            <a:avLst>
              <a:gd name="adj" fmla="val 2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43" name="Badge clock"/>
          <p:cNvSpPr/>
          <p:nvPr/>
        </p:nvSpPr>
        <p:spPr>
          <a:xfrm>
            <a:off x="4736592" y="5330952"/>
            <a:ext cx="402336" cy="40233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clock_FFFFFF.png"/>
          <p:cNvPicPr>
            <a:picLocks noChangeAspect="1"/>
          </p:cNvPicPr>
          <p:nvPr/>
        </p:nvPicPr>
        <p:blipFill>
          <a:blip r:embed="rId9"/>
          <a:stretch>
            <a:fillRect/>
          </a:stretch>
        </p:blipFill>
        <p:spPr>
          <a:xfrm>
            <a:off x="4825105" y="5419465"/>
            <a:ext cx="225308" cy="225308"/>
          </a:xfrm>
          <a:prstGeom prst="rect">
            <a:avLst/>
          </a:prstGeom>
        </p:spPr>
      </p:pic>
      <p:sp>
        <p:nvSpPr>
          <p:cNvPr id="45" name="Who 3 text"/>
          <p:cNvSpPr txBox="1"/>
          <p:nvPr/>
        </p:nvSpPr>
        <p:spPr>
          <a:xfrm>
            <a:off x="5212079" y="5266944"/>
            <a:ext cx="1371600" cy="530352"/>
          </a:xfrm>
          <a:prstGeom prst="rect">
            <a:avLst/>
          </a:prstGeom>
          <a:noFill/>
        </p:spPr>
        <p:txBody>
          <a:bodyPr wrap="square" lIns="0" rIns="0" tIns="0" bIns="0" anchor="ctr">
            <a:spAutoFit/>
          </a:bodyPr>
          <a:lstStyle/>
          <a:p>
            <a:pPr algn="l"/>
            <a:r>
              <a:rPr sz="1100" b="1" i="0">
                <a:solidFill>
                  <a:srgbClr val="222222"/>
                </a:solidFill>
                <a:latin typeface="Calibri"/>
              </a:rPr>
              <a:t>Decide inside UPI's 15-s window</a:t>
            </a:r>
          </a:p>
        </p:txBody>
      </p:sp>
      <p:sp>
        <p:nvSpPr>
          <p:cNvPr id="46" name="Evidence label"/>
          <p:cNvSpPr txBox="1"/>
          <p:nvPr/>
        </p:nvSpPr>
        <p:spPr>
          <a:xfrm>
            <a:off x="6903720" y="2560320"/>
            <a:ext cx="4846320" cy="274320"/>
          </a:xfrm>
          <a:prstGeom prst="rect">
            <a:avLst/>
          </a:prstGeom>
          <a:noFill/>
        </p:spPr>
        <p:txBody>
          <a:bodyPr wrap="square" lIns="0" rIns="0" tIns="0" bIns="0" anchor="t">
            <a:spAutoFit/>
          </a:bodyPr>
          <a:lstStyle/>
          <a:p>
            <a:pPr algn="l"/>
            <a:r>
              <a:rPr sz="1100" b="1" i="0">
                <a:solidFill>
                  <a:srgbClr val="1E2761"/>
                </a:solidFill>
                <a:latin typeface="Calibri"/>
              </a:rPr>
              <a:t>EVIDENCE</a:t>
            </a:r>
          </a:p>
        </p:txBody>
      </p:sp>
      <p:sp>
        <p:nvSpPr>
          <p:cNvPr id="47" name="Stat 1"/>
          <p:cNvSpPr/>
          <p:nvPr/>
        </p:nvSpPr>
        <p:spPr>
          <a:xfrm>
            <a:off x="6903720" y="2852928"/>
            <a:ext cx="4846320" cy="877824"/>
          </a:xfrm>
          <a:prstGeom prst="roundRect">
            <a:avLst>
              <a:gd name="adj" fmla="val 12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48" name="Badge rupee"/>
          <p:cNvSpPr/>
          <p:nvPr/>
        </p:nvSpPr>
        <p:spPr>
          <a:xfrm>
            <a:off x="7059168" y="3017520"/>
            <a:ext cx="548640" cy="5486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rupee_FFFFFF.png"/>
          <p:cNvPicPr>
            <a:picLocks noChangeAspect="1"/>
          </p:cNvPicPr>
          <p:nvPr/>
        </p:nvPicPr>
        <p:blipFill>
          <a:blip r:embed="rId10"/>
          <a:stretch>
            <a:fillRect/>
          </a:stretch>
        </p:blipFill>
        <p:spPr>
          <a:xfrm>
            <a:off x="7179868" y="3138220"/>
            <a:ext cx="307238" cy="307238"/>
          </a:xfrm>
          <a:prstGeom prst="rect">
            <a:avLst/>
          </a:prstGeom>
        </p:spPr>
      </p:pic>
      <p:sp>
        <p:nvSpPr>
          <p:cNvPr id="50" name="Stat 1 value"/>
          <p:cNvSpPr txBox="1"/>
          <p:nvPr/>
        </p:nvSpPr>
        <p:spPr>
          <a:xfrm>
            <a:off x="7772400" y="2907792"/>
            <a:ext cx="3840480" cy="457200"/>
          </a:xfrm>
          <a:prstGeom prst="rect">
            <a:avLst/>
          </a:prstGeom>
          <a:noFill/>
        </p:spPr>
        <p:txBody>
          <a:bodyPr wrap="square" lIns="0" rIns="0" tIns="0" bIns="0" anchor="t">
            <a:spAutoFit/>
          </a:bodyPr>
          <a:lstStyle/>
          <a:p>
            <a:pPr algn="l"/>
            <a:r>
              <a:rPr sz="2600" b="1" i="0">
                <a:solidFill>
                  <a:srgbClr val="1E2761"/>
                </a:solidFill>
                <a:latin typeface="Cambria"/>
              </a:rPr>
              <a:t>₹22,495 cr</a:t>
            </a:r>
          </a:p>
        </p:txBody>
      </p:sp>
      <p:sp>
        <p:nvSpPr>
          <p:cNvPr id="51" name="Stat 1 text"/>
          <p:cNvSpPr txBox="1"/>
          <p:nvPr/>
        </p:nvSpPr>
        <p:spPr>
          <a:xfrm>
            <a:off x="7772400" y="3355848"/>
            <a:ext cx="3886200" cy="320040"/>
          </a:xfrm>
          <a:prstGeom prst="rect">
            <a:avLst/>
          </a:prstGeom>
          <a:noFill/>
        </p:spPr>
        <p:txBody>
          <a:bodyPr wrap="square" lIns="0" rIns="0" tIns="0" bIns="0" anchor="t">
            <a:spAutoFit/>
          </a:bodyPr>
          <a:lstStyle/>
          <a:p>
            <a:pPr algn="l"/>
            <a:r>
              <a:rPr sz="1200" b="0" i="0">
                <a:solidFill>
                  <a:srgbClr val="222222"/>
                </a:solidFill>
                <a:latin typeface="Calibri"/>
              </a:rPr>
              <a:t>lost to cyber fraud in India in 2025 (MHA)</a:t>
            </a:r>
          </a:p>
        </p:txBody>
      </p:sp>
      <p:sp>
        <p:nvSpPr>
          <p:cNvPr id="52" name="Stat 2"/>
          <p:cNvSpPr/>
          <p:nvPr/>
        </p:nvSpPr>
        <p:spPr>
          <a:xfrm>
            <a:off x="6903720" y="3840480"/>
            <a:ext cx="4846320" cy="877824"/>
          </a:xfrm>
          <a:prstGeom prst="roundRect">
            <a:avLst>
              <a:gd name="adj" fmla="val 12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53" name="Badge phonecall"/>
          <p:cNvSpPr/>
          <p:nvPr/>
        </p:nvSpPr>
        <p:spPr>
          <a:xfrm>
            <a:off x="7059168" y="4005072"/>
            <a:ext cx="548640" cy="5486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phonecall_FFFFFF.png"/>
          <p:cNvPicPr>
            <a:picLocks noChangeAspect="1"/>
          </p:cNvPicPr>
          <p:nvPr/>
        </p:nvPicPr>
        <p:blipFill>
          <a:blip r:embed="rId3"/>
          <a:stretch>
            <a:fillRect/>
          </a:stretch>
        </p:blipFill>
        <p:spPr>
          <a:xfrm>
            <a:off x="7179868" y="4125772"/>
            <a:ext cx="307238" cy="307238"/>
          </a:xfrm>
          <a:prstGeom prst="rect">
            <a:avLst/>
          </a:prstGeom>
        </p:spPr>
      </p:pic>
      <p:sp>
        <p:nvSpPr>
          <p:cNvPr id="55" name="Stat 2 value"/>
          <p:cNvSpPr txBox="1"/>
          <p:nvPr/>
        </p:nvSpPr>
        <p:spPr>
          <a:xfrm>
            <a:off x="7772400" y="3895344"/>
            <a:ext cx="3840480" cy="457200"/>
          </a:xfrm>
          <a:prstGeom prst="rect">
            <a:avLst/>
          </a:prstGeom>
          <a:noFill/>
        </p:spPr>
        <p:txBody>
          <a:bodyPr wrap="square" lIns="0" rIns="0" tIns="0" bIns="0" anchor="t">
            <a:spAutoFit/>
          </a:bodyPr>
          <a:lstStyle/>
          <a:p>
            <a:pPr algn="l"/>
            <a:r>
              <a:rPr sz="2600" b="1" i="0">
                <a:solidFill>
                  <a:srgbClr val="1E2761"/>
                </a:solidFill>
                <a:latin typeface="Cambria"/>
              </a:rPr>
              <a:t>~85%</a:t>
            </a:r>
          </a:p>
        </p:txBody>
      </p:sp>
      <p:sp>
        <p:nvSpPr>
          <p:cNvPr id="56" name="Stat 2 text"/>
          <p:cNvSpPr txBox="1"/>
          <p:nvPr/>
        </p:nvSpPr>
        <p:spPr>
          <a:xfrm>
            <a:off x="7772400" y="4343400"/>
            <a:ext cx="3886200" cy="320040"/>
          </a:xfrm>
          <a:prstGeom prst="rect">
            <a:avLst/>
          </a:prstGeom>
          <a:noFill/>
        </p:spPr>
        <p:txBody>
          <a:bodyPr wrap="square" lIns="0" rIns="0" tIns="0" bIns="0" anchor="t">
            <a:spAutoFit/>
          </a:bodyPr>
          <a:lstStyle/>
          <a:p>
            <a:pPr algn="l"/>
            <a:r>
              <a:rPr sz="1200" b="0" i="0">
                <a:solidFill>
                  <a:srgbClr val="222222"/>
                </a:solidFill>
                <a:latin typeface="Calibri"/>
              </a:rPr>
              <a:t>of losses: scams where the victim pays (MHA)</a:t>
            </a:r>
          </a:p>
        </p:txBody>
      </p:sp>
      <p:sp>
        <p:nvSpPr>
          <p:cNvPr id="57" name="Stat 3"/>
          <p:cNvSpPr/>
          <p:nvPr/>
        </p:nvSpPr>
        <p:spPr>
          <a:xfrm>
            <a:off x="6903720" y="4828032"/>
            <a:ext cx="4846320" cy="877824"/>
          </a:xfrm>
          <a:prstGeom prst="roundRect">
            <a:avLst>
              <a:gd name="adj" fmla="val 12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58" name="Badge trend"/>
          <p:cNvSpPr/>
          <p:nvPr/>
        </p:nvSpPr>
        <p:spPr>
          <a:xfrm>
            <a:off x="7059168" y="4992624"/>
            <a:ext cx="548640" cy="5486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trend_FFFFFF.png"/>
          <p:cNvPicPr>
            <a:picLocks noChangeAspect="1"/>
          </p:cNvPicPr>
          <p:nvPr/>
        </p:nvPicPr>
        <p:blipFill>
          <a:blip r:embed="rId11"/>
          <a:stretch>
            <a:fillRect/>
          </a:stretch>
        </p:blipFill>
        <p:spPr>
          <a:xfrm>
            <a:off x="7179868" y="5113324"/>
            <a:ext cx="307238" cy="307238"/>
          </a:xfrm>
          <a:prstGeom prst="rect">
            <a:avLst/>
          </a:prstGeom>
        </p:spPr>
      </p:pic>
      <p:sp>
        <p:nvSpPr>
          <p:cNvPr id="60" name="Stat 3 value"/>
          <p:cNvSpPr txBox="1"/>
          <p:nvPr/>
        </p:nvSpPr>
        <p:spPr>
          <a:xfrm>
            <a:off x="7772400" y="4882896"/>
            <a:ext cx="3840480" cy="457200"/>
          </a:xfrm>
          <a:prstGeom prst="rect">
            <a:avLst/>
          </a:prstGeom>
          <a:noFill/>
        </p:spPr>
        <p:txBody>
          <a:bodyPr wrap="square" lIns="0" rIns="0" tIns="0" bIns="0" anchor="t">
            <a:spAutoFit/>
          </a:bodyPr>
          <a:lstStyle/>
          <a:p>
            <a:pPr algn="l"/>
            <a:r>
              <a:rPr sz="2600" b="1" i="0">
                <a:solidFill>
                  <a:srgbClr val="1E2761"/>
                </a:solidFill>
                <a:latin typeface="Cambria"/>
              </a:rPr>
              <a:t>98.5%</a:t>
            </a:r>
          </a:p>
        </p:txBody>
      </p:sp>
      <p:sp>
        <p:nvSpPr>
          <p:cNvPr id="61" name="Stat 3 text"/>
          <p:cNvSpPr txBox="1"/>
          <p:nvPr/>
        </p:nvSpPr>
        <p:spPr>
          <a:xfrm>
            <a:off x="7772400" y="5330952"/>
            <a:ext cx="3886200" cy="320040"/>
          </a:xfrm>
          <a:prstGeom prst="rect">
            <a:avLst/>
          </a:prstGeom>
          <a:noFill/>
        </p:spPr>
        <p:txBody>
          <a:bodyPr wrap="square" lIns="0" rIns="0" tIns="0" bIns="0" anchor="t">
            <a:spAutoFit/>
          </a:bodyPr>
          <a:lstStyle/>
          <a:p>
            <a:pPr algn="l"/>
            <a:r>
              <a:rPr sz="1200" b="0" i="0">
                <a:solidFill>
                  <a:srgbClr val="222222"/>
                </a:solidFill>
                <a:latin typeface="Calibri"/>
              </a:rPr>
              <a:t>of fraud value is in payments above ₹10k (RBI)</a:t>
            </a:r>
          </a:p>
        </p:txBody>
      </p:sp>
      <p:sp>
        <p:nvSpPr>
          <p:cNvPr id="62" name="SDG 1"/>
          <p:cNvSpPr/>
          <p:nvPr/>
        </p:nvSpPr>
        <p:spPr>
          <a:xfrm>
            <a:off x="457200" y="5925312"/>
            <a:ext cx="3657600" cy="548640"/>
          </a:xfrm>
          <a:prstGeom prst="roundRect">
            <a:avLst>
              <a:gd name="adj" fmla="val 18000"/>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r>
              <a:rPr sz="1050" b="1" i="0">
                <a:solidFill>
                  <a:srgbClr val="FFFFFF"/>
                </a:solidFill>
                <a:latin typeface="Calibri"/>
              </a:rPr>
              <a:t>PRIMARY · SDG 16</a:t>
            </a:r>
          </a:p>
          <a:p>
            <a:pPr algn="l"/>
            <a:r>
              <a:rPr sz="1050" b="0" i="0">
                <a:solidFill>
                  <a:srgbClr val="FFFFFF"/>
                </a:solidFill>
                <a:latin typeface="Calibri"/>
              </a:rPr>
              <a:t>16.4: cut illicit financial flows &amp; organised crime</a:t>
            </a:r>
          </a:p>
        </p:txBody>
      </p:sp>
      <p:sp>
        <p:nvSpPr>
          <p:cNvPr id="63" name="SDG 2"/>
          <p:cNvSpPr/>
          <p:nvPr/>
        </p:nvSpPr>
        <p:spPr>
          <a:xfrm>
            <a:off x="4274820" y="5925312"/>
            <a:ext cx="3657600" cy="548640"/>
          </a:xfrm>
          <a:prstGeom prst="roundRect">
            <a:avLst>
              <a:gd name="adj" fmla="val 18000"/>
            </a:avLst>
          </a:prstGeom>
          <a:solidFill>
            <a:srgbClr val="A219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r>
              <a:rPr sz="1050" b="1" i="0">
                <a:solidFill>
                  <a:srgbClr val="FFFFFF"/>
                </a:solidFill>
                <a:latin typeface="Calibri"/>
              </a:rPr>
              <a:t>SUPPORTING · SDG 8</a:t>
            </a:r>
          </a:p>
          <a:p>
            <a:pPr algn="l"/>
            <a:r>
              <a:rPr sz="1050" b="0" i="0">
                <a:solidFill>
                  <a:srgbClr val="FFFFFF"/>
                </a:solidFill>
                <a:latin typeface="Calibri"/>
              </a:rPr>
              <a:t>8.10: access to financial services for all</a:t>
            </a:r>
          </a:p>
        </p:txBody>
      </p:sp>
      <p:sp>
        <p:nvSpPr>
          <p:cNvPr id="64" name="SDG 3"/>
          <p:cNvSpPr/>
          <p:nvPr/>
        </p:nvSpPr>
        <p:spPr>
          <a:xfrm>
            <a:off x="8092440" y="5925312"/>
            <a:ext cx="3657600" cy="548640"/>
          </a:xfrm>
          <a:prstGeom prst="roundRect">
            <a:avLst>
              <a:gd name="adj" fmla="val 18000"/>
            </a:avLst>
          </a:prstGeom>
          <a:solidFill>
            <a:srgbClr val="DD5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r>
              <a:rPr sz="1050" b="1" i="0">
                <a:solidFill>
                  <a:srgbClr val="FFFFFF"/>
                </a:solidFill>
                <a:latin typeface="Calibri"/>
              </a:rPr>
              <a:t>SUPPORTING · SDG 9</a:t>
            </a:r>
          </a:p>
          <a:p>
            <a:pPr algn="l"/>
            <a:r>
              <a:rPr sz="1050" b="0" i="0">
                <a:solidFill>
                  <a:srgbClr val="FFFFFF"/>
                </a:solidFill>
                <a:latin typeface="Calibri"/>
              </a:rPr>
              <a:t>9.1: reliable, resilient (digital) infrastructure</a:t>
            </a:r>
          </a:p>
        </p:txBody>
      </p:sp>
      <p:sp>
        <p:nvSpPr>
          <p:cNvPr id="65" name="Sources"/>
          <p:cNvSpPr txBox="1"/>
          <p:nvPr/>
        </p:nvSpPr>
        <p:spPr>
          <a:xfrm>
            <a:off x="457200" y="6510528"/>
            <a:ext cx="11292840" cy="274320"/>
          </a:xfrm>
          <a:prstGeom prst="rect">
            <a:avLst/>
          </a:prstGeom>
          <a:noFill/>
        </p:spPr>
        <p:txBody>
          <a:bodyPr wrap="square" lIns="0" rIns="0" tIns="0" bIns="0" anchor="t">
            <a:spAutoFit/>
          </a:bodyPr>
          <a:lstStyle/>
          <a:p>
            <a:pPr algn="just"/>
            <a:r>
              <a:rPr sz="900" b="0" i="1">
                <a:solidFill>
                  <a:srgbClr val="5A6275"/>
                </a:solidFill>
                <a:latin typeface="Calibri"/>
              </a:rPr>
              <a:t>Sources: MHA/NCRP data via Parliament replies (2024, 2025); RBI Discussion Paper on safeguards in digital payments, 9 Apr 2026. Links: repo › docs/02-research/problem-evidence.md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Today's defences check the credential or the receiver, never the moment</a:t>
            </a:r>
            <a:endParaRPr lang="en-US" sz="2000" dirty="0"/>
          </a:p>
        </p:txBody>
      </p:sp>
      <p:sp>
        <p:nvSpPr>
          <p:cNvPr id="13" name="Text 1">
            <a:extLst>
              <a:ext uri="{FF2B5EF4-FFF2-40B4-BE49-F238E27FC236}">
                <a16:creationId xmlns:a16="http://schemas.microsoft.com/office/drawing/2014/main" id="{99D536E1-DBFD-B790-6092-C55BAED3C2B5}"/>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2 OF 5</a:t>
            </a:r>
            <a:endParaRPr lang="en-US" sz="1200" dirty="0"/>
          </a:p>
        </p:txBody>
      </p:sp>
      <p:sp>
        <p:nvSpPr>
          <p:cNvPr id="15" name="Text 2">
            <a:extLst>
              <a:ext uri="{FF2B5EF4-FFF2-40B4-BE49-F238E27FC236}">
                <a16:creationId xmlns:a16="http://schemas.microsoft.com/office/drawing/2014/main" id="{D559D67C-E338-52FF-A042-EDCC455427F5}"/>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Existing Approaches &amp; Gap</a:t>
            </a:r>
            <a:endParaRPr lang="en-US" sz="2800" dirty="0"/>
          </a:p>
        </p:txBody>
      </p:sp>
      <p:sp>
        <p:nvSpPr>
          <p:cNvPr id="16" name="Col 1"/>
          <p:cNvSpPr/>
          <p:nvPr/>
        </p:nvSpPr>
        <p:spPr>
          <a:xfrm>
            <a:off x="3703320" y="2560320"/>
            <a:ext cx="1947672" cy="987552"/>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17" name="Badge lock"/>
          <p:cNvSpPr/>
          <p:nvPr/>
        </p:nvSpPr>
        <p:spPr>
          <a:xfrm>
            <a:off x="4466844" y="2624328"/>
            <a:ext cx="420624" cy="420624"/>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ock_FFFFFF.png"/>
          <p:cNvPicPr>
            <a:picLocks noChangeAspect="1"/>
          </p:cNvPicPr>
          <p:nvPr/>
        </p:nvPicPr>
        <p:blipFill>
          <a:blip r:embed="rId3"/>
          <a:stretch>
            <a:fillRect/>
          </a:stretch>
        </p:blipFill>
        <p:spPr>
          <a:xfrm>
            <a:off x="4559381" y="2716865"/>
            <a:ext cx="235549" cy="235549"/>
          </a:xfrm>
          <a:prstGeom prst="rect">
            <a:avLst/>
          </a:prstGeom>
        </p:spPr>
      </p:pic>
      <p:sp>
        <p:nvSpPr>
          <p:cNvPr id="19" name="Col 1 name"/>
          <p:cNvSpPr txBox="1"/>
          <p:nvPr/>
        </p:nvSpPr>
        <p:spPr>
          <a:xfrm>
            <a:off x="3703320" y="3072384"/>
            <a:ext cx="1947672" cy="256032"/>
          </a:xfrm>
          <a:prstGeom prst="rect">
            <a:avLst/>
          </a:prstGeom>
          <a:noFill/>
        </p:spPr>
        <p:txBody>
          <a:bodyPr wrap="square" lIns="0" rIns="0" tIns="0" bIns="0" anchor="t">
            <a:spAutoFit/>
          </a:bodyPr>
          <a:lstStyle/>
          <a:p>
            <a:pPr algn="ctr"/>
            <a:r>
              <a:rPr sz="1300" b="1" i="0">
                <a:solidFill>
                  <a:srgbClr val="1E2761"/>
                </a:solidFill>
                <a:latin typeface="Cambria"/>
              </a:rPr>
              <a:t>Static 2FA</a:t>
            </a:r>
          </a:p>
        </p:txBody>
      </p:sp>
      <p:sp>
        <p:nvSpPr>
          <p:cNvPr id="20" name="Col 1 ex"/>
          <p:cNvSpPr txBox="1"/>
          <p:nvPr/>
        </p:nvSpPr>
        <p:spPr>
          <a:xfrm>
            <a:off x="3703320" y="3310128"/>
            <a:ext cx="1947672" cy="219456"/>
          </a:xfrm>
          <a:prstGeom prst="rect">
            <a:avLst/>
          </a:prstGeom>
          <a:noFill/>
        </p:spPr>
        <p:txBody>
          <a:bodyPr wrap="square" lIns="0" rIns="0" tIns="0" bIns="0" anchor="t">
            <a:spAutoFit/>
          </a:bodyPr>
          <a:lstStyle/>
          <a:p>
            <a:pPr algn="ctr"/>
            <a:r>
              <a:rPr sz="900" b="0" i="1">
                <a:solidFill>
                  <a:srgbClr val="5A6275"/>
                </a:solidFill>
                <a:latin typeface="Calibri"/>
              </a:rPr>
              <a:t>UPI PIN · OTP · 3-D Secure</a:t>
            </a:r>
          </a:p>
        </p:txBody>
      </p:sp>
      <p:sp>
        <p:nvSpPr>
          <p:cNvPr id="21" name="Col 2"/>
          <p:cNvSpPr/>
          <p:nvPr/>
        </p:nvSpPr>
        <p:spPr>
          <a:xfrm>
            <a:off x="5715000" y="2560320"/>
            <a:ext cx="1947672" cy="987552"/>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22" name="Badge cpu"/>
          <p:cNvSpPr/>
          <p:nvPr/>
        </p:nvSpPr>
        <p:spPr>
          <a:xfrm>
            <a:off x="6478524" y="2624328"/>
            <a:ext cx="420624" cy="420624"/>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cpu_FFFFFF.png"/>
          <p:cNvPicPr>
            <a:picLocks noChangeAspect="1"/>
          </p:cNvPicPr>
          <p:nvPr/>
        </p:nvPicPr>
        <p:blipFill>
          <a:blip r:embed="rId4"/>
          <a:stretch>
            <a:fillRect/>
          </a:stretch>
        </p:blipFill>
        <p:spPr>
          <a:xfrm>
            <a:off x="6571061" y="2716865"/>
            <a:ext cx="235549" cy="235549"/>
          </a:xfrm>
          <a:prstGeom prst="rect">
            <a:avLst/>
          </a:prstGeom>
        </p:spPr>
      </p:pic>
      <p:sp>
        <p:nvSpPr>
          <p:cNvPr id="24" name="Col 2 name"/>
          <p:cNvSpPr txBox="1"/>
          <p:nvPr/>
        </p:nvSpPr>
        <p:spPr>
          <a:xfrm>
            <a:off x="5715000" y="3072384"/>
            <a:ext cx="1947672" cy="256032"/>
          </a:xfrm>
          <a:prstGeom prst="rect">
            <a:avLst/>
          </a:prstGeom>
          <a:noFill/>
        </p:spPr>
        <p:txBody>
          <a:bodyPr wrap="square" lIns="0" rIns="0" tIns="0" bIns="0" anchor="t">
            <a:spAutoFit/>
          </a:bodyPr>
          <a:lstStyle/>
          <a:p>
            <a:pPr algn="ctr"/>
            <a:r>
              <a:rPr sz="1300" b="1" i="0">
                <a:solidFill>
                  <a:srgbClr val="1E2761"/>
                </a:solidFill>
                <a:latin typeface="Cambria"/>
              </a:rPr>
              <a:t>Risk engines</a:t>
            </a:r>
          </a:p>
        </p:txBody>
      </p:sp>
      <p:sp>
        <p:nvSpPr>
          <p:cNvPr id="25" name="Col 2 ex"/>
          <p:cNvSpPr txBox="1"/>
          <p:nvPr/>
        </p:nvSpPr>
        <p:spPr>
          <a:xfrm>
            <a:off x="5715000" y="3310128"/>
            <a:ext cx="1947672" cy="219456"/>
          </a:xfrm>
          <a:prstGeom prst="rect">
            <a:avLst/>
          </a:prstGeom>
          <a:noFill/>
        </p:spPr>
        <p:txBody>
          <a:bodyPr wrap="square" lIns="0" rIns="0" tIns="0" bIns="0" anchor="t">
            <a:spAutoFit/>
          </a:bodyPr>
          <a:lstStyle/>
          <a:p>
            <a:pPr algn="ctr"/>
            <a:r>
              <a:rPr sz="900" b="0" i="1">
                <a:solidFill>
                  <a:srgbClr val="5A6275"/>
                </a:solidFill>
                <a:latin typeface="Calibri"/>
              </a:rPr>
              <a:t>Stripe Radar · Sift · BioCatch</a:t>
            </a:r>
          </a:p>
        </p:txBody>
      </p:sp>
      <p:sp>
        <p:nvSpPr>
          <p:cNvPr id="26" name="Col 3"/>
          <p:cNvSpPr/>
          <p:nvPr/>
        </p:nvSpPr>
        <p:spPr>
          <a:xfrm>
            <a:off x="7726679" y="2560320"/>
            <a:ext cx="1947672" cy="987552"/>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27" name="Badge bank"/>
          <p:cNvSpPr/>
          <p:nvPr/>
        </p:nvSpPr>
        <p:spPr>
          <a:xfrm>
            <a:off x="8490204" y="2624328"/>
            <a:ext cx="420624" cy="420624"/>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bank_FFFFFF.png"/>
          <p:cNvPicPr>
            <a:picLocks noChangeAspect="1"/>
          </p:cNvPicPr>
          <p:nvPr/>
        </p:nvPicPr>
        <p:blipFill>
          <a:blip r:embed="rId5"/>
          <a:stretch>
            <a:fillRect/>
          </a:stretch>
        </p:blipFill>
        <p:spPr>
          <a:xfrm>
            <a:off x="8582741" y="2716865"/>
            <a:ext cx="235549" cy="235549"/>
          </a:xfrm>
          <a:prstGeom prst="rect">
            <a:avLst/>
          </a:prstGeom>
        </p:spPr>
      </p:pic>
      <p:sp>
        <p:nvSpPr>
          <p:cNvPr id="29" name="Col 3 name"/>
          <p:cNvSpPr txBox="1"/>
          <p:nvPr/>
        </p:nvSpPr>
        <p:spPr>
          <a:xfrm>
            <a:off x="7726679" y="3072384"/>
            <a:ext cx="1947672" cy="256032"/>
          </a:xfrm>
          <a:prstGeom prst="rect">
            <a:avLst/>
          </a:prstGeom>
          <a:noFill/>
        </p:spPr>
        <p:txBody>
          <a:bodyPr wrap="square" lIns="0" rIns="0" tIns="0" bIns="0" anchor="t">
            <a:spAutoFit/>
          </a:bodyPr>
          <a:lstStyle/>
          <a:p>
            <a:pPr algn="ctr"/>
            <a:r>
              <a:rPr sz="1300" b="1" i="0">
                <a:solidFill>
                  <a:srgbClr val="1E2761"/>
                </a:solidFill>
                <a:latin typeface="Cambria"/>
              </a:rPr>
              <a:t>India's tools</a:t>
            </a:r>
          </a:p>
        </p:txBody>
      </p:sp>
      <p:sp>
        <p:nvSpPr>
          <p:cNvPr id="30" name="Col 3 ex"/>
          <p:cNvSpPr txBox="1"/>
          <p:nvPr/>
        </p:nvSpPr>
        <p:spPr>
          <a:xfrm>
            <a:off x="7726679" y="3310128"/>
            <a:ext cx="1947672" cy="219456"/>
          </a:xfrm>
          <a:prstGeom prst="rect">
            <a:avLst/>
          </a:prstGeom>
          <a:noFill/>
        </p:spPr>
        <p:txBody>
          <a:bodyPr wrap="square" lIns="0" rIns="0" tIns="0" bIns="0" anchor="t">
            <a:spAutoFit/>
          </a:bodyPr>
          <a:lstStyle/>
          <a:p>
            <a:pPr algn="ctr"/>
            <a:r>
              <a:rPr sz="900" b="0" i="1">
                <a:solidFill>
                  <a:srgbClr val="5A6275"/>
                </a:solidFill>
                <a:latin typeface="Calibri"/>
              </a:rPr>
              <a:t>NPCI FRM · DoT FRI · MuleHunter</a:t>
            </a:r>
          </a:p>
        </p:txBody>
      </p:sp>
      <p:sp>
        <p:nvSpPr>
          <p:cNvPr id="31" name="Col 4"/>
          <p:cNvSpPr/>
          <p:nvPr/>
        </p:nvSpPr>
        <p:spPr>
          <a:xfrm>
            <a:off x="9738359" y="2560320"/>
            <a:ext cx="1947672" cy="987552"/>
          </a:xfrm>
          <a:prstGeom prst="roundRect">
            <a:avLst>
              <a:gd name="adj" fmla="val 1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32" name="Badge shield"/>
          <p:cNvSpPr/>
          <p:nvPr/>
        </p:nvSpPr>
        <p:spPr>
          <a:xfrm>
            <a:off x="10501884" y="262432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shield_1E2761.png"/>
          <p:cNvPicPr>
            <a:picLocks noChangeAspect="1"/>
          </p:cNvPicPr>
          <p:nvPr/>
        </p:nvPicPr>
        <p:blipFill>
          <a:blip r:embed="rId6"/>
          <a:stretch>
            <a:fillRect/>
          </a:stretch>
        </p:blipFill>
        <p:spPr>
          <a:xfrm>
            <a:off x="10594421" y="2716865"/>
            <a:ext cx="235549" cy="235549"/>
          </a:xfrm>
          <a:prstGeom prst="rect">
            <a:avLst/>
          </a:prstGeom>
        </p:spPr>
      </p:pic>
      <p:sp>
        <p:nvSpPr>
          <p:cNvPr id="34" name="Col 4 name"/>
          <p:cNvSpPr txBox="1"/>
          <p:nvPr/>
        </p:nvSpPr>
        <p:spPr>
          <a:xfrm>
            <a:off x="9738359" y="3072384"/>
            <a:ext cx="1947672" cy="256032"/>
          </a:xfrm>
          <a:prstGeom prst="rect">
            <a:avLst/>
          </a:prstGeom>
          <a:noFill/>
        </p:spPr>
        <p:txBody>
          <a:bodyPr wrap="square" lIns="0" rIns="0" tIns="0" bIns="0" anchor="t">
            <a:spAutoFit/>
          </a:bodyPr>
          <a:lstStyle/>
          <a:p>
            <a:pPr algn="ctr"/>
            <a:r>
              <a:rPr sz="1300" b="1" i="0">
                <a:solidFill>
                  <a:srgbClr val="FFFFFF"/>
                </a:solidFill>
                <a:latin typeface="Cambria"/>
              </a:rPr>
              <a:t>Pramaan</a:t>
            </a:r>
          </a:p>
        </p:txBody>
      </p:sp>
      <p:sp>
        <p:nvSpPr>
          <p:cNvPr id="35" name="Col 4 ex"/>
          <p:cNvSpPr txBox="1"/>
          <p:nvPr/>
        </p:nvSpPr>
        <p:spPr>
          <a:xfrm>
            <a:off x="9738359" y="3310128"/>
            <a:ext cx="1947672" cy="219456"/>
          </a:xfrm>
          <a:prstGeom prst="rect">
            <a:avLst/>
          </a:prstGeom>
          <a:noFill/>
        </p:spPr>
        <p:txBody>
          <a:bodyPr wrap="square" lIns="0" rIns="0" tIns="0" bIns="0" anchor="t">
            <a:spAutoFit/>
          </a:bodyPr>
          <a:lstStyle/>
          <a:p>
            <a:pPr algn="ctr"/>
            <a:r>
              <a:rPr sz="900" b="0" i="1">
                <a:solidFill>
                  <a:srgbClr val="CADCFC"/>
                </a:solidFill>
                <a:latin typeface="Calibri"/>
              </a:rPr>
              <a:t>this project</a:t>
            </a:r>
          </a:p>
        </p:txBody>
      </p:sp>
      <p:sp>
        <p:nvSpPr>
          <p:cNvPr id="36" name="Row 1 bg"/>
          <p:cNvSpPr/>
          <p:nvPr/>
        </p:nvSpPr>
        <p:spPr>
          <a:xfrm>
            <a:off x="457200" y="3639312"/>
            <a:ext cx="11228831" cy="347472"/>
          </a:xfrm>
          <a:prstGeom prst="rect">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w 1 label"/>
          <p:cNvSpPr txBox="1"/>
          <p:nvPr/>
        </p:nvSpPr>
        <p:spPr>
          <a:xfrm>
            <a:off x="566928" y="3639312"/>
            <a:ext cx="3108960" cy="347472"/>
          </a:xfrm>
          <a:prstGeom prst="rect">
            <a:avLst/>
          </a:prstGeom>
          <a:noFill/>
        </p:spPr>
        <p:txBody>
          <a:bodyPr wrap="square" lIns="0" rIns="0" tIns="0" bIns="0" anchor="ctr">
            <a:spAutoFit/>
          </a:bodyPr>
          <a:lstStyle/>
          <a:p>
            <a:pPr algn="l"/>
            <a:r>
              <a:rPr sz="1250" b="0" i="0">
                <a:solidFill>
                  <a:srgbClr val="222222"/>
                </a:solidFill>
                <a:latin typeface="Calibri"/>
              </a:rPr>
              <a:t>Checks who holds the credential</a:t>
            </a:r>
          </a:p>
        </p:txBody>
      </p:sp>
      <p:pic>
        <p:nvPicPr>
          <p:cNvPr id="38" name="Picture 37" descr="check_2E7D32.png"/>
          <p:cNvPicPr>
            <a:picLocks noChangeAspect="1"/>
          </p:cNvPicPr>
          <p:nvPr/>
        </p:nvPicPr>
        <p:blipFill>
          <a:blip r:embed="rId7"/>
          <a:stretch>
            <a:fillRect/>
          </a:stretch>
        </p:blipFill>
        <p:spPr>
          <a:xfrm>
            <a:off x="4549140" y="3685032"/>
            <a:ext cx="256032" cy="256032"/>
          </a:xfrm>
          <a:prstGeom prst="rect">
            <a:avLst/>
          </a:prstGeom>
        </p:spPr>
      </p:pic>
      <p:pic>
        <p:nvPicPr>
          <p:cNvPr id="39" name="Picture 38" descr="check_2E7D32.png"/>
          <p:cNvPicPr>
            <a:picLocks noChangeAspect="1"/>
          </p:cNvPicPr>
          <p:nvPr/>
        </p:nvPicPr>
        <p:blipFill>
          <a:blip r:embed="rId7"/>
          <a:stretch>
            <a:fillRect/>
          </a:stretch>
        </p:blipFill>
        <p:spPr>
          <a:xfrm>
            <a:off x="6560820" y="3685032"/>
            <a:ext cx="256032" cy="256032"/>
          </a:xfrm>
          <a:prstGeom prst="rect">
            <a:avLst/>
          </a:prstGeom>
        </p:spPr>
      </p:pic>
      <p:pic>
        <p:nvPicPr>
          <p:cNvPr id="40" name="Picture 39" descr="x_C62828.png"/>
          <p:cNvPicPr>
            <a:picLocks noChangeAspect="1"/>
          </p:cNvPicPr>
          <p:nvPr/>
        </p:nvPicPr>
        <p:blipFill>
          <a:blip r:embed="rId8"/>
          <a:stretch>
            <a:fillRect/>
          </a:stretch>
        </p:blipFill>
        <p:spPr>
          <a:xfrm>
            <a:off x="8572500" y="3685032"/>
            <a:ext cx="256032" cy="256032"/>
          </a:xfrm>
          <a:prstGeom prst="rect">
            <a:avLst/>
          </a:prstGeom>
        </p:spPr>
      </p:pic>
      <p:sp>
        <p:nvSpPr>
          <p:cNvPr id="41" name="Row 1 hl"/>
          <p:cNvSpPr/>
          <p:nvPr/>
        </p:nvSpPr>
        <p:spPr>
          <a:xfrm>
            <a:off x="9738359" y="3639312"/>
            <a:ext cx="1947672" cy="347472"/>
          </a:xfrm>
          <a:prstGeom prst="rect">
            <a:avLst/>
          </a:prstGeom>
          <a:solidFill>
            <a:srgbClr val="DDE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check_2E7D32.png"/>
          <p:cNvPicPr>
            <a:picLocks noChangeAspect="1"/>
          </p:cNvPicPr>
          <p:nvPr/>
        </p:nvPicPr>
        <p:blipFill>
          <a:blip r:embed="rId7"/>
          <a:stretch>
            <a:fillRect/>
          </a:stretch>
        </p:blipFill>
        <p:spPr>
          <a:xfrm>
            <a:off x="10584180" y="3685032"/>
            <a:ext cx="256032" cy="256032"/>
          </a:xfrm>
          <a:prstGeom prst="rect">
            <a:avLst/>
          </a:prstGeom>
        </p:spPr>
      </p:pic>
      <p:sp>
        <p:nvSpPr>
          <p:cNvPr id="43" name="Row 2 bg"/>
          <p:cNvSpPr/>
          <p:nvPr/>
        </p:nvSpPr>
        <p:spPr>
          <a:xfrm>
            <a:off x="457200" y="4023360"/>
            <a:ext cx="11228831"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w 2 label"/>
          <p:cNvSpPr txBox="1"/>
          <p:nvPr/>
        </p:nvSpPr>
        <p:spPr>
          <a:xfrm>
            <a:off x="566928" y="4023360"/>
            <a:ext cx="3108960" cy="347472"/>
          </a:xfrm>
          <a:prstGeom prst="rect">
            <a:avLst/>
          </a:prstGeom>
          <a:noFill/>
        </p:spPr>
        <p:txBody>
          <a:bodyPr wrap="square" lIns="0" rIns="0" tIns="0" bIns="0" anchor="ctr">
            <a:spAutoFit/>
          </a:bodyPr>
          <a:lstStyle/>
          <a:p>
            <a:pPr algn="l"/>
            <a:r>
              <a:rPr sz="1250" b="0" i="0">
                <a:solidFill>
                  <a:srgbClr val="222222"/>
                </a:solidFill>
                <a:latin typeface="Calibri"/>
              </a:rPr>
              <a:t>Scores the receiver's reputation</a:t>
            </a:r>
          </a:p>
        </p:txBody>
      </p:sp>
      <p:pic>
        <p:nvPicPr>
          <p:cNvPr id="45" name="Picture 44" descr="x_C62828.png"/>
          <p:cNvPicPr>
            <a:picLocks noChangeAspect="1"/>
          </p:cNvPicPr>
          <p:nvPr/>
        </p:nvPicPr>
        <p:blipFill>
          <a:blip r:embed="rId8"/>
          <a:stretch>
            <a:fillRect/>
          </a:stretch>
        </p:blipFill>
        <p:spPr>
          <a:xfrm>
            <a:off x="4549140" y="4069080"/>
            <a:ext cx="256032" cy="256032"/>
          </a:xfrm>
          <a:prstGeom prst="rect">
            <a:avLst/>
          </a:prstGeom>
        </p:spPr>
      </p:pic>
      <p:pic>
        <p:nvPicPr>
          <p:cNvPr id="46" name="Picture 45" descr="check_2E7D32.png"/>
          <p:cNvPicPr>
            <a:picLocks noChangeAspect="1"/>
          </p:cNvPicPr>
          <p:nvPr/>
        </p:nvPicPr>
        <p:blipFill>
          <a:blip r:embed="rId7"/>
          <a:stretch>
            <a:fillRect/>
          </a:stretch>
        </p:blipFill>
        <p:spPr>
          <a:xfrm>
            <a:off x="6560820" y="4069080"/>
            <a:ext cx="256032" cy="256032"/>
          </a:xfrm>
          <a:prstGeom prst="rect">
            <a:avLst/>
          </a:prstGeom>
        </p:spPr>
      </p:pic>
      <p:pic>
        <p:nvPicPr>
          <p:cNvPr id="47" name="Picture 46" descr="check_2E7D32.png"/>
          <p:cNvPicPr>
            <a:picLocks noChangeAspect="1"/>
          </p:cNvPicPr>
          <p:nvPr/>
        </p:nvPicPr>
        <p:blipFill>
          <a:blip r:embed="rId7"/>
          <a:stretch>
            <a:fillRect/>
          </a:stretch>
        </p:blipFill>
        <p:spPr>
          <a:xfrm>
            <a:off x="8572500" y="4069080"/>
            <a:ext cx="256032" cy="256032"/>
          </a:xfrm>
          <a:prstGeom prst="rect">
            <a:avLst/>
          </a:prstGeom>
        </p:spPr>
      </p:pic>
      <p:sp>
        <p:nvSpPr>
          <p:cNvPr id="48" name="Row 2 hl"/>
          <p:cNvSpPr/>
          <p:nvPr/>
        </p:nvSpPr>
        <p:spPr>
          <a:xfrm>
            <a:off x="9738359" y="4023360"/>
            <a:ext cx="1947672" cy="347472"/>
          </a:xfrm>
          <a:prstGeom prst="rect">
            <a:avLst/>
          </a:prstGeom>
          <a:solidFill>
            <a:srgbClr val="DDE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check_2E7D32.png"/>
          <p:cNvPicPr>
            <a:picLocks noChangeAspect="1"/>
          </p:cNvPicPr>
          <p:nvPr/>
        </p:nvPicPr>
        <p:blipFill>
          <a:blip r:embed="rId7"/>
          <a:stretch>
            <a:fillRect/>
          </a:stretch>
        </p:blipFill>
        <p:spPr>
          <a:xfrm>
            <a:off x="10584180" y="4069080"/>
            <a:ext cx="256032" cy="256032"/>
          </a:xfrm>
          <a:prstGeom prst="rect">
            <a:avLst/>
          </a:prstGeom>
        </p:spPr>
      </p:pic>
      <p:sp>
        <p:nvSpPr>
          <p:cNvPr id="50" name="Row 3 bg"/>
          <p:cNvSpPr/>
          <p:nvPr/>
        </p:nvSpPr>
        <p:spPr>
          <a:xfrm>
            <a:off x="457200" y="4407408"/>
            <a:ext cx="11228831" cy="347472"/>
          </a:xfrm>
          <a:prstGeom prst="rect">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w 3 label"/>
          <p:cNvSpPr txBox="1"/>
          <p:nvPr/>
        </p:nvSpPr>
        <p:spPr>
          <a:xfrm>
            <a:off x="566928" y="4407408"/>
            <a:ext cx="3108960" cy="347472"/>
          </a:xfrm>
          <a:prstGeom prst="rect">
            <a:avLst/>
          </a:prstGeom>
          <a:noFill/>
        </p:spPr>
        <p:txBody>
          <a:bodyPr wrap="square" lIns="0" rIns="0" tIns="0" bIns="0" anchor="ctr">
            <a:spAutoFit/>
          </a:bodyPr>
          <a:lstStyle/>
          <a:p>
            <a:pPr algn="l"/>
            <a:r>
              <a:rPr sz="1250" b="0" i="0">
                <a:solidFill>
                  <a:srgbClr val="222222"/>
                </a:solidFill>
                <a:latin typeface="Calibri"/>
              </a:rPr>
              <a:t>Reads the live moment: call, device, typing</a:t>
            </a:r>
          </a:p>
        </p:txBody>
      </p:sp>
      <p:pic>
        <p:nvPicPr>
          <p:cNvPr id="52" name="Picture 51" descr="x_C62828.png"/>
          <p:cNvPicPr>
            <a:picLocks noChangeAspect="1"/>
          </p:cNvPicPr>
          <p:nvPr/>
        </p:nvPicPr>
        <p:blipFill>
          <a:blip r:embed="rId8"/>
          <a:stretch>
            <a:fillRect/>
          </a:stretch>
        </p:blipFill>
        <p:spPr>
          <a:xfrm>
            <a:off x="4549140" y="4453128"/>
            <a:ext cx="256032" cy="256032"/>
          </a:xfrm>
          <a:prstGeom prst="rect">
            <a:avLst/>
          </a:prstGeom>
        </p:spPr>
      </p:pic>
      <p:pic>
        <p:nvPicPr>
          <p:cNvPr id="53" name="Picture 52" descr="minus_B25E00.png"/>
          <p:cNvPicPr>
            <a:picLocks noChangeAspect="1"/>
          </p:cNvPicPr>
          <p:nvPr/>
        </p:nvPicPr>
        <p:blipFill>
          <a:blip r:embed="rId9"/>
          <a:stretch>
            <a:fillRect/>
          </a:stretch>
        </p:blipFill>
        <p:spPr>
          <a:xfrm>
            <a:off x="6560820" y="4453128"/>
            <a:ext cx="256032" cy="256032"/>
          </a:xfrm>
          <a:prstGeom prst="rect">
            <a:avLst/>
          </a:prstGeom>
        </p:spPr>
      </p:pic>
      <p:pic>
        <p:nvPicPr>
          <p:cNvPr id="54" name="Picture 53" descr="x_C62828.png"/>
          <p:cNvPicPr>
            <a:picLocks noChangeAspect="1"/>
          </p:cNvPicPr>
          <p:nvPr/>
        </p:nvPicPr>
        <p:blipFill>
          <a:blip r:embed="rId8"/>
          <a:stretch>
            <a:fillRect/>
          </a:stretch>
        </p:blipFill>
        <p:spPr>
          <a:xfrm>
            <a:off x="8572500" y="4453128"/>
            <a:ext cx="256032" cy="256032"/>
          </a:xfrm>
          <a:prstGeom prst="rect">
            <a:avLst/>
          </a:prstGeom>
        </p:spPr>
      </p:pic>
      <p:sp>
        <p:nvSpPr>
          <p:cNvPr id="55" name="Row 3 hl"/>
          <p:cNvSpPr/>
          <p:nvPr/>
        </p:nvSpPr>
        <p:spPr>
          <a:xfrm>
            <a:off x="9738359" y="4407408"/>
            <a:ext cx="1947672" cy="347472"/>
          </a:xfrm>
          <a:prstGeom prst="rect">
            <a:avLst/>
          </a:prstGeom>
          <a:solidFill>
            <a:srgbClr val="DDE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check_2E7D32.png"/>
          <p:cNvPicPr>
            <a:picLocks noChangeAspect="1"/>
          </p:cNvPicPr>
          <p:nvPr/>
        </p:nvPicPr>
        <p:blipFill>
          <a:blip r:embed="rId7"/>
          <a:stretch>
            <a:fillRect/>
          </a:stretch>
        </p:blipFill>
        <p:spPr>
          <a:xfrm>
            <a:off x="10584180" y="4453128"/>
            <a:ext cx="256032" cy="256032"/>
          </a:xfrm>
          <a:prstGeom prst="rect">
            <a:avLst/>
          </a:prstGeom>
        </p:spPr>
      </p:pic>
      <p:sp>
        <p:nvSpPr>
          <p:cNvPr id="57" name="Row 4 bg"/>
          <p:cNvSpPr/>
          <p:nvPr/>
        </p:nvSpPr>
        <p:spPr>
          <a:xfrm>
            <a:off x="457200" y="4791456"/>
            <a:ext cx="11228831"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w 4 label"/>
          <p:cNvSpPr txBox="1"/>
          <p:nvPr/>
        </p:nvSpPr>
        <p:spPr>
          <a:xfrm>
            <a:off x="566928" y="4791456"/>
            <a:ext cx="3108960" cy="347472"/>
          </a:xfrm>
          <a:prstGeom prst="rect">
            <a:avLst/>
          </a:prstGeom>
          <a:noFill/>
        </p:spPr>
        <p:txBody>
          <a:bodyPr wrap="square" lIns="0" rIns="0" tIns="0" bIns="0" anchor="ctr">
            <a:spAutoFit/>
          </a:bodyPr>
          <a:lstStyle/>
          <a:p>
            <a:pPr algn="l"/>
            <a:r>
              <a:rPr sz="1250" b="0" i="0">
                <a:solidFill>
                  <a:srgbClr val="222222"/>
                </a:solidFill>
                <a:latin typeface="Calibri"/>
              </a:rPr>
              <a:t>Explains the decision to the user</a:t>
            </a:r>
          </a:p>
        </p:txBody>
      </p:sp>
      <p:pic>
        <p:nvPicPr>
          <p:cNvPr id="59" name="Picture 58" descr="x_C62828.png"/>
          <p:cNvPicPr>
            <a:picLocks noChangeAspect="1"/>
          </p:cNvPicPr>
          <p:nvPr/>
        </p:nvPicPr>
        <p:blipFill>
          <a:blip r:embed="rId8"/>
          <a:stretch>
            <a:fillRect/>
          </a:stretch>
        </p:blipFill>
        <p:spPr>
          <a:xfrm>
            <a:off x="4549140" y="4837176"/>
            <a:ext cx="256032" cy="256032"/>
          </a:xfrm>
          <a:prstGeom prst="rect">
            <a:avLst/>
          </a:prstGeom>
        </p:spPr>
      </p:pic>
      <p:pic>
        <p:nvPicPr>
          <p:cNvPr id="60" name="Picture 59" descr="x_C62828.png"/>
          <p:cNvPicPr>
            <a:picLocks noChangeAspect="1"/>
          </p:cNvPicPr>
          <p:nvPr/>
        </p:nvPicPr>
        <p:blipFill>
          <a:blip r:embed="rId8"/>
          <a:stretch>
            <a:fillRect/>
          </a:stretch>
        </p:blipFill>
        <p:spPr>
          <a:xfrm>
            <a:off x="6560820" y="4837176"/>
            <a:ext cx="256032" cy="256032"/>
          </a:xfrm>
          <a:prstGeom prst="rect">
            <a:avLst/>
          </a:prstGeom>
        </p:spPr>
      </p:pic>
      <p:pic>
        <p:nvPicPr>
          <p:cNvPr id="61" name="Picture 60" descr="x_C62828.png"/>
          <p:cNvPicPr>
            <a:picLocks noChangeAspect="1"/>
          </p:cNvPicPr>
          <p:nvPr/>
        </p:nvPicPr>
        <p:blipFill>
          <a:blip r:embed="rId8"/>
          <a:stretch>
            <a:fillRect/>
          </a:stretch>
        </p:blipFill>
        <p:spPr>
          <a:xfrm>
            <a:off x="8572500" y="4837176"/>
            <a:ext cx="256032" cy="256032"/>
          </a:xfrm>
          <a:prstGeom prst="rect">
            <a:avLst/>
          </a:prstGeom>
        </p:spPr>
      </p:pic>
      <p:sp>
        <p:nvSpPr>
          <p:cNvPr id="62" name="Row 4 hl"/>
          <p:cNvSpPr/>
          <p:nvPr/>
        </p:nvSpPr>
        <p:spPr>
          <a:xfrm>
            <a:off x="9738359" y="4791456"/>
            <a:ext cx="1947672" cy="347472"/>
          </a:xfrm>
          <a:prstGeom prst="rect">
            <a:avLst/>
          </a:prstGeom>
          <a:solidFill>
            <a:srgbClr val="DDE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check_2E7D32.png"/>
          <p:cNvPicPr>
            <a:picLocks noChangeAspect="1"/>
          </p:cNvPicPr>
          <p:nvPr/>
        </p:nvPicPr>
        <p:blipFill>
          <a:blip r:embed="rId7"/>
          <a:stretch>
            <a:fillRect/>
          </a:stretch>
        </p:blipFill>
        <p:spPr>
          <a:xfrm>
            <a:off x="10584180" y="4837176"/>
            <a:ext cx="256032" cy="256032"/>
          </a:xfrm>
          <a:prstGeom prst="rect">
            <a:avLst/>
          </a:prstGeom>
        </p:spPr>
      </p:pic>
      <p:sp>
        <p:nvSpPr>
          <p:cNvPr id="64" name="Row 5 bg"/>
          <p:cNvSpPr/>
          <p:nvPr/>
        </p:nvSpPr>
        <p:spPr>
          <a:xfrm>
            <a:off x="457200" y="5175504"/>
            <a:ext cx="11228831" cy="347472"/>
          </a:xfrm>
          <a:prstGeom prst="rect">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w 5 label"/>
          <p:cNvSpPr txBox="1"/>
          <p:nvPr/>
        </p:nvSpPr>
        <p:spPr>
          <a:xfrm>
            <a:off x="566928" y="5175504"/>
            <a:ext cx="3108960" cy="347472"/>
          </a:xfrm>
          <a:prstGeom prst="rect">
            <a:avLst/>
          </a:prstGeom>
          <a:noFill/>
        </p:spPr>
        <p:txBody>
          <a:bodyPr wrap="square" lIns="0" rIns="0" tIns="0" bIns="0" anchor="ctr">
            <a:spAutoFit/>
          </a:bodyPr>
          <a:lstStyle/>
          <a:p>
            <a:pPr algn="l"/>
            <a:r>
              <a:rPr sz="1250" b="0" i="0">
                <a:solidFill>
                  <a:srgbClr val="222222"/>
                </a:solidFill>
                <a:latin typeface="Calibri"/>
              </a:rPr>
              <a:t>Picks the right challenge for the risk</a:t>
            </a:r>
          </a:p>
        </p:txBody>
      </p:sp>
      <p:pic>
        <p:nvPicPr>
          <p:cNvPr id="66" name="Picture 65" descr="x_C62828.png"/>
          <p:cNvPicPr>
            <a:picLocks noChangeAspect="1"/>
          </p:cNvPicPr>
          <p:nvPr/>
        </p:nvPicPr>
        <p:blipFill>
          <a:blip r:embed="rId8"/>
          <a:stretch>
            <a:fillRect/>
          </a:stretch>
        </p:blipFill>
        <p:spPr>
          <a:xfrm>
            <a:off x="4549140" y="5221224"/>
            <a:ext cx="256032" cy="256032"/>
          </a:xfrm>
          <a:prstGeom prst="rect">
            <a:avLst/>
          </a:prstGeom>
        </p:spPr>
      </p:pic>
      <p:pic>
        <p:nvPicPr>
          <p:cNvPr id="67" name="Picture 66" descr="x_C62828.png"/>
          <p:cNvPicPr>
            <a:picLocks noChangeAspect="1"/>
          </p:cNvPicPr>
          <p:nvPr/>
        </p:nvPicPr>
        <p:blipFill>
          <a:blip r:embed="rId8"/>
          <a:stretch>
            <a:fillRect/>
          </a:stretch>
        </p:blipFill>
        <p:spPr>
          <a:xfrm>
            <a:off x="6560820" y="5221224"/>
            <a:ext cx="256032" cy="256032"/>
          </a:xfrm>
          <a:prstGeom prst="rect">
            <a:avLst/>
          </a:prstGeom>
        </p:spPr>
      </p:pic>
      <p:pic>
        <p:nvPicPr>
          <p:cNvPr id="68" name="Picture 67" descr="x_C62828.png"/>
          <p:cNvPicPr>
            <a:picLocks noChangeAspect="1"/>
          </p:cNvPicPr>
          <p:nvPr/>
        </p:nvPicPr>
        <p:blipFill>
          <a:blip r:embed="rId8"/>
          <a:stretch>
            <a:fillRect/>
          </a:stretch>
        </p:blipFill>
        <p:spPr>
          <a:xfrm>
            <a:off x="8572500" y="5221224"/>
            <a:ext cx="256032" cy="256032"/>
          </a:xfrm>
          <a:prstGeom prst="rect">
            <a:avLst/>
          </a:prstGeom>
        </p:spPr>
      </p:pic>
      <p:sp>
        <p:nvSpPr>
          <p:cNvPr id="69" name="Row 5 hl"/>
          <p:cNvSpPr/>
          <p:nvPr/>
        </p:nvSpPr>
        <p:spPr>
          <a:xfrm>
            <a:off x="9738359" y="5175504"/>
            <a:ext cx="1947672" cy="347472"/>
          </a:xfrm>
          <a:prstGeom prst="rect">
            <a:avLst/>
          </a:prstGeom>
          <a:solidFill>
            <a:srgbClr val="DDE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check_2E7D32.png"/>
          <p:cNvPicPr>
            <a:picLocks noChangeAspect="1"/>
          </p:cNvPicPr>
          <p:nvPr/>
        </p:nvPicPr>
        <p:blipFill>
          <a:blip r:embed="rId7"/>
          <a:stretch>
            <a:fillRect/>
          </a:stretch>
        </p:blipFill>
        <p:spPr>
          <a:xfrm>
            <a:off x="10584180" y="5221224"/>
            <a:ext cx="256032" cy="256032"/>
          </a:xfrm>
          <a:prstGeom prst="rect">
            <a:avLst/>
          </a:prstGeom>
        </p:spPr>
      </p:pic>
      <p:sp>
        <p:nvSpPr>
          <p:cNvPr id="71" name="Row 6 bg"/>
          <p:cNvSpPr/>
          <p:nvPr/>
        </p:nvSpPr>
        <p:spPr>
          <a:xfrm>
            <a:off x="457200" y="5559552"/>
            <a:ext cx="11228831"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w 6 label"/>
          <p:cNvSpPr txBox="1"/>
          <p:nvPr/>
        </p:nvSpPr>
        <p:spPr>
          <a:xfrm>
            <a:off x="566928" y="5559552"/>
            <a:ext cx="3108960" cy="347472"/>
          </a:xfrm>
          <a:prstGeom prst="rect">
            <a:avLst/>
          </a:prstGeom>
          <a:noFill/>
        </p:spPr>
        <p:txBody>
          <a:bodyPr wrap="square" lIns="0" rIns="0" tIns="0" bIns="0" anchor="ctr">
            <a:spAutoFit/>
          </a:bodyPr>
          <a:lstStyle/>
          <a:p>
            <a:pPr algn="l"/>
            <a:r>
              <a:rPr sz="1250" b="0" i="0">
                <a:solidFill>
                  <a:srgbClr val="222222"/>
                </a:solidFill>
                <a:latin typeface="Calibri"/>
              </a:rPr>
              <a:t>Affordable for small banks &amp; apps</a:t>
            </a:r>
          </a:p>
        </p:txBody>
      </p:sp>
      <p:pic>
        <p:nvPicPr>
          <p:cNvPr id="73" name="Picture 72" descr="check_2E7D32.png"/>
          <p:cNvPicPr>
            <a:picLocks noChangeAspect="1"/>
          </p:cNvPicPr>
          <p:nvPr/>
        </p:nvPicPr>
        <p:blipFill>
          <a:blip r:embed="rId7"/>
          <a:stretch>
            <a:fillRect/>
          </a:stretch>
        </p:blipFill>
        <p:spPr>
          <a:xfrm>
            <a:off x="4549140" y="5605272"/>
            <a:ext cx="256032" cy="256032"/>
          </a:xfrm>
          <a:prstGeom prst="rect">
            <a:avLst/>
          </a:prstGeom>
        </p:spPr>
      </p:pic>
      <p:pic>
        <p:nvPicPr>
          <p:cNvPr id="74" name="Picture 73" descr="x_C62828.png"/>
          <p:cNvPicPr>
            <a:picLocks noChangeAspect="1"/>
          </p:cNvPicPr>
          <p:nvPr/>
        </p:nvPicPr>
        <p:blipFill>
          <a:blip r:embed="rId8"/>
          <a:stretch>
            <a:fillRect/>
          </a:stretch>
        </p:blipFill>
        <p:spPr>
          <a:xfrm>
            <a:off x="6560820" y="5605272"/>
            <a:ext cx="256032" cy="256032"/>
          </a:xfrm>
          <a:prstGeom prst="rect">
            <a:avLst/>
          </a:prstGeom>
        </p:spPr>
      </p:pic>
      <p:pic>
        <p:nvPicPr>
          <p:cNvPr id="75" name="Picture 74" descr="check_2E7D32.png"/>
          <p:cNvPicPr>
            <a:picLocks noChangeAspect="1"/>
          </p:cNvPicPr>
          <p:nvPr/>
        </p:nvPicPr>
        <p:blipFill>
          <a:blip r:embed="rId7"/>
          <a:stretch>
            <a:fillRect/>
          </a:stretch>
        </p:blipFill>
        <p:spPr>
          <a:xfrm>
            <a:off x="8572500" y="5605272"/>
            <a:ext cx="256032" cy="256032"/>
          </a:xfrm>
          <a:prstGeom prst="rect">
            <a:avLst/>
          </a:prstGeom>
        </p:spPr>
      </p:pic>
      <p:sp>
        <p:nvSpPr>
          <p:cNvPr id="76" name="Row 6 hl"/>
          <p:cNvSpPr/>
          <p:nvPr/>
        </p:nvSpPr>
        <p:spPr>
          <a:xfrm>
            <a:off x="9738359" y="5559552"/>
            <a:ext cx="1947672" cy="347472"/>
          </a:xfrm>
          <a:prstGeom prst="rect">
            <a:avLst/>
          </a:prstGeom>
          <a:solidFill>
            <a:srgbClr val="DDE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7" name="Picture 76" descr="check_2E7D32.png"/>
          <p:cNvPicPr>
            <a:picLocks noChangeAspect="1"/>
          </p:cNvPicPr>
          <p:nvPr/>
        </p:nvPicPr>
        <p:blipFill>
          <a:blip r:embed="rId7"/>
          <a:stretch>
            <a:fillRect/>
          </a:stretch>
        </p:blipFill>
        <p:spPr>
          <a:xfrm>
            <a:off x="10584180" y="5605272"/>
            <a:ext cx="256032" cy="256032"/>
          </a:xfrm>
          <a:prstGeom prst="rect">
            <a:avLst/>
          </a:prstGeom>
        </p:spPr>
      </p:pic>
      <p:pic>
        <p:nvPicPr>
          <p:cNvPr id="78" name="Picture 77" descr="check_2E7D32.png"/>
          <p:cNvPicPr>
            <a:picLocks noChangeAspect="1"/>
          </p:cNvPicPr>
          <p:nvPr/>
        </p:nvPicPr>
        <p:blipFill>
          <a:blip r:embed="rId7"/>
          <a:stretch>
            <a:fillRect/>
          </a:stretch>
        </p:blipFill>
        <p:spPr>
          <a:xfrm>
            <a:off x="566928" y="5989320"/>
            <a:ext cx="182880" cy="182880"/>
          </a:xfrm>
          <a:prstGeom prst="rect">
            <a:avLst/>
          </a:prstGeom>
        </p:spPr>
      </p:pic>
      <p:sp>
        <p:nvSpPr>
          <p:cNvPr id="79" name="Legend yes"/>
          <p:cNvSpPr txBox="1"/>
          <p:nvPr/>
        </p:nvSpPr>
        <p:spPr>
          <a:xfrm>
            <a:off x="786384" y="5961888"/>
            <a:ext cx="640080" cy="237744"/>
          </a:xfrm>
          <a:prstGeom prst="rect">
            <a:avLst/>
          </a:prstGeom>
          <a:noFill/>
        </p:spPr>
        <p:txBody>
          <a:bodyPr wrap="square" lIns="0" rIns="0" tIns="0" bIns="0" anchor="t">
            <a:spAutoFit/>
          </a:bodyPr>
          <a:lstStyle/>
          <a:p>
            <a:pPr algn="l"/>
            <a:r>
              <a:rPr sz="1000" b="0" i="0">
                <a:solidFill>
                  <a:srgbClr val="5A6275"/>
                </a:solidFill>
                <a:latin typeface="Calibri"/>
              </a:rPr>
              <a:t>yes</a:t>
            </a:r>
          </a:p>
        </p:txBody>
      </p:sp>
      <p:pic>
        <p:nvPicPr>
          <p:cNvPr id="80" name="Picture 79" descr="minus_B25E00.png"/>
          <p:cNvPicPr>
            <a:picLocks noChangeAspect="1"/>
          </p:cNvPicPr>
          <p:nvPr/>
        </p:nvPicPr>
        <p:blipFill>
          <a:blip r:embed="rId9"/>
          <a:stretch>
            <a:fillRect/>
          </a:stretch>
        </p:blipFill>
        <p:spPr>
          <a:xfrm>
            <a:off x="1435607" y="5989320"/>
            <a:ext cx="182880" cy="182880"/>
          </a:xfrm>
          <a:prstGeom prst="rect">
            <a:avLst/>
          </a:prstGeom>
        </p:spPr>
      </p:pic>
      <p:sp>
        <p:nvSpPr>
          <p:cNvPr id="81" name="Legend partly"/>
          <p:cNvSpPr txBox="1"/>
          <p:nvPr/>
        </p:nvSpPr>
        <p:spPr>
          <a:xfrm>
            <a:off x="1655063" y="5961888"/>
            <a:ext cx="640080" cy="237744"/>
          </a:xfrm>
          <a:prstGeom prst="rect">
            <a:avLst/>
          </a:prstGeom>
          <a:noFill/>
        </p:spPr>
        <p:txBody>
          <a:bodyPr wrap="square" lIns="0" rIns="0" tIns="0" bIns="0" anchor="t">
            <a:spAutoFit/>
          </a:bodyPr>
          <a:lstStyle/>
          <a:p>
            <a:pPr algn="l"/>
            <a:r>
              <a:rPr sz="1000" b="0" i="0">
                <a:solidFill>
                  <a:srgbClr val="5A6275"/>
                </a:solidFill>
                <a:latin typeface="Calibri"/>
              </a:rPr>
              <a:t>partly</a:t>
            </a:r>
          </a:p>
        </p:txBody>
      </p:sp>
      <p:pic>
        <p:nvPicPr>
          <p:cNvPr id="82" name="Picture 81" descr="x_C62828.png"/>
          <p:cNvPicPr>
            <a:picLocks noChangeAspect="1"/>
          </p:cNvPicPr>
          <p:nvPr/>
        </p:nvPicPr>
        <p:blipFill>
          <a:blip r:embed="rId8"/>
          <a:stretch>
            <a:fillRect/>
          </a:stretch>
        </p:blipFill>
        <p:spPr>
          <a:xfrm>
            <a:off x="2304287" y="5989320"/>
            <a:ext cx="182880" cy="182880"/>
          </a:xfrm>
          <a:prstGeom prst="rect">
            <a:avLst/>
          </a:prstGeom>
        </p:spPr>
      </p:pic>
      <p:sp>
        <p:nvSpPr>
          <p:cNvPr id="83" name="Legend no"/>
          <p:cNvSpPr txBox="1"/>
          <p:nvPr/>
        </p:nvSpPr>
        <p:spPr>
          <a:xfrm>
            <a:off x="2523744" y="5961888"/>
            <a:ext cx="640080" cy="237744"/>
          </a:xfrm>
          <a:prstGeom prst="rect">
            <a:avLst/>
          </a:prstGeom>
          <a:noFill/>
        </p:spPr>
        <p:txBody>
          <a:bodyPr wrap="square" lIns="0" rIns="0" tIns="0" bIns="0" anchor="t">
            <a:spAutoFit/>
          </a:bodyPr>
          <a:lstStyle/>
          <a:p>
            <a:pPr algn="l"/>
            <a:r>
              <a:rPr sz="1000" b="0" i="0">
                <a:solidFill>
                  <a:srgbClr val="5A6275"/>
                </a:solidFill>
                <a:latin typeface="Calibri"/>
              </a:rPr>
              <a:t>no</a:t>
            </a:r>
          </a:p>
        </p:txBody>
      </p:sp>
      <p:sp>
        <p:nvSpPr>
          <p:cNvPr id="84" name="Gap statement"/>
          <p:cNvSpPr/>
          <p:nvPr/>
        </p:nvSpPr>
        <p:spPr>
          <a:xfrm>
            <a:off x="3246120" y="5943600"/>
            <a:ext cx="8503920" cy="548640"/>
          </a:xfrm>
          <a:prstGeom prst="roundRect">
            <a:avLst>
              <a:gd name="adj" fmla="val 2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15214" bIns="115214"/>
          <a:lstStyle/>
          <a:p>
            <a:pPr algn="l"/>
            <a:r>
              <a:rPr sz="1350" b="1" i="0">
                <a:solidFill>
                  <a:srgbClr val="CADCFC"/>
                </a:solidFill>
                <a:latin typeface="Cambria"/>
              </a:rPr>
              <a:t>The gap: </a:t>
            </a:r>
            <a:r>
              <a:rPr sz="1300" b="0" i="0">
                <a:solidFill>
                  <a:srgbClr val="FFFFFF"/>
                </a:solidFill>
                <a:latin typeface="Calibri"/>
              </a:rPr>
              <a:t>nothing lightweight reads the moment and answers with an explained, right-sized challenge.</a:t>
            </a:r>
          </a:p>
        </p:txBody>
      </p:sp>
      <p:sp>
        <p:nvSpPr>
          <p:cNvPr id="85" name="Sources"/>
          <p:cNvSpPr txBox="1"/>
          <p:nvPr/>
        </p:nvSpPr>
        <p:spPr>
          <a:xfrm>
            <a:off x="457200" y="6528816"/>
            <a:ext cx="11292840" cy="274320"/>
          </a:xfrm>
          <a:prstGeom prst="rect">
            <a:avLst/>
          </a:prstGeom>
          <a:noFill/>
        </p:spPr>
        <p:txBody>
          <a:bodyPr wrap="square" lIns="0" rIns="0" tIns="0" bIns="0" anchor="t">
            <a:spAutoFit/>
          </a:bodyPr>
          <a:lstStyle/>
          <a:p>
            <a:pPr algn="just"/>
            <a:r>
              <a:rPr sz="900" b="0" i="1">
                <a:solidFill>
                  <a:srgbClr val="5A6275"/>
                </a:solidFill>
                <a:latin typeface="Calibri"/>
              </a:rPr>
              <a:t>Sources: RBI (25 Sep 2025, 9 Apr 2026); Stripe Radar, Sift, BioCatch docs; NPCI FRM; DoT FRI; MuleHunter.AI. Links: repo › docs/02-research/prior-art.md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Pramaan: a PIN checks who you are. We check what's happening, before every payment.</a:t>
            </a:r>
            <a:endParaRPr lang="en-US" sz="2000" dirty="0"/>
          </a:p>
        </p:txBody>
      </p:sp>
      <p:sp>
        <p:nvSpPr>
          <p:cNvPr id="13" name="Text 1">
            <a:extLst>
              <a:ext uri="{FF2B5EF4-FFF2-40B4-BE49-F238E27FC236}">
                <a16:creationId xmlns:a16="http://schemas.microsoft.com/office/drawing/2014/main" id="{80560093-520F-F5AF-E515-D345B911F19E}"/>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3 OF 5</a:t>
            </a:r>
            <a:endParaRPr lang="en-US" sz="1200" dirty="0"/>
          </a:p>
        </p:txBody>
      </p:sp>
      <p:sp>
        <p:nvSpPr>
          <p:cNvPr id="15" name="Text 2">
            <a:extLst>
              <a:ext uri="{FF2B5EF4-FFF2-40B4-BE49-F238E27FC236}">
                <a16:creationId xmlns:a16="http://schemas.microsoft.com/office/drawing/2014/main" id="{E4DA8332-A739-9AE8-00E2-0E55CEF5D70C}"/>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Proposed Solution</a:t>
            </a:r>
            <a:endParaRPr lang="en-US" sz="2800" dirty="0"/>
          </a:p>
        </p:txBody>
      </p:sp>
      <p:sp>
        <p:nvSpPr>
          <p:cNvPr id="16" name="Build label"/>
          <p:cNvSpPr txBox="1"/>
          <p:nvPr/>
        </p:nvSpPr>
        <p:spPr>
          <a:xfrm>
            <a:off x="457200" y="2560320"/>
            <a:ext cx="5257800" cy="274320"/>
          </a:xfrm>
          <a:prstGeom prst="rect">
            <a:avLst/>
          </a:prstGeom>
          <a:noFill/>
        </p:spPr>
        <p:txBody>
          <a:bodyPr wrap="square" lIns="0" rIns="0" tIns="0" bIns="0" anchor="t">
            <a:spAutoFit/>
          </a:bodyPr>
          <a:lstStyle/>
          <a:p>
            <a:pPr algn="l"/>
            <a:r>
              <a:rPr sz="1100" b="1" i="0">
                <a:solidFill>
                  <a:srgbClr val="1E2761"/>
                </a:solidFill>
                <a:latin typeface="Calibri"/>
              </a:rPr>
              <a:t>WHAT WE BUILD: A RISK CHECK BEFORE THE PIN</a:t>
            </a:r>
          </a:p>
        </p:txBody>
      </p:sp>
      <p:sp>
        <p:nvSpPr>
          <p:cNvPr id="17" name="Flow 1"/>
          <p:cNvSpPr/>
          <p:nvPr/>
        </p:nvSpPr>
        <p:spPr>
          <a:xfrm>
            <a:off x="457200" y="2852928"/>
            <a:ext cx="1508760" cy="1097280"/>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18" name="Badge phone"/>
          <p:cNvSpPr/>
          <p:nvPr/>
        </p:nvSpPr>
        <p:spPr>
          <a:xfrm>
            <a:off x="941832" y="2926080"/>
            <a:ext cx="548640" cy="5486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phone_FFFFFF.png"/>
          <p:cNvPicPr>
            <a:picLocks noChangeAspect="1"/>
          </p:cNvPicPr>
          <p:nvPr/>
        </p:nvPicPr>
        <p:blipFill>
          <a:blip r:embed="rId3"/>
          <a:stretch>
            <a:fillRect/>
          </a:stretch>
        </p:blipFill>
        <p:spPr>
          <a:xfrm>
            <a:off x="1062532" y="3046780"/>
            <a:ext cx="307238" cy="307238"/>
          </a:xfrm>
          <a:prstGeom prst="rect">
            <a:avLst/>
          </a:prstGeom>
        </p:spPr>
      </p:pic>
      <p:sp>
        <p:nvSpPr>
          <p:cNvPr id="20" name="Flow 1 text"/>
          <p:cNvSpPr txBox="1"/>
          <p:nvPr/>
        </p:nvSpPr>
        <p:spPr>
          <a:xfrm>
            <a:off x="512064" y="3511296"/>
            <a:ext cx="1399032" cy="411480"/>
          </a:xfrm>
          <a:prstGeom prst="rect">
            <a:avLst/>
          </a:prstGeom>
          <a:noFill/>
        </p:spPr>
        <p:txBody>
          <a:bodyPr wrap="square" lIns="0" rIns="0" tIns="0" bIns="0" anchor="t">
            <a:spAutoFit/>
          </a:bodyPr>
          <a:lstStyle/>
          <a:p>
            <a:pPr algn="ctr"/>
            <a:r>
              <a:rPr sz="1150" b="1" i="0">
                <a:solidFill>
                  <a:srgbClr val="222222"/>
                </a:solidFill>
                <a:latin typeface="Calibri"/>
              </a:rPr>
              <a:t>Bank / UPI app calls us</a:t>
            </a:r>
          </a:p>
        </p:txBody>
      </p:sp>
      <p:cxnSp>
        <p:nvCxnSpPr>
          <p:cNvPr id="21" name="Flow arrow 1"/>
          <p:cNvCxnSpPr/>
          <p:nvPr/>
        </p:nvCxnSpPr>
        <p:spPr>
          <a:xfrm>
            <a:off x="1984248" y="3401568"/>
            <a:ext cx="329184"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Flow 2"/>
          <p:cNvSpPr/>
          <p:nvPr/>
        </p:nvSpPr>
        <p:spPr>
          <a:xfrm>
            <a:off x="2331720" y="2852928"/>
            <a:ext cx="1508760" cy="1097280"/>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23" name="Badge shield"/>
          <p:cNvSpPr/>
          <p:nvPr/>
        </p:nvSpPr>
        <p:spPr>
          <a:xfrm>
            <a:off x="2816352" y="2926080"/>
            <a:ext cx="548640" cy="5486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shield_FFFFFF.png"/>
          <p:cNvPicPr>
            <a:picLocks noChangeAspect="1"/>
          </p:cNvPicPr>
          <p:nvPr/>
        </p:nvPicPr>
        <p:blipFill>
          <a:blip r:embed="rId4"/>
          <a:stretch>
            <a:fillRect/>
          </a:stretch>
        </p:blipFill>
        <p:spPr>
          <a:xfrm>
            <a:off x="2937052" y="3046780"/>
            <a:ext cx="307238" cy="307238"/>
          </a:xfrm>
          <a:prstGeom prst="rect">
            <a:avLst/>
          </a:prstGeom>
        </p:spPr>
      </p:pic>
      <p:sp>
        <p:nvSpPr>
          <p:cNvPr id="25" name="Flow 2 text"/>
          <p:cNvSpPr txBox="1"/>
          <p:nvPr/>
        </p:nvSpPr>
        <p:spPr>
          <a:xfrm>
            <a:off x="2386584" y="3511296"/>
            <a:ext cx="1399032" cy="411480"/>
          </a:xfrm>
          <a:prstGeom prst="rect">
            <a:avLst/>
          </a:prstGeom>
          <a:noFill/>
        </p:spPr>
        <p:txBody>
          <a:bodyPr wrap="square" lIns="0" rIns="0" tIns="0" bIns="0" anchor="t">
            <a:spAutoFit/>
          </a:bodyPr>
          <a:lstStyle/>
          <a:p>
            <a:pPr algn="ctr"/>
            <a:r>
              <a:rPr sz="1150" b="1" i="0">
                <a:solidFill>
                  <a:srgbClr val="222222"/>
                </a:solidFill>
                <a:latin typeface="Calibri"/>
              </a:rPr>
              <a:t>Scores 20+ live signals</a:t>
            </a:r>
          </a:p>
        </p:txBody>
      </p:sp>
      <p:cxnSp>
        <p:nvCxnSpPr>
          <p:cNvPr id="26" name="Flow arrow 2"/>
          <p:cNvCxnSpPr/>
          <p:nvPr/>
        </p:nvCxnSpPr>
        <p:spPr>
          <a:xfrm>
            <a:off x="3858768" y="3401568"/>
            <a:ext cx="329184"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Flow 3"/>
          <p:cNvSpPr/>
          <p:nvPr/>
        </p:nvSpPr>
        <p:spPr>
          <a:xfrm>
            <a:off x="4206240" y="2852928"/>
            <a:ext cx="1508760" cy="1097280"/>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28" name="Badge zap"/>
          <p:cNvSpPr/>
          <p:nvPr/>
        </p:nvSpPr>
        <p:spPr>
          <a:xfrm>
            <a:off x="469087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zap_FFFFFF.png"/>
          <p:cNvPicPr>
            <a:picLocks noChangeAspect="1"/>
          </p:cNvPicPr>
          <p:nvPr/>
        </p:nvPicPr>
        <p:blipFill>
          <a:blip r:embed="rId5"/>
          <a:stretch>
            <a:fillRect/>
          </a:stretch>
        </p:blipFill>
        <p:spPr>
          <a:xfrm>
            <a:off x="4811572" y="3046780"/>
            <a:ext cx="307238" cy="307238"/>
          </a:xfrm>
          <a:prstGeom prst="rect">
            <a:avLst/>
          </a:prstGeom>
        </p:spPr>
      </p:pic>
      <p:sp>
        <p:nvSpPr>
          <p:cNvPr id="30" name="Flow 3 text"/>
          <p:cNvSpPr txBox="1"/>
          <p:nvPr/>
        </p:nvSpPr>
        <p:spPr>
          <a:xfrm>
            <a:off x="4261103" y="3511296"/>
            <a:ext cx="1399032" cy="411480"/>
          </a:xfrm>
          <a:prstGeom prst="rect">
            <a:avLst/>
          </a:prstGeom>
          <a:noFill/>
        </p:spPr>
        <p:txBody>
          <a:bodyPr wrap="square" lIns="0" rIns="0" tIns="0" bIns="0" anchor="t">
            <a:spAutoFit/>
          </a:bodyPr>
          <a:lstStyle/>
          <a:p>
            <a:pPr algn="ctr"/>
            <a:r>
              <a:rPr sz="1150" b="1" i="0">
                <a:solidFill>
                  <a:srgbClr val="222222"/>
                </a:solidFill>
                <a:latin typeface="Calibri"/>
              </a:rPr>
              <a:t>Decision in ~40 ms</a:t>
            </a:r>
          </a:p>
        </p:txBody>
      </p:sp>
      <p:sp>
        <p:nvSpPr>
          <p:cNvPr id="31" name="Diff label"/>
          <p:cNvSpPr txBox="1"/>
          <p:nvPr/>
        </p:nvSpPr>
        <p:spPr>
          <a:xfrm>
            <a:off x="457200" y="4096512"/>
            <a:ext cx="5257800" cy="274320"/>
          </a:xfrm>
          <a:prstGeom prst="rect">
            <a:avLst/>
          </a:prstGeom>
          <a:noFill/>
        </p:spPr>
        <p:txBody>
          <a:bodyPr wrap="square" lIns="0" rIns="0" tIns="0" bIns="0" anchor="t">
            <a:spAutoFit/>
          </a:bodyPr>
          <a:lstStyle/>
          <a:p>
            <a:pPr algn="l"/>
            <a:r>
              <a:rPr sz="1100" b="1" i="0">
                <a:solidFill>
                  <a:srgbClr val="1E2761"/>
                </a:solidFill>
                <a:latin typeface="Calibri"/>
              </a:rPr>
              <a:t>WHY IT'S DIFFERENT</a:t>
            </a:r>
          </a:p>
        </p:txBody>
      </p:sp>
      <p:sp>
        <p:nvSpPr>
          <p:cNvPr id="32" name="Badge user"/>
          <p:cNvSpPr/>
          <p:nvPr/>
        </p:nvSpPr>
        <p:spPr>
          <a:xfrm>
            <a:off x="457200" y="4389120"/>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user_FFFFFF.png"/>
          <p:cNvPicPr>
            <a:picLocks noChangeAspect="1"/>
          </p:cNvPicPr>
          <p:nvPr/>
        </p:nvPicPr>
        <p:blipFill>
          <a:blip r:embed="rId6"/>
          <a:stretch>
            <a:fillRect/>
          </a:stretch>
        </p:blipFill>
        <p:spPr>
          <a:xfrm>
            <a:off x="541690" y="4473610"/>
            <a:ext cx="215066" cy="215066"/>
          </a:xfrm>
          <a:prstGeom prst="rect">
            <a:avLst/>
          </a:prstGeom>
        </p:spPr>
      </p:pic>
      <p:sp>
        <p:nvSpPr>
          <p:cNvPr id="34" name="Diff 1"/>
          <p:cNvSpPr txBox="1"/>
          <p:nvPr/>
        </p:nvSpPr>
        <p:spPr>
          <a:xfrm>
            <a:off x="960120" y="4389120"/>
            <a:ext cx="4754880" cy="384048"/>
          </a:xfrm>
          <a:prstGeom prst="rect">
            <a:avLst/>
          </a:prstGeom>
          <a:noFill/>
        </p:spPr>
        <p:txBody>
          <a:bodyPr wrap="square" lIns="0" rIns="0" tIns="0" bIns="0" anchor="ctr">
            <a:spAutoFit/>
          </a:bodyPr>
          <a:lstStyle/>
          <a:p>
            <a:pPr algn="l"/>
            <a:r>
              <a:rPr sz="1300" b="0" i="0">
                <a:solidFill>
                  <a:srgbClr val="222222"/>
                </a:solidFill>
                <a:latin typeface="Calibri"/>
              </a:rPr>
              <a:t>Judged against each user's own habits</a:t>
            </a:r>
          </a:p>
        </p:txBody>
      </p:sp>
      <p:sp>
        <p:nvSpPr>
          <p:cNvPr id="35" name="Badge rupee"/>
          <p:cNvSpPr/>
          <p:nvPr/>
        </p:nvSpPr>
        <p:spPr>
          <a:xfrm>
            <a:off x="457200" y="4864608"/>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rupee_FFFFFF.png"/>
          <p:cNvPicPr>
            <a:picLocks noChangeAspect="1"/>
          </p:cNvPicPr>
          <p:nvPr/>
        </p:nvPicPr>
        <p:blipFill>
          <a:blip r:embed="rId7"/>
          <a:stretch>
            <a:fillRect/>
          </a:stretch>
        </p:blipFill>
        <p:spPr>
          <a:xfrm>
            <a:off x="541690" y="4949098"/>
            <a:ext cx="215066" cy="215066"/>
          </a:xfrm>
          <a:prstGeom prst="rect">
            <a:avLst/>
          </a:prstGeom>
        </p:spPr>
      </p:pic>
      <p:sp>
        <p:nvSpPr>
          <p:cNvPr id="37" name="Diff 2"/>
          <p:cNvSpPr txBox="1"/>
          <p:nvPr/>
        </p:nvSpPr>
        <p:spPr>
          <a:xfrm>
            <a:off x="960120" y="4864608"/>
            <a:ext cx="4754880" cy="384048"/>
          </a:xfrm>
          <a:prstGeom prst="rect">
            <a:avLst/>
          </a:prstGeom>
          <a:noFill/>
        </p:spPr>
        <p:txBody>
          <a:bodyPr wrap="square" lIns="0" rIns="0" tIns="0" bIns="0" anchor="ctr">
            <a:spAutoFit/>
          </a:bodyPr>
          <a:lstStyle/>
          <a:p>
            <a:pPr algn="l"/>
            <a:r>
              <a:rPr sz="1300" b="0" i="0">
                <a:solidFill>
                  <a:srgbClr val="222222"/>
                </a:solidFill>
                <a:latin typeface="Calibri"/>
              </a:rPr>
              <a:t>Amount-aware: a ₹40 tea is never stopped</a:t>
            </a:r>
          </a:p>
        </p:txBody>
      </p:sp>
      <p:sp>
        <p:nvSpPr>
          <p:cNvPr id="38" name="Badge msg"/>
          <p:cNvSpPr/>
          <p:nvPr/>
        </p:nvSpPr>
        <p:spPr>
          <a:xfrm>
            <a:off x="457200" y="5340096"/>
            <a:ext cx="384048" cy="384048"/>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msg_FFFFFF.png"/>
          <p:cNvPicPr>
            <a:picLocks noChangeAspect="1"/>
          </p:cNvPicPr>
          <p:nvPr/>
        </p:nvPicPr>
        <p:blipFill>
          <a:blip r:embed="rId8"/>
          <a:stretch>
            <a:fillRect/>
          </a:stretch>
        </p:blipFill>
        <p:spPr>
          <a:xfrm>
            <a:off x="541690" y="5424586"/>
            <a:ext cx="215066" cy="215066"/>
          </a:xfrm>
          <a:prstGeom prst="rect">
            <a:avLst/>
          </a:prstGeom>
        </p:spPr>
      </p:pic>
      <p:sp>
        <p:nvSpPr>
          <p:cNvPr id="40" name="Diff 3"/>
          <p:cNvSpPr txBox="1"/>
          <p:nvPr/>
        </p:nvSpPr>
        <p:spPr>
          <a:xfrm>
            <a:off x="960120" y="5340096"/>
            <a:ext cx="4754880" cy="384048"/>
          </a:xfrm>
          <a:prstGeom prst="rect">
            <a:avLst/>
          </a:prstGeom>
          <a:noFill/>
        </p:spPr>
        <p:txBody>
          <a:bodyPr wrap="square" lIns="0" rIns="0" tIns="0" bIns="0" anchor="ctr">
            <a:spAutoFit/>
          </a:bodyPr>
          <a:lstStyle/>
          <a:p>
            <a:pPr algn="l"/>
            <a:r>
              <a:rPr sz="1300" b="0" i="0">
                <a:solidFill>
                  <a:srgbClr val="222222"/>
                </a:solidFill>
                <a:latin typeface="Calibri"/>
              </a:rPr>
              <a:t>A plain-language reason with every decision</a:t>
            </a:r>
          </a:p>
        </p:txBody>
      </p:sp>
      <p:sp>
        <p:nvSpPr>
          <p:cNvPr id="41" name="Closes gap"/>
          <p:cNvSpPr/>
          <p:nvPr/>
        </p:nvSpPr>
        <p:spPr>
          <a:xfrm>
            <a:off x="457200" y="5870448"/>
            <a:ext cx="5257800" cy="731520"/>
          </a:xfrm>
          <a:prstGeom prst="roundRect">
            <a:avLst>
              <a:gd name="adj" fmla="val 14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2412" bIns="102412"/>
          <a:lstStyle/>
          <a:p>
            <a:pPr algn="just"/>
            <a:r>
              <a:rPr sz="1200" b="0" i="0">
                <a:solidFill>
                  <a:srgbClr val="222222"/>
                </a:solidFill>
                <a:latin typeface="Calibri"/>
              </a:rPr>
              <a:t>An OTP can't stop a coached victim. A pause and a family member who can cancel (</a:t>
            </a:r>
            <a:r>
              <a:rPr sz="1200" b="1" i="0">
                <a:solidFill>
                  <a:srgbClr val="EA4B71"/>
                </a:solidFill>
                <a:latin typeface="Calibri"/>
              </a:rPr>
              <a:t>n8n</a:t>
            </a:r>
            <a:r>
              <a:rPr sz="1200" b="1" i="0">
                <a:solidFill>
                  <a:srgbClr val="1E2761"/>
                </a:solidFill>
                <a:latin typeface="Calibri"/>
              </a:rPr>
              <a:t> → Telegram</a:t>
            </a:r>
            <a:r>
              <a:rPr sz="1200" b="0" i="0">
                <a:solidFill>
                  <a:srgbClr val="222222"/>
                </a:solidFill>
                <a:latin typeface="Calibri"/>
              </a:rPr>
              <a:t>) can, </a:t>
            </a:r>
            <a:r>
              <a:rPr sz="1200" b="1" i="0">
                <a:solidFill>
                  <a:srgbClr val="2E7D32"/>
                </a:solidFill>
                <a:latin typeface="Calibri"/>
              </a:rPr>
              <a:t>used only when the context is risky.</a:t>
            </a:r>
          </a:p>
        </p:txBody>
      </p:sp>
      <p:sp>
        <p:nvSpPr>
          <p:cNvPr id="42" name="Scen label"/>
          <p:cNvSpPr txBox="1"/>
          <p:nvPr/>
        </p:nvSpPr>
        <p:spPr>
          <a:xfrm>
            <a:off x="5989320" y="2560320"/>
            <a:ext cx="5760720" cy="274320"/>
          </a:xfrm>
          <a:prstGeom prst="rect">
            <a:avLst/>
          </a:prstGeom>
          <a:noFill/>
        </p:spPr>
        <p:txBody>
          <a:bodyPr wrap="square" lIns="0" rIns="0" tIns="0" bIns="0" anchor="t">
            <a:spAutoFit/>
          </a:bodyPr>
          <a:lstStyle/>
          <a:p>
            <a:pPr algn="l"/>
            <a:r>
              <a:rPr sz="1100" b="1" i="0">
                <a:solidFill>
                  <a:srgbClr val="1E2761"/>
                </a:solidFill>
                <a:latin typeface="Calibri"/>
              </a:rPr>
              <a:t>THE SAME ₹85,000 PAYMENT · FOUR SITUATIONS</a:t>
            </a:r>
          </a:p>
        </p:txBody>
      </p:sp>
      <p:sp>
        <p:nvSpPr>
          <p:cNvPr id="43" name="Scenario 1"/>
          <p:cNvSpPr/>
          <p:nvPr/>
        </p:nvSpPr>
        <p:spPr>
          <a:xfrm>
            <a:off x="5989320" y="2852928"/>
            <a:ext cx="5760720" cy="658368"/>
          </a:xfrm>
          <a:prstGeom prst="roundRect">
            <a:avLst>
              <a:gd name="adj" fmla="val 12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44" name="Picture 43" descr="user_2E7D32.png"/>
          <p:cNvPicPr>
            <a:picLocks noChangeAspect="1"/>
          </p:cNvPicPr>
          <p:nvPr/>
        </p:nvPicPr>
        <p:blipFill>
          <a:blip r:embed="rId9"/>
          <a:stretch>
            <a:fillRect/>
          </a:stretch>
        </p:blipFill>
        <p:spPr>
          <a:xfrm>
            <a:off x="6108192" y="3054096"/>
            <a:ext cx="256032" cy="256032"/>
          </a:xfrm>
          <a:prstGeom prst="rect">
            <a:avLst/>
          </a:prstGeom>
        </p:spPr>
      </p:pic>
      <p:pic>
        <p:nvPicPr>
          <p:cNvPr id="45" name="Picture 44" descr="phone_2E7D32.png"/>
          <p:cNvPicPr>
            <a:picLocks noChangeAspect="1"/>
          </p:cNvPicPr>
          <p:nvPr/>
        </p:nvPicPr>
        <p:blipFill>
          <a:blip r:embed="rId10"/>
          <a:stretch>
            <a:fillRect/>
          </a:stretch>
        </p:blipFill>
        <p:spPr>
          <a:xfrm>
            <a:off x="6409944" y="3054096"/>
            <a:ext cx="256032" cy="256032"/>
          </a:xfrm>
          <a:prstGeom prst="rect">
            <a:avLst/>
          </a:prstGeom>
        </p:spPr>
      </p:pic>
      <p:pic>
        <p:nvPicPr>
          <p:cNvPr id="46" name="Picture 45" descr="keyboard_2E7D32.png"/>
          <p:cNvPicPr>
            <a:picLocks noChangeAspect="1"/>
          </p:cNvPicPr>
          <p:nvPr/>
        </p:nvPicPr>
        <p:blipFill>
          <a:blip r:embed="rId11"/>
          <a:stretch>
            <a:fillRect/>
          </a:stretch>
        </p:blipFill>
        <p:spPr>
          <a:xfrm>
            <a:off x="6711696" y="3054096"/>
            <a:ext cx="256032" cy="256032"/>
          </a:xfrm>
          <a:prstGeom prst="rect">
            <a:avLst/>
          </a:prstGeom>
        </p:spPr>
      </p:pic>
      <p:sp>
        <p:nvSpPr>
          <p:cNvPr id="47" name="Scenario 1 text"/>
          <p:cNvSpPr txBox="1"/>
          <p:nvPr/>
        </p:nvSpPr>
        <p:spPr>
          <a:xfrm>
            <a:off x="7086600" y="2907792"/>
            <a:ext cx="2423160" cy="329184"/>
          </a:xfrm>
          <a:prstGeom prst="rect">
            <a:avLst/>
          </a:prstGeom>
          <a:noFill/>
        </p:spPr>
        <p:txBody>
          <a:bodyPr wrap="square" lIns="0" rIns="0" tIns="0" bIns="0" anchor="t">
            <a:spAutoFit/>
          </a:bodyPr>
          <a:lstStyle/>
          <a:p>
            <a:pPr algn="l"/>
            <a:r>
              <a:rPr sz="1150" b="1" i="0">
                <a:solidFill>
                  <a:srgbClr val="222222"/>
                </a:solidFill>
                <a:latin typeface="Calibri"/>
              </a:rPr>
              <a:t>Usual payee, own phone, normal typing</a:t>
            </a:r>
          </a:p>
        </p:txBody>
      </p:sp>
      <p:sp>
        <p:nvSpPr>
          <p:cNvPr id="48" name="Risk track 1"/>
          <p:cNvSpPr/>
          <p:nvPr/>
        </p:nvSpPr>
        <p:spPr>
          <a:xfrm>
            <a:off x="7086600" y="3310128"/>
            <a:ext cx="1645920" cy="82296"/>
          </a:xfrm>
          <a:prstGeom prst="rect">
            <a:avLst/>
          </a:prstGeom>
          <a:solidFill>
            <a:srgbClr val="D9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isk fill 1"/>
          <p:cNvSpPr/>
          <p:nvPr/>
        </p:nvSpPr>
        <p:spPr>
          <a:xfrm>
            <a:off x="7086600" y="3310128"/>
            <a:ext cx="65836"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isk 1"/>
          <p:cNvSpPr txBox="1"/>
          <p:nvPr/>
        </p:nvSpPr>
        <p:spPr>
          <a:xfrm>
            <a:off x="8796528" y="3218688"/>
            <a:ext cx="731520" cy="256032"/>
          </a:xfrm>
          <a:prstGeom prst="rect">
            <a:avLst/>
          </a:prstGeom>
          <a:noFill/>
        </p:spPr>
        <p:txBody>
          <a:bodyPr wrap="square" lIns="0" rIns="0" tIns="0" bIns="0" anchor="t">
            <a:spAutoFit/>
          </a:bodyPr>
          <a:lstStyle/>
          <a:p>
            <a:pPr algn="l"/>
            <a:r>
              <a:rPr sz="1000" b="1" i="0">
                <a:solidFill>
                  <a:srgbClr val="2E7D32"/>
                </a:solidFill>
                <a:latin typeface="Calibri"/>
              </a:rPr>
              <a:t>risk 0.04</a:t>
            </a:r>
          </a:p>
        </p:txBody>
      </p:sp>
      <p:sp>
        <p:nvSpPr>
          <p:cNvPr id="51" name="Decision 1"/>
          <p:cNvSpPr/>
          <p:nvPr/>
        </p:nvSpPr>
        <p:spPr>
          <a:xfrm>
            <a:off x="9555480" y="2990088"/>
            <a:ext cx="2084831" cy="384048"/>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2003" bIns="32003"/>
          <a:lstStyle/>
          <a:p>
            <a:pPr algn="ctr"/>
            <a:r>
              <a:rPr sz="1200" b="1" i="0">
                <a:solidFill>
                  <a:srgbClr val="FFFFFF"/>
                </a:solidFill>
                <a:latin typeface="Calibri"/>
              </a:rPr>
              <a:t>ALLOW</a:t>
            </a:r>
          </a:p>
        </p:txBody>
      </p:sp>
      <p:pic>
        <p:nvPicPr>
          <p:cNvPr id="52" name="Picture 51" descr="checkc_FFFFFF.png"/>
          <p:cNvPicPr>
            <a:picLocks noChangeAspect="1"/>
          </p:cNvPicPr>
          <p:nvPr/>
        </p:nvPicPr>
        <p:blipFill>
          <a:blip r:embed="rId12"/>
          <a:stretch>
            <a:fillRect/>
          </a:stretch>
        </p:blipFill>
        <p:spPr>
          <a:xfrm>
            <a:off x="9674352" y="3063240"/>
            <a:ext cx="237744" cy="237744"/>
          </a:xfrm>
          <a:prstGeom prst="rect">
            <a:avLst/>
          </a:prstGeom>
        </p:spPr>
      </p:pic>
      <p:sp>
        <p:nvSpPr>
          <p:cNvPr id="53" name="Scenario 2"/>
          <p:cNvSpPr/>
          <p:nvPr/>
        </p:nvSpPr>
        <p:spPr>
          <a:xfrm>
            <a:off x="5989320" y="3584448"/>
            <a:ext cx="5760720" cy="658368"/>
          </a:xfrm>
          <a:prstGeom prst="roundRect">
            <a:avLst>
              <a:gd name="adj" fmla="val 12000"/>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54" name="Picture 53" descr="phone_B25E00.png"/>
          <p:cNvPicPr>
            <a:picLocks noChangeAspect="1"/>
          </p:cNvPicPr>
          <p:nvPr/>
        </p:nvPicPr>
        <p:blipFill>
          <a:blip r:embed="rId13"/>
          <a:stretch>
            <a:fillRect/>
          </a:stretch>
        </p:blipFill>
        <p:spPr>
          <a:xfrm>
            <a:off x="6108192" y="3785615"/>
            <a:ext cx="256032" cy="256032"/>
          </a:xfrm>
          <a:prstGeom prst="rect">
            <a:avLst/>
          </a:prstGeom>
        </p:spPr>
      </p:pic>
      <p:pic>
        <p:nvPicPr>
          <p:cNvPr id="55" name="Picture 54" descr="sim_B25E00.png"/>
          <p:cNvPicPr>
            <a:picLocks noChangeAspect="1"/>
          </p:cNvPicPr>
          <p:nvPr/>
        </p:nvPicPr>
        <p:blipFill>
          <a:blip r:embed="rId14"/>
          <a:stretch>
            <a:fillRect/>
          </a:stretch>
        </p:blipFill>
        <p:spPr>
          <a:xfrm>
            <a:off x="6409944" y="3785615"/>
            <a:ext cx="256032" cy="256032"/>
          </a:xfrm>
          <a:prstGeom prst="rect">
            <a:avLst/>
          </a:prstGeom>
        </p:spPr>
      </p:pic>
      <p:pic>
        <p:nvPicPr>
          <p:cNvPr id="56" name="Picture 55" descr="pin_B25E00.png"/>
          <p:cNvPicPr>
            <a:picLocks noChangeAspect="1"/>
          </p:cNvPicPr>
          <p:nvPr/>
        </p:nvPicPr>
        <p:blipFill>
          <a:blip r:embed="rId15"/>
          <a:stretch>
            <a:fillRect/>
          </a:stretch>
        </p:blipFill>
        <p:spPr>
          <a:xfrm>
            <a:off x="6711696" y="3785615"/>
            <a:ext cx="256032" cy="256032"/>
          </a:xfrm>
          <a:prstGeom prst="rect">
            <a:avLst/>
          </a:prstGeom>
        </p:spPr>
      </p:pic>
      <p:sp>
        <p:nvSpPr>
          <p:cNvPr id="57" name="Scenario 2 text"/>
          <p:cNvSpPr txBox="1"/>
          <p:nvPr/>
        </p:nvSpPr>
        <p:spPr>
          <a:xfrm>
            <a:off x="7086600" y="3639312"/>
            <a:ext cx="2423160" cy="329184"/>
          </a:xfrm>
          <a:prstGeom prst="rect">
            <a:avLst/>
          </a:prstGeom>
          <a:noFill/>
        </p:spPr>
        <p:txBody>
          <a:bodyPr wrap="square" lIns="0" rIns="0" tIns="0" bIns="0" anchor="t">
            <a:spAutoFit/>
          </a:bodyPr>
          <a:lstStyle/>
          <a:p>
            <a:pPr algn="l"/>
            <a:r>
              <a:rPr sz="1150" b="1" i="0">
                <a:solidFill>
                  <a:srgbClr val="222222"/>
                </a:solidFill>
                <a:latin typeface="Calibri"/>
              </a:rPr>
              <a:t>New phone, fresh SIM, new city</a:t>
            </a:r>
          </a:p>
        </p:txBody>
      </p:sp>
      <p:sp>
        <p:nvSpPr>
          <p:cNvPr id="58" name="Risk track 2"/>
          <p:cNvSpPr/>
          <p:nvPr/>
        </p:nvSpPr>
        <p:spPr>
          <a:xfrm>
            <a:off x="7086600" y="4041648"/>
            <a:ext cx="1645920" cy="82296"/>
          </a:xfrm>
          <a:prstGeom prst="rect">
            <a:avLst/>
          </a:prstGeom>
          <a:solidFill>
            <a:srgbClr val="D9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isk fill 2"/>
          <p:cNvSpPr/>
          <p:nvPr/>
        </p:nvSpPr>
        <p:spPr>
          <a:xfrm>
            <a:off x="7086600" y="4041648"/>
            <a:ext cx="954633" cy="82296"/>
          </a:xfrm>
          <a:prstGeom prst="rect">
            <a:avLst/>
          </a:prstGeom>
          <a:solidFill>
            <a:srgbClr val="B2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isk 2"/>
          <p:cNvSpPr txBox="1"/>
          <p:nvPr/>
        </p:nvSpPr>
        <p:spPr>
          <a:xfrm>
            <a:off x="8796528" y="3950208"/>
            <a:ext cx="731520" cy="256032"/>
          </a:xfrm>
          <a:prstGeom prst="rect">
            <a:avLst/>
          </a:prstGeom>
          <a:noFill/>
        </p:spPr>
        <p:txBody>
          <a:bodyPr wrap="square" lIns="0" rIns="0" tIns="0" bIns="0" anchor="t">
            <a:spAutoFit/>
          </a:bodyPr>
          <a:lstStyle/>
          <a:p>
            <a:pPr algn="l"/>
            <a:r>
              <a:rPr sz="1000" b="1" i="0">
                <a:solidFill>
                  <a:srgbClr val="B25E00"/>
                </a:solidFill>
                <a:latin typeface="Calibri"/>
              </a:rPr>
              <a:t>risk 0.58</a:t>
            </a:r>
          </a:p>
        </p:txBody>
      </p:sp>
      <p:sp>
        <p:nvSpPr>
          <p:cNvPr id="61" name="Decision 2"/>
          <p:cNvSpPr/>
          <p:nvPr/>
        </p:nvSpPr>
        <p:spPr>
          <a:xfrm>
            <a:off x="9555480" y="3721608"/>
            <a:ext cx="2084831" cy="384048"/>
          </a:xfrm>
          <a:prstGeom prst="roundRect">
            <a:avLst>
              <a:gd name="adj" fmla="val 50000"/>
            </a:avLst>
          </a:prstGeom>
          <a:solidFill>
            <a:srgbClr val="B25E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2003" bIns="32003"/>
          <a:lstStyle/>
          <a:p>
            <a:pPr algn="ctr"/>
            <a:r>
              <a:rPr sz="1200" b="1" i="0">
                <a:solidFill>
                  <a:srgbClr val="FFFFFF"/>
                </a:solidFill>
                <a:latin typeface="Calibri"/>
              </a:rPr>
              <a:t>BIOMETRIC</a:t>
            </a:r>
          </a:p>
        </p:txBody>
      </p:sp>
      <p:pic>
        <p:nvPicPr>
          <p:cNvPr id="62" name="Picture 61" descr="fp_FFFFFF.png"/>
          <p:cNvPicPr>
            <a:picLocks noChangeAspect="1"/>
          </p:cNvPicPr>
          <p:nvPr/>
        </p:nvPicPr>
        <p:blipFill>
          <a:blip r:embed="rId16"/>
          <a:stretch>
            <a:fillRect/>
          </a:stretch>
        </p:blipFill>
        <p:spPr>
          <a:xfrm>
            <a:off x="9674352" y="3794760"/>
            <a:ext cx="237744" cy="237744"/>
          </a:xfrm>
          <a:prstGeom prst="rect">
            <a:avLst/>
          </a:prstGeom>
        </p:spPr>
      </p:pic>
      <p:sp>
        <p:nvSpPr>
          <p:cNvPr id="63" name="Scenario 3"/>
          <p:cNvSpPr/>
          <p:nvPr/>
        </p:nvSpPr>
        <p:spPr>
          <a:xfrm>
            <a:off x="5989320" y="4315968"/>
            <a:ext cx="5760720" cy="658368"/>
          </a:xfrm>
          <a:prstGeom prst="roundRect">
            <a:avLst>
              <a:gd name="adj" fmla="val 12000"/>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64" name="Picture 63" descr="phonecall_B25E00.png"/>
          <p:cNvPicPr>
            <a:picLocks noChangeAspect="1"/>
          </p:cNvPicPr>
          <p:nvPr/>
        </p:nvPicPr>
        <p:blipFill>
          <a:blip r:embed="rId17"/>
          <a:stretch>
            <a:fillRect/>
          </a:stretch>
        </p:blipFill>
        <p:spPr>
          <a:xfrm>
            <a:off x="6108192" y="4517136"/>
            <a:ext cx="256032" cy="256032"/>
          </a:xfrm>
          <a:prstGeom prst="rect">
            <a:avLst/>
          </a:prstGeom>
        </p:spPr>
      </p:pic>
      <p:pic>
        <p:nvPicPr>
          <p:cNvPr id="65" name="Picture 64" descr="clip_B25E00.png"/>
          <p:cNvPicPr>
            <a:picLocks noChangeAspect="1"/>
          </p:cNvPicPr>
          <p:nvPr/>
        </p:nvPicPr>
        <p:blipFill>
          <a:blip r:embed="rId18"/>
          <a:stretch>
            <a:fillRect/>
          </a:stretch>
        </p:blipFill>
        <p:spPr>
          <a:xfrm>
            <a:off x="6409944" y="4517136"/>
            <a:ext cx="256032" cy="256032"/>
          </a:xfrm>
          <a:prstGeom prst="rect">
            <a:avLst/>
          </a:prstGeom>
        </p:spPr>
      </p:pic>
      <p:pic>
        <p:nvPicPr>
          <p:cNvPr id="66" name="Picture 65" descr="phone_B25E00.png"/>
          <p:cNvPicPr>
            <a:picLocks noChangeAspect="1"/>
          </p:cNvPicPr>
          <p:nvPr/>
        </p:nvPicPr>
        <p:blipFill>
          <a:blip r:embed="rId13"/>
          <a:stretch>
            <a:fillRect/>
          </a:stretch>
        </p:blipFill>
        <p:spPr>
          <a:xfrm>
            <a:off x="6711696" y="4517136"/>
            <a:ext cx="256032" cy="256032"/>
          </a:xfrm>
          <a:prstGeom prst="rect">
            <a:avLst/>
          </a:prstGeom>
        </p:spPr>
      </p:pic>
      <p:sp>
        <p:nvSpPr>
          <p:cNvPr id="67" name="Scenario 3 text"/>
          <p:cNvSpPr txBox="1"/>
          <p:nvPr/>
        </p:nvSpPr>
        <p:spPr>
          <a:xfrm>
            <a:off x="7086600" y="4370832"/>
            <a:ext cx="2423160" cy="329184"/>
          </a:xfrm>
          <a:prstGeom prst="rect">
            <a:avLst/>
          </a:prstGeom>
          <a:noFill/>
        </p:spPr>
        <p:txBody>
          <a:bodyPr wrap="square" lIns="0" rIns="0" tIns="0" bIns="0" anchor="t">
            <a:spAutoFit/>
          </a:bodyPr>
          <a:lstStyle/>
          <a:p>
            <a:pPr algn="l"/>
            <a:r>
              <a:rPr sz="1150" b="1" i="0">
                <a:solidFill>
                  <a:srgbClr val="222222"/>
                </a:solidFill>
                <a:latin typeface="Calibri"/>
              </a:rPr>
              <a:t>On a call, new UPI ID pasted</a:t>
            </a:r>
          </a:p>
        </p:txBody>
      </p:sp>
      <p:sp>
        <p:nvSpPr>
          <p:cNvPr id="68" name="Risk track 3"/>
          <p:cNvSpPr/>
          <p:nvPr/>
        </p:nvSpPr>
        <p:spPr>
          <a:xfrm>
            <a:off x="7086600" y="4773168"/>
            <a:ext cx="1645920" cy="82296"/>
          </a:xfrm>
          <a:prstGeom prst="rect">
            <a:avLst/>
          </a:prstGeom>
          <a:solidFill>
            <a:srgbClr val="D9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isk fill 3"/>
          <p:cNvSpPr/>
          <p:nvPr/>
        </p:nvSpPr>
        <p:spPr>
          <a:xfrm>
            <a:off x="7086600" y="4773168"/>
            <a:ext cx="1168603" cy="82296"/>
          </a:xfrm>
          <a:prstGeom prst="rect">
            <a:avLst/>
          </a:prstGeom>
          <a:solidFill>
            <a:srgbClr val="B2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isk 3"/>
          <p:cNvSpPr txBox="1"/>
          <p:nvPr/>
        </p:nvSpPr>
        <p:spPr>
          <a:xfrm>
            <a:off x="8796528" y="4681728"/>
            <a:ext cx="731520" cy="256032"/>
          </a:xfrm>
          <a:prstGeom prst="rect">
            <a:avLst/>
          </a:prstGeom>
          <a:noFill/>
        </p:spPr>
        <p:txBody>
          <a:bodyPr wrap="square" lIns="0" rIns="0" tIns="0" bIns="0" anchor="t">
            <a:spAutoFit/>
          </a:bodyPr>
          <a:lstStyle/>
          <a:p>
            <a:pPr algn="l"/>
            <a:r>
              <a:rPr sz="1000" b="1" i="0">
                <a:solidFill>
                  <a:srgbClr val="B25E00"/>
                </a:solidFill>
                <a:latin typeface="Calibri"/>
              </a:rPr>
              <a:t>risk 0.71</a:t>
            </a:r>
          </a:p>
        </p:txBody>
      </p:sp>
      <p:sp>
        <p:nvSpPr>
          <p:cNvPr id="71" name="Decision 3"/>
          <p:cNvSpPr/>
          <p:nvPr/>
        </p:nvSpPr>
        <p:spPr>
          <a:xfrm>
            <a:off x="9555480" y="4453128"/>
            <a:ext cx="2084831" cy="384048"/>
          </a:xfrm>
          <a:prstGeom prst="roundRect">
            <a:avLst>
              <a:gd name="adj" fmla="val 50000"/>
            </a:avLst>
          </a:prstGeom>
          <a:solidFill>
            <a:srgbClr val="B25E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2003" bIns="32003"/>
          <a:lstStyle/>
          <a:p>
            <a:pPr algn="ctr"/>
            <a:r>
              <a:rPr sz="1200" b="1" i="0">
                <a:solidFill>
                  <a:srgbClr val="FFFFFF"/>
                </a:solidFill>
                <a:latin typeface="Calibri"/>
              </a:rPr>
              <a:t>HOLD + SON</a:t>
            </a:r>
          </a:p>
        </p:txBody>
      </p:sp>
      <p:pic>
        <p:nvPicPr>
          <p:cNvPr id="72" name="Picture 71" descr="pause_FFFFFF.png"/>
          <p:cNvPicPr>
            <a:picLocks noChangeAspect="1"/>
          </p:cNvPicPr>
          <p:nvPr/>
        </p:nvPicPr>
        <p:blipFill>
          <a:blip r:embed="rId19"/>
          <a:stretch>
            <a:fillRect/>
          </a:stretch>
        </p:blipFill>
        <p:spPr>
          <a:xfrm>
            <a:off x="9674352" y="4526280"/>
            <a:ext cx="237744" cy="237744"/>
          </a:xfrm>
          <a:prstGeom prst="rect">
            <a:avLst/>
          </a:prstGeom>
        </p:spPr>
      </p:pic>
      <p:sp>
        <p:nvSpPr>
          <p:cNvPr id="73" name="Scenario 4"/>
          <p:cNvSpPr/>
          <p:nvPr/>
        </p:nvSpPr>
        <p:spPr>
          <a:xfrm>
            <a:off x="5989320" y="5047488"/>
            <a:ext cx="5760720" cy="658368"/>
          </a:xfrm>
          <a:prstGeom prst="roundRect">
            <a:avLst>
              <a:gd name="adj" fmla="val 12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74" name="Picture 73" descr="bot_C62828.png"/>
          <p:cNvPicPr>
            <a:picLocks noChangeAspect="1"/>
          </p:cNvPicPr>
          <p:nvPr/>
        </p:nvPicPr>
        <p:blipFill>
          <a:blip r:embed="rId20"/>
          <a:stretch>
            <a:fillRect/>
          </a:stretch>
        </p:blipFill>
        <p:spPr>
          <a:xfrm>
            <a:off x="6108192" y="5248656"/>
            <a:ext cx="256032" cy="256032"/>
          </a:xfrm>
          <a:prstGeom prst="rect">
            <a:avLst/>
          </a:prstGeom>
        </p:spPr>
      </p:pic>
      <p:pic>
        <p:nvPicPr>
          <p:cNvPr id="75" name="Picture 74" descr="globe_C62828.png"/>
          <p:cNvPicPr>
            <a:picLocks noChangeAspect="1"/>
          </p:cNvPicPr>
          <p:nvPr/>
        </p:nvPicPr>
        <p:blipFill>
          <a:blip r:embed="rId21"/>
          <a:stretch>
            <a:fillRect/>
          </a:stretch>
        </p:blipFill>
        <p:spPr>
          <a:xfrm>
            <a:off x="6409944" y="5248656"/>
            <a:ext cx="256032" cy="256032"/>
          </a:xfrm>
          <a:prstGeom prst="rect">
            <a:avLst/>
          </a:prstGeom>
        </p:spPr>
      </p:pic>
      <p:pic>
        <p:nvPicPr>
          <p:cNvPr id="76" name="Picture 75" descr="activity_C62828.png"/>
          <p:cNvPicPr>
            <a:picLocks noChangeAspect="1"/>
          </p:cNvPicPr>
          <p:nvPr/>
        </p:nvPicPr>
        <p:blipFill>
          <a:blip r:embed="rId22"/>
          <a:stretch>
            <a:fillRect/>
          </a:stretch>
        </p:blipFill>
        <p:spPr>
          <a:xfrm>
            <a:off x="6711696" y="5248656"/>
            <a:ext cx="256032" cy="256032"/>
          </a:xfrm>
          <a:prstGeom prst="rect">
            <a:avLst/>
          </a:prstGeom>
        </p:spPr>
      </p:pic>
      <p:sp>
        <p:nvSpPr>
          <p:cNvPr id="77" name="Scenario 4 text"/>
          <p:cNvSpPr txBox="1"/>
          <p:nvPr/>
        </p:nvSpPr>
        <p:spPr>
          <a:xfrm>
            <a:off x="7086600" y="5102352"/>
            <a:ext cx="2423160" cy="329184"/>
          </a:xfrm>
          <a:prstGeom prst="rect">
            <a:avLst/>
          </a:prstGeom>
          <a:noFill/>
        </p:spPr>
        <p:txBody>
          <a:bodyPr wrap="square" lIns="0" rIns="0" tIns="0" bIns="0" anchor="t">
            <a:spAutoFit/>
          </a:bodyPr>
          <a:lstStyle/>
          <a:p>
            <a:pPr algn="l"/>
            <a:r>
              <a:rPr sz="1150" b="1" i="0">
                <a:solidFill>
                  <a:srgbClr val="222222"/>
                </a:solidFill>
                <a:latin typeface="Calibri"/>
              </a:rPr>
              <a:t>Emulator + VPN, 15 tries in 10 min</a:t>
            </a:r>
          </a:p>
        </p:txBody>
      </p:sp>
      <p:sp>
        <p:nvSpPr>
          <p:cNvPr id="78" name="Risk track 4"/>
          <p:cNvSpPr/>
          <p:nvPr/>
        </p:nvSpPr>
        <p:spPr>
          <a:xfrm>
            <a:off x="7086600" y="5504688"/>
            <a:ext cx="1645920" cy="82296"/>
          </a:xfrm>
          <a:prstGeom prst="rect">
            <a:avLst/>
          </a:prstGeom>
          <a:solidFill>
            <a:srgbClr val="D9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isk fill 4"/>
          <p:cNvSpPr/>
          <p:nvPr/>
        </p:nvSpPr>
        <p:spPr>
          <a:xfrm>
            <a:off x="7086600" y="5504688"/>
            <a:ext cx="1596542" cy="8229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isk 4"/>
          <p:cNvSpPr txBox="1"/>
          <p:nvPr/>
        </p:nvSpPr>
        <p:spPr>
          <a:xfrm>
            <a:off x="8796528" y="5413248"/>
            <a:ext cx="731520" cy="256032"/>
          </a:xfrm>
          <a:prstGeom prst="rect">
            <a:avLst/>
          </a:prstGeom>
          <a:noFill/>
        </p:spPr>
        <p:txBody>
          <a:bodyPr wrap="square" lIns="0" rIns="0" tIns="0" bIns="0" anchor="t">
            <a:spAutoFit/>
          </a:bodyPr>
          <a:lstStyle/>
          <a:p>
            <a:pPr algn="l"/>
            <a:r>
              <a:rPr sz="1000" b="1" i="0">
                <a:solidFill>
                  <a:srgbClr val="C62828"/>
                </a:solidFill>
                <a:latin typeface="Calibri"/>
              </a:rPr>
              <a:t>risk 0.97</a:t>
            </a:r>
          </a:p>
        </p:txBody>
      </p:sp>
      <p:sp>
        <p:nvSpPr>
          <p:cNvPr id="81" name="Decision 4"/>
          <p:cNvSpPr/>
          <p:nvPr/>
        </p:nvSpPr>
        <p:spPr>
          <a:xfrm>
            <a:off x="9555480" y="5184648"/>
            <a:ext cx="2084831" cy="384048"/>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2003" bIns="32003"/>
          <a:lstStyle/>
          <a:p>
            <a:pPr algn="ctr"/>
            <a:r>
              <a:rPr sz="1200" b="1" i="0">
                <a:solidFill>
                  <a:srgbClr val="FFFFFF"/>
                </a:solidFill>
                <a:latin typeface="Calibri"/>
              </a:rPr>
              <a:t>BLOCK</a:t>
            </a:r>
          </a:p>
        </p:txBody>
      </p:sp>
      <p:pic>
        <p:nvPicPr>
          <p:cNvPr id="82" name="Picture 81" descr="xc_FFFFFF.png"/>
          <p:cNvPicPr>
            <a:picLocks noChangeAspect="1"/>
          </p:cNvPicPr>
          <p:nvPr/>
        </p:nvPicPr>
        <p:blipFill>
          <a:blip r:embed="rId23"/>
          <a:stretch>
            <a:fillRect/>
          </a:stretch>
        </p:blipFill>
        <p:spPr>
          <a:xfrm>
            <a:off x="9674352" y="5257800"/>
            <a:ext cx="237744" cy="237744"/>
          </a:xfrm>
          <a:prstGeom prst="rect">
            <a:avLst/>
          </a:prstGeom>
        </p:spPr>
      </p:pic>
      <p:sp>
        <p:nvSpPr>
          <p:cNvPr id="83" name="Console"/>
          <p:cNvSpPr/>
          <p:nvPr/>
        </p:nvSpPr>
        <p:spPr>
          <a:xfrm>
            <a:off x="5989320" y="5806440"/>
            <a:ext cx="5760720" cy="822960"/>
          </a:xfrm>
          <a:prstGeom prst="roundRect">
            <a:avLst>
              <a:gd name="adj" fmla="val 1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84" name="Badge bars"/>
          <p:cNvSpPr/>
          <p:nvPr/>
        </p:nvSpPr>
        <p:spPr>
          <a:xfrm>
            <a:off x="6108192" y="5897880"/>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5" name="Picture 84" descr="bars_1E2761.png"/>
          <p:cNvPicPr>
            <a:picLocks noChangeAspect="1"/>
          </p:cNvPicPr>
          <p:nvPr/>
        </p:nvPicPr>
        <p:blipFill>
          <a:blip r:embed="rId24"/>
          <a:stretch>
            <a:fillRect/>
          </a:stretch>
        </p:blipFill>
        <p:spPr>
          <a:xfrm>
            <a:off x="6188659" y="5978347"/>
            <a:ext cx="204825" cy="204825"/>
          </a:xfrm>
          <a:prstGeom prst="rect">
            <a:avLst/>
          </a:prstGeom>
        </p:spPr>
      </p:pic>
      <p:sp>
        <p:nvSpPr>
          <p:cNvPr id="86" name="Console text"/>
          <p:cNvSpPr txBox="1"/>
          <p:nvPr/>
        </p:nvSpPr>
        <p:spPr>
          <a:xfrm>
            <a:off x="6537960" y="5870448"/>
            <a:ext cx="1417320" cy="685800"/>
          </a:xfrm>
          <a:prstGeom prst="rect">
            <a:avLst/>
          </a:prstGeom>
          <a:noFill/>
        </p:spPr>
        <p:txBody>
          <a:bodyPr wrap="square" lIns="0" rIns="0" tIns="0" bIns="0" anchor="t">
            <a:spAutoFit/>
          </a:bodyPr>
          <a:lstStyle/>
          <a:p>
            <a:pPr algn="l"/>
            <a:r>
              <a:rPr sz="1150" b="1" i="0">
                <a:solidFill>
                  <a:srgbClr val="FFFFFF"/>
                </a:solidFill>
                <a:latin typeface="Calibri"/>
              </a:rPr>
              <a:t>Why this decision</a:t>
            </a:r>
          </a:p>
        </p:txBody>
      </p:sp>
      <p:sp>
        <p:nvSpPr>
          <p:cNvPr id="87" name="Console sub"/>
          <p:cNvSpPr txBox="1"/>
          <p:nvPr/>
        </p:nvSpPr>
        <p:spPr>
          <a:xfrm>
            <a:off x="6537960" y="6263640"/>
            <a:ext cx="1463040" cy="320040"/>
          </a:xfrm>
          <a:prstGeom prst="rect">
            <a:avLst/>
          </a:prstGeom>
          <a:noFill/>
        </p:spPr>
        <p:txBody>
          <a:bodyPr wrap="square" lIns="0" rIns="0" tIns="0" bIns="0" anchor="t">
            <a:spAutoFit/>
          </a:bodyPr>
          <a:lstStyle/>
          <a:p>
            <a:pPr algn="l"/>
            <a:r>
              <a:rPr sz="900" b="0" i="1">
                <a:solidFill>
                  <a:srgbClr val="CADCFC"/>
                </a:solidFill>
                <a:latin typeface="Calibri"/>
              </a:rPr>
              <a:t>analyst feedback retrains</a:t>
            </a:r>
          </a:p>
        </p:txBody>
      </p:sp>
      <p:sp>
        <p:nvSpPr>
          <p:cNvPr id="88" name="Why 1"/>
          <p:cNvSpPr txBox="1"/>
          <p:nvPr/>
        </p:nvSpPr>
        <p:spPr>
          <a:xfrm>
            <a:off x="8046720" y="5852160"/>
            <a:ext cx="1463040" cy="182880"/>
          </a:xfrm>
          <a:prstGeom prst="rect">
            <a:avLst/>
          </a:prstGeom>
          <a:noFill/>
        </p:spPr>
        <p:txBody>
          <a:bodyPr wrap="square" lIns="0" rIns="0" tIns="0" bIns="0" anchor="t">
            <a:spAutoFit/>
          </a:bodyPr>
          <a:lstStyle/>
          <a:p>
            <a:pPr algn="l"/>
            <a:r>
              <a:rPr sz="900" b="0" i="0">
                <a:solidFill>
                  <a:srgbClr val="FFFFFF"/>
                </a:solidFill>
                <a:latin typeface="Calibri"/>
              </a:rPr>
              <a:t>On a phone call</a:t>
            </a:r>
          </a:p>
        </p:txBody>
      </p:sp>
      <p:sp>
        <p:nvSpPr>
          <p:cNvPr id="89" name="Why bar 1"/>
          <p:cNvSpPr/>
          <p:nvPr/>
        </p:nvSpPr>
        <p:spPr>
          <a:xfrm>
            <a:off x="9509760" y="5897880"/>
            <a:ext cx="1600200" cy="109728"/>
          </a:xfrm>
          <a:prstGeom prst="rect">
            <a:avLst/>
          </a:prstGeom>
          <a:solidFill>
            <a:srgbClr val="F0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Why val 1"/>
          <p:cNvSpPr txBox="1"/>
          <p:nvPr/>
        </p:nvSpPr>
        <p:spPr>
          <a:xfrm>
            <a:off x="11155680" y="5852160"/>
            <a:ext cx="548640" cy="182880"/>
          </a:xfrm>
          <a:prstGeom prst="rect">
            <a:avLst/>
          </a:prstGeom>
          <a:noFill/>
        </p:spPr>
        <p:txBody>
          <a:bodyPr wrap="square" lIns="0" rIns="0" tIns="0" bIns="0" anchor="t">
            <a:spAutoFit/>
          </a:bodyPr>
          <a:lstStyle/>
          <a:p>
            <a:pPr algn="l"/>
            <a:r>
              <a:rPr sz="900" b="1" i="0">
                <a:solidFill>
                  <a:srgbClr val="FFFFFF"/>
                </a:solidFill>
                <a:latin typeface="Calibri"/>
              </a:rPr>
              <a:t>+0.31</a:t>
            </a:r>
          </a:p>
        </p:txBody>
      </p:sp>
      <p:sp>
        <p:nvSpPr>
          <p:cNvPr id="91" name="Why 2"/>
          <p:cNvSpPr txBox="1"/>
          <p:nvPr/>
        </p:nvSpPr>
        <p:spPr>
          <a:xfrm>
            <a:off x="8046720" y="6030468"/>
            <a:ext cx="1463040" cy="182880"/>
          </a:xfrm>
          <a:prstGeom prst="rect">
            <a:avLst/>
          </a:prstGeom>
          <a:noFill/>
        </p:spPr>
        <p:txBody>
          <a:bodyPr wrap="square" lIns="0" rIns="0" tIns="0" bIns="0" anchor="t">
            <a:spAutoFit/>
          </a:bodyPr>
          <a:lstStyle/>
          <a:p>
            <a:pPr algn="l"/>
            <a:r>
              <a:rPr sz="900" b="0" i="0">
                <a:solidFill>
                  <a:srgbClr val="FFFFFF"/>
                </a:solidFill>
                <a:latin typeface="Calibri"/>
              </a:rPr>
              <a:t>New UPI ID pasted</a:t>
            </a:r>
          </a:p>
        </p:txBody>
      </p:sp>
      <p:sp>
        <p:nvSpPr>
          <p:cNvPr id="92" name="Why bar 2"/>
          <p:cNvSpPr/>
          <p:nvPr/>
        </p:nvSpPr>
        <p:spPr>
          <a:xfrm>
            <a:off x="9509760" y="6076188"/>
            <a:ext cx="1238864" cy="109728"/>
          </a:xfrm>
          <a:prstGeom prst="rect">
            <a:avLst/>
          </a:prstGeom>
          <a:solidFill>
            <a:srgbClr val="F0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Why val 2"/>
          <p:cNvSpPr txBox="1"/>
          <p:nvPr/>
        </p:nvSpPr>
        <p:spPr>
          <a:xfrm>
            <a:off x="11155680" y="6030468"/>
            <a:ext cx="548640" cy="182880"/>
          </a:xfrm>
          <a:prstGeom prst="rect">
            <a:avLst/>
          </a:prstGeom>
          <a:noFill/>
        </p:spPr>
        <p:txBody>
          <a:bodyPr wrap="square" lIns="0" rIns="0" tIns="0" bIns="0" anchor="t">
            <a:spAutoFit/>
          </a:bodyPr>
          <a:lstStyle/>
          <a:p>
            <a:pPr algn="l"/>
            <a:r>
              <a:rPr sz="900" b="1" i="0">
                <a:solidFill>
                  <a:srgbClr val="FFFFFF"/>
                </a:solidFill>
                <a:latin typeface="Calibri"/>
              </a:rPr>
              <a:t>+0.24</a:t>
            </a:r>
          </a:p>
        </p:txBody>
      </p:sp>
      <p:sp>
        <p:nvSpPr>
          <p:cNvPr id="94" name="Why 3"/>
          <p:cNvSpPr txBox="1"/>
          <p:nvPr/>
        </p:nvSpPr>
        <p:spPr>
          <a:xfrm>
            <a:off x="8046720" y="6208776"/>
            <a:ext cx="1463040" cy="182880"/>
          </a:xfrm>
          <a:prstGeom prst="rect">
            <a:avLst/>
          </a:prstGeom>
          <a:noFill/>
        </p:spPr>
        <p:txBody>
          <a:bodyPr wrap="square" lIns="0" rIns="0" tIns="0" bIns="0" anchor="t">
            <a:spAutoFit/>
          </a:bodyPr>
          <a:lstStyle/>
          <a:p>
            <a:pPr algn="l"/>
            <a:r>
              <a:rPr sz="900" b="0" i="0">
                <a:solidFill>
                  <a:srgbClr val="FFFFFF"/>
                </a:solidFill>
                <a:latin typeface="Calibri"/>
              </a:rPr>
              <a:t>6× usual amount</a:t>
            </a:r>
          </a:p>
        </p:txBody>
      </p:sp>
      <p:sp>
        <p:nvSpPr>
          <p:cNvPr id="95" name="Why bar 3"/>
          <p:cNvSpPr/>
          <p:nvPr/>
        </p:nvSpPr>
        <p:spPr>
          <a:xfrm>
            <a:off x="9509760" y="6254496"/>
            <a:ext cx="671051" cy="109728"/>
          </a:xfrm>
          <a:prstGeom prst="rect">
            <a:avLst/>
          </a:prstGeom>
          <a:solidFill>
            <a:srgbClr val="F0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Why val 3"/>
          <p:cNvSpPr txBox="1"/>
          <p:nvPr/>
        </p:nvSpPr>
        <p:spPr>
          <a:xfrm>
            <a:off x="11155680" y="6208776"/>
            <a:ext cx="548640" cy="182880"/>
          </a:xfrm>
          <a:prstGeom prst="rect">
            <a:avLst/>
          </a:prstGeom>
          <a:noFill/>
        </p:spPr>
        <p:txBody>
          <a:bodyPr wrap="square" lIns="0" rIns="0" tIns="0" bIns="0" anchor="t">
            <a:spAutoFit/>
          </a:bodyPr>
          <a:lstStyle/>
          <a:p>
            <a:pPr algn="l"/>
            <a:r>
              <a:rPr sz="900" b="1" i="0">
                <a:solidFill>
                  <a:srgbClr val="FFFFFF"/>
                </a:solidFill>
                <a:latin typeface="Calibri"/>
              </a:rPr>
              <a:t>+0.13</a:t>
            </a:r>
          </a:p>
        </p:txBody>
      </p:sp>
      <p:sp>
        <p:nvSpPr>
          <p:cNvPr id="97" name="Why 4"/>
          <p:cNvSpPr txBox="1"/>
          <p:nvPr/>
        </p:nvSpPr>
        <p:spPr>
          <a:xfrm>
            <a:off x="8046720" y="6387084"/>
            <a:ext cx="1463040" cy="182880"/>
          </a:xfrm>
          <a:prstGeom prst="rect">
            <a:avLst/>
          </a:prstGeom>
          <a:noFill/>
        </p:spPr>
        <p:txBody>
          <a:bodyPr wrap="square" lIns="0" rIns="0" tIns="0" bIns="0" anchor="t">
            <a:spAutoFit/>
          </a:bodyPr>
          <a:lstStyle/>
          <a:p>
            <a:pPr algn="l"/>
            <a:r>
              <a:rPr sz="900" b="0" i="0">
                <a:solidFill>
                  <a:srgbClr val="FFFFFF"/>
                </a:solidFill>
                <a:latin typeface="Calibri"/>
              </a:rPr>
              <a:t>Own device, home</a:t>
            </a:r>
          </a:p>
        </p:txBody>
      </p:sp>
      <p:sp>
        <p:nvSpPr>
          <p:cNvPr id="98" name="Why bar 4"/>
          <p:cNvSpPr/>
          <p:nvPr/>
        </p:nvSpPr>
        <p:spPr>
          <a:xfrm>
            <a:off x="9509760" y="6432804"/>
            <a:ext cx="361335" cy="109728"/>
          </a:xfrm>
          <a:prstGeom prst="rect">
            <a:avLst/>
          </a:prstGeom>
          <a:solidFill>
            <a:srgbClr val="5BD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Why val 4"/>
          <p:cNvSpPr txBox="1"/>
          <p:nvPr/>
        </p:nvSpPr>
        <p:spPr>
          <a:xfrm>
            <a:off x="11155680" y="6387084"/>
            <a:ext cx="548640" cy="182880"/>
          </a:xfrm>
          <a:prstGeom prst="rect">
            <a:avLst/>
          </a:prstGeom>
          <a:noFill/>
        </p:spPr>
        <p:txBody>
          <a:bodyPr wrap="square" lIns="0" rIns="0" tIns="0" bIns="0" anchor="t">
            <a:spAutoFit/>
          </a:bodyPr>
          <a:lstStyle/>
          <a:p>
            <a:pPr algn="l"/>
            <a:r>
              <a:rPr sz="900" b="1" i="0">
                <a:solidFill>
                  <a:srgbClr val="FFFFFF"/>
                </a:solidFill>
                <a:latin typeface="Calibri"/>
              </a:rPr>
              <a:t>−0.07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One API call: context in, an explained decision out, in milliseconds</a:t>
            </a:r>
            <a:endParaRPr lang="en-US" sz="2000" dirty="0"/>
          </a:p>
        </p:txBody>
      </p:sp>
      <p:sp>
        <p:nvSpPr>
          <p:cNvPr id="13" name="Text 1">
            <a:extLst>
              <a:ext uri="{FF2B5EF4-FFF2-40B4-BE49-F238E27FC236}">
                <a16:creationId xmlns:a16="http://schemas.microsoft.com/office/drawing/2014/main" id="{62A87E1A-1A0A-8674-804A-3DF0E9A8DB8B}"/>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4 OF 5</a:t>
            </a:r>
            <a:endParaRPr lang="en-US" sz="1200" dirty="0"/>
          </a:p>
        </p:txBody>
      </p:sp>
      <p:sp>
        <p:nvSpPr>
          <p:cNvPr id="15" name="Text 2">
            <a:extLst>
              <a:ext uri="{FF2B5EF4-FFF2-40B4-BE49-F238E27FC236}">
                <a16:creationId xmlns:a16="http://schemas.microsoft.com/office/drawing/2014/main" id="{15DDE14C-9F4C-B780-B8A2-5E0A1B67CED5}"/>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Technical Approach</a:t>
            </a:r>
            <a:endParaRPr lang="en-US" sz="2800" dirty="0"/>
          </a:p>
        </p:txBody>
      </p:sp>
      <p:sp>
        <p:nvSpPr>
          <p:cNvPr id="16" name="D1"/>
          <p:cNvSpPr/>
          <p:nvPr/>
        </p:nvSpPr>
        <p:spPr>
          <a:xfrm>
            <a:off x="457200" y="2560320"/>
            <a:ext cx="1828800" cy="1783080"/>
          </a:xfrm>
          <a:prstGeom prst="roundRect">
            <a:avLst>
              <a:gd name="adj" fmla="val 8000"/>
            </a:avLst>
          </a:prstGeom>
          <a:solidFill>
            <a:srgbClr val="EEF1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17" name="Badge phone"/>
          <p:cNvSpPr/>
          <p:nvPr/>
        </p:nvSpPr>
        <p:spPr>
          <a:xfrm>
            <a:off x="566928" y="2670048"/>
            <a:ext cx="411480" cy="41148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hone_FFFFFF.png"/>
          <p:cNvPicPr>
            <a:picLocks noChangeAspect="1"/>
          </p:cNvPicPr>
          <p:nvPr/>
        </p:nvPicPr>
        <p:blipFill>
          <a:blip r:embed="rId3"/>
          <a:stretch>
            <a:fillRect/>
          </a:stretch>
        </p:blipFill>
        <p:spPr>
          <a:xfrm>
            <a:off x="657453" y="2760573"/>
            <a:ext cx="230428" cy="230428"/>
          </a:xfrm>
          <a:prstGeom prst="rect">
            <a:avLst/>
          </a:prstGeom>
        </p:spPr>
      </p:pic>
      <p:sp>
        <p:nvSpPr>
          <p:cNvPr id="19" name="D1 tag"/>
          <p:cNvSpPr txBox="1"/>
          <p:nvPr/>
        </p:nvSpPr>
        <p:spPr>
          <a:xfrm>
            <a:off x="1042416" y="2724912"/>
            <a:ext cx="1188720" cy="274320"/>
          </a:xfrm>
          <a:prstGeom prst="rect">
            <a:avLst/>
          </a:prstGeom>
          <a:noFill/>
        </p:spPr>
        <p:txBody>
          <a:bodyPr wrap="square" lIns="0" rIns="0" tIns="0" bIns="0" anchor="t">
            <a:spAutoFit/>
          </a:bodyPr>
          <a:lstStyle/>
          <a:p>
            <a:pPr algn="l"/>
            <a:r>
              <a:rPr sz="1050" b="1" i="0">
                <a:solidFill>
                  <a:srgbClr val="5A6275"/>
                </a:solidFill>
                <a:latin typeface="Calibri"/>
              </a:rPr>
              <a:t>1 · INPUT</a:t>
            </a:r>
          </a:p>
        </p:txBody>
      </p:sp>
      <p:sp>
        <p:nvSpPr>
          <p:cNvPr id="20" name="D1 title"/>
          <p:cNvSpPr txBox="1"/>
          <p:nvPr/>
        </p:nvSpPr>
        <p:spPr>
          <a:xfrm>
            <a:off x="566928" y="3163824"/>
            <a:ext cx="1609344" cy="457200"/>
          </a:xfrm>
          <a:prstGeom prst="rect">
            <a:avLst/>
          </a:prstGeom>
          <a:noFill/>
        </p:spPr>
        <p:txBody>
          <a:bodyPr wrap="square" lIns="0" rIns="0" tIns="0" bIns="0" anchor="t">
            <a:spAutoFit/>
          </a:bodyPr>
          <a:lstStyle/>
          <a:p>
            <a:pPr algn="l"/>
            <a:r>
              <a:rPr sz="1250" b="1" i="0">
                <a:solidFill>
                  <a:srgbClr val="1E2761"/>
                </a:solidFill>
                <a:latin typeface="Calibri"/>
              </a:rPr>
              <a:t>Payment app + SDK</a:t>
            </a:r>
          </a:p>
        </p:txBody>
      </p:sp>
      <p:sp>
        <p:nvSpPr>
          <p:cNvPr id="21" name="D1 body"/>
          <p:cNvSpPr txBox="1"/>
          <p:nvPr/>
        </p:nvSpPr>
        <p:spPr>
          <a:xfrm>
            <a:off x="566928" y="3520439"/>
            <a:ext cx="1609344" cy="777240"/>
          </a:xfrm>
          <a:prstGeom prst="rect">
            <a:avLst/>
          </a:prstGeom>
          <a:noFill/>
        </p:spPr>
        <p:txBody>
          <a:bodyPr wrap="square" lIns="0" rIns="0" tIns="0" bIns="0" anchor="t">
            <a:spAutoFit/>
          </a:bodyPr>
          <a:lstStyle/>
          <a:p>
            <a:pPr algn="l"/>
            <a:r>
              <a:rPr sz="1100" b="0" i="0">
                <a:solidFill>
                  <a:srgbClr val="222222"/>
                </a:solidFill>
                <a:latin typeface="Calibri"/>
              </a:rPr>
              <a:t>amount · device · typing · paste · on-call*</a:t>
            </a:r>
          </a:p>
        </p:txBody>
      </p:sp>
      <p:sp>
        <p:nvSpPr>
          <p:cNvPr id="22" name="D2"/>
          <p:cNvSpPr/>
          <p:nvPr/>
        </p:nvSpPr>
        <p:spPr>
          <a:xfrm>
            <a:off x="2587752" y="2560320"/>
            <a:ext cx="1645920" cy="1783080"/>
          </a:xfrm>
          <a:prstGeom prst="roundRect">
            <a:avLst>
              <a:gd name="adj" fmla="val 8000"/>
            </a:avLst>
          </a:prstGeom>
          <a:solidFill>
            <a:srgbClr val="EEF1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23" name="Badge server"/>
          <p:cNvSpPr/>
          <p:nvPr/>
        </p:nvSpPr>
        <p:spPr>
          <a:xfrm>
            <a:off x="2697480" y="2670048"/>
            <a:ext cx="411480" cy="41148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server_FFFFFF.png"/>
          <p:cNvPicPr>
            <a:picLocks noChangeAspect="1"/>
          </p:cNvPicPr>
          <p:nvPr/>
        </p:nvPicPr>
        <p:blipFill>
          <a:blip r:embed="rId4"/>
          <a:stretch>
            <a:fillRect/>
          </a:stretch>
        </p:blipFill>
        <p:spPr>
          <a:xfrm>
            <a:off x="2788005" y="2760573"/>
            <a:ext cx="230428" cy="230428"/>
          </a:xfrm>
          <a:prstGeom prst="rect">
            <a:avLst/>
          </a:prstGeom>
        </p:spPr>
      </p:pic>
      <p:sp>
        <p:nvSpPr>
          <p:cNvPr id="25" name="D2 tag"/>
          <p:cNvSpPr txBox="1"/>
          <p:nvPr/>
        </p:nvSpPr>
        <p:spPr>
          <a:xfrm>
            <a:off x="3172968" y="2724912"/>
            <a:ext cx="1005840" cy="274320"/>
          </a:xfrm>
          <a:prstGeom prst="rect">
            <a:avLst/>
          </a:prstGeom>
          <a:noFill/>
        </p:spPr>
        <p:txBody>
          <a:bodyPr wrap="square" lIns="0" rIns="0" tIns="0" bIns="0" anchor="t">
            <a:spAutoFit/>
          </a:bodyPr>
          <a:lstStyle/>
          <a:p>
            <a:pPr algn="l"/>
            <a:r>
              <a:rPr sz="1050" b="1" i="0">
                <a:solidFill>
                  <a:srgbClr val="5A6275"/>
                </a:solidFill>
                <a:latin typeface="Calibri"/>
              </a:rPr>
              <a:t>2 · API</a:t>
            </a:r>
          </a:p>
        </p:txBody>
      </p:sp>
      <p:sp>
        <p:nvSpPr>
          <p:cNvPr id="26" name="D2 title"/>
          <p:cNvSpPr txBox="1"/>
          <p:nvPr/>
        </p:nvSpPr>
        <p:spPr>
          <a:xfrm>
            <a:off x="2697480" y="3163824"/>
            <a:ext cx="1426464" cy="457200"/>
          </a:xfrm>
          <a:prstGeom prst="rect">
            <a:avLst/>
          </a:prstGeom>
          <a:noFill/>
        </p:spPr>
        <p:txBody>
          <a:bodyPr wrap="square" lIns="0" rIns="0" tIns="0" bIns="0" anchor="t">
            <a:spAutoFit/>
          </a:bodyPr>
          <a:lstStyle/>
          <a:p>
            <a:pPr algn="l"/>
            <a:r>
              <a:rPr sz="1250" b="1" i="0">
                <a:solidFill>
                  <a:srgbClr val="1E2761"/>
                </a:solidFill>
                <a:latin typeface="Calibri"/>
              </a:rPr>
              <a:t>/v1/authenticate</a:t>
            </a:r>
          </a:p>
        </p:txBody>
      </p:sp>
      <p:sp>
        <p:nvSpPr>
          <p:cNvPr id="27" name="D2 body"/>
          <p:cNvSpPr txBox="1"/>
          <p:nvPr/>
        </p:nvSpPr>
        <p:spPr>
          <a:xfrm>
            <a:off x="2697480" y="3520439"/>
            <a:ext cx="1426464" cy="777240"/>
          </a:xfrm>
          <a:prstGeom prst="rect">
            <a:avLst/>
          </a:prstGeom>
          <a:noFill/>
        </p:spPr>
        <p:txBody>
          <a:bodyPr wrap="square" lIns="0" rIns="0" tIns="0" bIns="0" anchor="t">
            <a:spAutoFit/>
          </a:bodyPr>
          <a:lstStyle/>
          <a:p>
            <a:pPr algn="l"/>
            <a:r>
              <a:rPr sz="1100" b="0" i="0">
                <a:solidFill>
                  <a:srgbClr val="222222"/>
                </a:solidFill>
                <a:latin typeface="Calibri"/>
              </a:rPr>
              <a:t>FastAPI · over 150 ms → falls back to 2FA</a:t>
            </a:r>
          </a:p>
        </p:txBody>
      </p:sp>
      <p:sp>
        <p:nvSpPr>
          <p:cNvPr id="28" name="D3"/>
          <p:cNvSpPr/>
          <p:nvPr/>
        </p:nvSpPr>
        <p:spPr>
          <a:xfrm>
            <a:off x="4535424" y="2560320"/>
            <a:ext cx="1828800" cy="1783080"/>
          </a:xfrm>
          <a:prstGeom prst="roundRect">
            <a:avLst>
              <a:gd name="adj" fmla="val 8000"/>
            </a:avLst>
          </a:prstGeom>
          <a:solidFill>
            <a:srgbClr val="EEF1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29" name="Badge layers"/>
          <p:cNvSpPr/>
          <p:nvPr/>
        </p:nvSpPr>
        <p:spPr>
          <a:xfrm>
            <a:off x="4645152" y="2670048"/>
            <a:ext cx="411480" cy="41148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layers_FFFFFF.png"/>
          <p:cNvPicPr>
            <a:picLocks noChangeAspect="1"/>
          </p:cNvPicPr>
          <p:nvPr/>
        </p:nvPicPr>
        <p:blipFill>
          <a:blip r:embed="rId5"/>
          <a:stretch>
            <a:fillRect/>
          </a:stretch>
        </p:blipFill>
        <p:spPr>
          <a:xfrm>
            <a:off x="4735677" y="2760573"/>
            <a:ext cx="230428" cy="230428"/>
          </a:xfrm>
          <a:prstGeom prst="rect">
            <a:avLst/>
          </a:prstGeom>
        </p:spPr>
      </p:pic>
      <p:sp>
        <p:nvSpPr>
          <p:cNvPr id="31" name="D3 tag"/>
          <p:cNvSpPr txBox="1"/>
          <p:nvPr/>
        </p:nvSpPr>
        <p:spPr>
          <a:xfrm>
            <a:off x="5120640" y="2724912"/>
            <a:ext cx="1188720" cy="274320"/>
          </a:xfrm>
          <a:prstGeom prst="rect">
            <a:avLst/>
          </a:prstGeom>
          <a:noFill/>
        </p:spPr>
        <p:txBody>
          <a:bodyPr wrap="square" lIns="0" rIns="0" tIns="0" bIns="0" anchor="t">
            <a:spAutoFit/>
          </a:bodyPr>
          <a:lstStyle/>
          <a:p>
            <a:pPr algn="l"/>
            <a:r>
              <a:rPr sz="1050" b="1" i="0">
                <a:solidFill>
                  <a:srgbClr val="5A6275"/>
                </a:solidFill>
                <a:latin typeface="Calibri"/>
              </a:rPr>
              <a:t>3 · FEATURES</a:t>
            </a:r>
          </a:p>
        </p:txBody>
      </p:sp>
      <p:sp>
        <p:nvSpPr>
          <p:cNvPr id="32" name="D3 title"/>
          <p:cNvSpPr txBox="1"/>
          <p:nvPr/>
        </p:nvSpPr>
        <p:spPr>
          <a:xfrm>
            <a:off x="4645152" y="3163824"/>
            <a:ext cx="1609344" cy="457200"/>
          </a:xfrm>
          <a:prstGeom prst="rect">
            <a:avLst/>
          </a:prstGeom>
          <a:noFill/>
        </p:spPr>
        <p:txBody>
          <a:bodyPr wrap="square" lIns="0" rIns="0" tIns="0" bIns="0" anchor="t">
            <a:spAutoFit/>
          </a:bodyPr>
          <a:lstStyle/>
          <a:p>
            <a:pPr algn="l"/>
            <a:r>
              <a:rPr sz="1250" b="1" i="0">
                <a:solidFill>
                  <a:srgbClr val="1E2761"/>
                </a:solidFill>
                <a:latin typeface="Calibri"/>
              </a:rPr>
              <a:t>20+ features</a:t>
            </a:r>
          </a:p>
        </p:txBody>
      </p:sp>
      <p:sp>
        <p:nvSpPr>
          <p:cNvPr id="33" name="D3 body"/>
          <p:cNvSpPr txBox="1"/>
          <p:nvPr/>
        </p:nvSpPr>
        <p:spPr>
          <a:xfrm>
            <a:off x="4645152" y="3520439"/>
            <a:ext cx="1609344" cy="777240"/>
          </a:xfrm>
          <a:prstGeom prst="rect">
            <a:avLst/>
          </a:prstGeom>
          <a:noFill/>
        </p:spPr>
        <p:txBody>
          <a:bodyPr wrap="square" lIns="0" rIns="0" tIns="0" bIns="0" anchor="t">
            <a:spAutoFit/>
          </a:bodyPr>
          <a:lstStyle/>
          <a:p>
            <a:pPr algn="l"/>
            <a:r>
              <a:rPr sz="1100" b="0" i="0">
                <a:solidFill>
                  <a:srgbClr val="222222"/>
                </a:solidFill>
                <a:latin typeface="Calibri"/>
              </a:rPr>
              <a:t>vs the user's own baseline: “8× usual amount”</a:t>
            </a:r>
          </a:p>
        </p:txBody>
      </p:sp>
      <p:sp>
        <p:nvSpPr>
          <p:cNvPr id="34" name="D4 Engine"/>
          <p:cNvSpPr/>
          <p:nvPr/>
        </p:nvSpPr>
        <p:spPr>
          <a:xfrm>
            <a:off x="6665976" y="2560320"/>
            <a:ext cx="2880360" cy="1783080"/>
          </a:xfrm>
          <a:prstGeom prst="roundRect">
            <a:avLst>
              <a:gd name="adj" fmla="val 6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35" name="Badge cpu"/>
          <p:cNvSpPr/>
          <p:nvPr/>
        </p:nvSpPr>
        <p:spPr>
          <a:xfrm>
            <a:off x="6775704" y="2651760"/>
            <a:ext cx="329184" cy="3291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cpu_1E2761.png"/>
          <p:cNvPicPr>
            <a:picLocks noChangeAspect="1"/>
          </p:cNvPicPr>
          <p:nvPr/>
        </p:nvPicPr>
        <p:blipFill>
          <a:blip r:embed="rId6"/>
          <a:stretch>
            <a:fillRect/>
          </a:stretch>
        </p:blipFill>
        <p:spPr>
          <a:xfrm>
            <a:off x="6848124" y="2724180"/>
            <a:ext cx="184343" cy="184343"/>
          </a:xfrm>
          <a:prstGeom prst="rect">
            <a:avLst/>
          </a:prstGeom>
        </p:spPr>
      </p:pic>
      <p:sp>
        <p:nvSpPr>
          <p:cNvPr id="37" name="D4 tag"/>
          <p:cNvSpPr txBox="1"/>
          <p:nvPr/>
        </p:nvSpPr>
        <p:spPr>
          <a:xfrm>
            <a:off x="7168896" y="2679191"/>
            <a:ext cx="2286000" cy="274320"/>
          </a:xfrm>
          <a:prstGeom prst="rect">
            <a:avLst/>
          </a:prstGeom>
          <a:noFill/>
        </p:spPr>
        <p:txBody>
          <a:bodyPr wrap="square" lIns="0" rIns="0" tIns="0" bIns="0" anchor="t">
            <a:spAutoFit/>
          </a:bodyPr>
          <a:lstStyle/>
          <a:p>
            <a:pPr algn="l"/>
            <a:r>
              <a:rPr sz="1050" b="1" i="0">
                <a:solidFill>
                  <a:srgbClr val="CADCFC"/>
                </a:solidFill>
                <a:latin typeface="Calibri"/>
              </a:rPr>
              <a:t>4 · RISK ENGINE</a:t>
            </a:r>
          </a:p>
        </p:txBody>
      </p:sp>
      <p:sp>
        <p:nvSpPr>
          <p:cNvPr id="38" name="Engine step 1"/>
          <p:cNvSpPr/>
          <p:nvPr/>
        </p:nvSpPr>
        <p:spPr>
          <a:xfrm>
            <a:off x="6775704" y="3063239"/>
            <a:ext cx="2660904" cy="219456"/>
          </a:xfrm>
          <a:prstGeom prst="roundRect">
            <a:avLst>
              <a:gd name="adj" fmla="val 25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l"/>
            <a:r>
              <a:rPr sz="1000" b="1" i="0">
                <a:solidFill>
                  <a:srgbClr val="CADCFC"/>
                </a:solidFill>
                <a:latin typeface="Calibri"/>
              </a:rPr>
              <a:t>a  </a:t>
            </a:r>
            <a:r>
              <a:rPr sz="1000" b="0" i="0">
                <a:solidFill>
                  <a:srgbClr val="FFFFFF"/>
                </a:solidFill>
                <a:latin typeface="Calibri"/>
              </a:rPr>
              <a:t>Rules: hard policy + fast-path allow</a:t>
            </a:r>
          </a:p>
        </p:txBody>
      </p:sp>
      <p:sp>
        <p:nvSpPr>
          <p:cNvPr id="39" name="Engine step 2"/>
          <p:cNvSpPr/>
          <p:nvPr/>
        </p:nvSpPr>
        <p:spPr>
          <a:xfrm>
            <a:off x="6775704" y="3314699"/>
            <a:ext cx="2660904" cy="219456"/>
          </a:xfrm>
          <a:prstGeom prst="roundRect">
            <a:avLst>
              <a:gd name="adj" fmla="val 25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l"/>
            <a:r>
              <a:rPr sz="1000" b="1" i="0">
                <a:solidFill>
                  <a:srgbClr val="CADCFC"/>
                </a:solidFill>
                <a:latin typeface="Calibri"/>
              </a:rPr>
              <a:t>b  </a:t>
            </a:r>
            <a:r>
              <a:rPr sz="1000" b="0" i="0">
                <a:solidFill>
                  <a:srgbClr val="FFFFFF"/>
                </a:solidFill>
                <a:latin typeface="Calibri"/>
              </a:rPr>
              <a:t>LightGBM → fraud probability p</a:t>
            </a:r>
          </a:p>
        </p:txBody>
      </p:sp>
      <p:sp>
        <p:nvSpPr>
          <p:cNvPr id="40" name="Engine step 3"/>
          <p:cNvSpPr/>
          <p:nvPr/>
        </p:nvSpPr>
        <p:spPr>
          <a:xfrm>
            <a:off x="6775704" y="3566159"/>
            <a:ext cx="2660904" cy="219456"/>
          </a:xfrm>
          <a:prstGeom prst="roundRect">
            <a:avLst>
              <a:gd name="adj" fmla="val 25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l"/>
            <a:r>
              <a:rPr sz="1000" b="1" i="0">
                <a:solidFill>
                  <a:srgbClr val="CADCFC"/>
                </a:solidFill>
                <a:latin typeface="Calibri"/>
              </a:rPr>
              <a:t>c  </a:t>
            </a:r>
            <a:r>
              <a:rPr sz="1000" b="0" i="0">
                <a:solidFill>
                  <a:srgbClr val="FFFFFF"/>
                </a:solidFill>
                <a:latin typeface="Calibri"/>
              </a:rPr>
              <a:t>TreeSHAP → each signal's weight</a:t>
            </a:r>
          </a:p>
        </p:txBody>
      </p:sp>
      <p:sp>
        <p:nvSpPr>
          <p:cNvPr id="41" name="Engine step 4"/>
          <p:cNvSpPr/>
          <p:nvPr/>
        </p:nvSpPr>
        <p:spPr>
          <a:xfrm>
            <a:off x="6775704" y="3817620"/>
            <a:ext cx="2660904" cy="219456"/>
          </a:xfrm>
          <a:prstGeom prst="roundRect">
            <a:avLst>
              <a:gd name="adj" fmla="val 25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l"/>
            <a:r>
              <a:rPr sz="1000" b="1" i="0">
                <a:solidFill>
                  <a:srgbClr val="CADCFC"/>
                </a:solidFill>
                <a:latin typeface="Calibri"/>
              </a:rPr>
              <a:t>d  </a:t>
            </a:r>
            <a:r>
              <a:rPr sz="1000" b="0" i="0">
                <a:solidFill>
                  <a:srgbClr val="FFFFFF"/>
                </a:solidFill>
                <a:latin typeface="Calibri"/>
              </a:rPr>
              <a:t>Risk type: impostor · scam · bot</a:t>
            </a:r>
          </a:p>
        </p:txBody>
      </p:sp>
      <p:sp>
        <p:nvSpPr>
          <p:cNvPr id="42" name="Engine step 5"/>
          <p:cNvSpPr/>
          <p:nvPr/>
        </p:nvSpPr>
        <p:spPr>
          <a:xfrm>
            <a:off x="6775704" y="4069079"/>
            <a:ext cx="2660904" cy="219456"/>
          </a:xfrm>
          <a:prstGeom prst="roundRect">
            <a:avLst>
              <a:gd name="adj" fmla="val 25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l"/>
            <a:r>
              <a:rPr sz="1000" b="1" i="0">
                <a:solidFill>
                  <a:srgbClr val="CADCFC"/>
                </a:solidFill>
                <a:latin typeface="Calibri"/>
              </a:rPr>
              <a:t>e  </a:t>
            </a:r>
            <a:r>
              <a:rPr sz="1000" b="0" i="0">
                <a:solidFill>
                  <a:srgbClr val="FFFFFF"/>
                </a:solidFill>
                <a:latin typeface="Calibri"/>
              </a:rPr>
              <a:t>Cost policy → decision + challenge</a:t>
            </a:r>
          </a:p>
        </p:txBody>
      </p:sp>
      <p:sp>
        <p:nvSpPr>
          <p:cNvPr id="43" name="D5"/>
          <p:cNvSpPr/>
          <p:nvPr/>
        </p:nvSpPr>
        <p:spPr>
          <a:xfrm>
            <a:off x="9848088" y="2560320"/>
            <a:ext cx="1901952" cy="1783080"/>
          </a:xfrm>
          <a:prstGeom prst="roundRect">
            <a:avLst>
              <a:gd name="adj" fmla="val 8000"/>
            </a:avLst>
          </a:prstGeom>
          <a:solidFill>
            <a:srgbClr val="EEF1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44" name="D5 tag"/>
          <p:cNvSpPr txBox="1"/>
          <p:nvPr/>
        </p:nvSpPr>
        <p:spPr>
          <a:xfrm>
            <a:off x="9966960" y="2688336"/>
            <a:ext cx="1737360" cy="274320"/>
          </a:xfrm>
          <a:prstGeom prst="rect">
            <a:avLst/>
          </a:prstGeom>
          <a:noFill/>
        </p:spPr>
        <p:txBody>
          <a:bodyPr wrap="square" lIns="0" rIns="0" tIns="0" bIns="0" anchor="t">
            <a:spAutoFit/>
          </a:bodyPr>
          <a:lstStyle/>
          <a:p>
            <a:pPr algn="l"/>
            <a:r>
              <a:rPr sz="1050" b="1" i="0">
                <a:solidFill>
                  <a:srgbClr val="5A6275"/>
                </a:solidFill>
                <a:latin typeface="Calibri"/>
              </a:rPr>
              <a:t>5 · OUTPUT</a:t>
            </a:r>
          </a:p>
        </p:txBody>
      </p:sp>
      <p:pic>
        <p:nvPicPr>
          <p:cNvPr id="45" name="Picture 44" descr="checkc_2E7D32.png"/>
          <p:cNvPicPr>
            <a:picLocks noChangeAspect="1"/>
          </p:cNvPicPr>
          <p:nvPr/>
        </p:nvPicPr>
        <p:blipFill>
          <a:blip r:embed="rId7"/>
          <a:stretch>
            <a:fillRect/>
          </a:stretch>
        </p:blipFill>
        <p:spPr>
          <a:xfrm>
            <a:off x="9966960" y="3044951"/>
            <a:ext cx="237744" cy="237744"/>
          </a:xfrm>
          <a:prstGeom prst="rect">
            <a:avLst/>
          </a:prstGeom>
        </p:spPr>
      </p:pic>
      <p:sp>
        <p:nvSpPr>
          <p:cNvPr id="46" name="D5 out 1"/>
          <p:cNvSpPr txBox="1"/>
          <p:nvPr/>
        </p:nvSpPr>
        <p:spPr>
          <a:xfrm>
            <a:off x="10259568" y="3017520"/>
            <a:ext cx="1463040" cy="292608"/>
          </a:xfrm>
          <a:prstGeom prst="rect">
            <a:avLst/>
          </a:prstGeom>
          <a:noFill/>
        </p:spPr>
        <p:txBody>
          <a:bodyPr wrap="square" lIns="0" rIns="0" tIns="0" bIns="0" anchor="ctr">
            <a:spAutoFit/>
          </a:bodyPr>
          <a:lstStyle/>
          <a:p>
            <a:pPr algn="l"/>
            <a:r>
              <a:rPr sz="1200" b="1" i="0">
                <a:solidFill>
                  <a:srgbClr val="2E7D32"/>
                </a:solidFill>
                <a:latin typeface="Calibri"/>
              </a:rPr>
              <a:t>ALLOW</a:t>
            </a:r>
          </a:p>
        </p:txBody>
      </p:sp>
      <p:pic>
        <p:nvPicPr>
          <p:cNvPr id="47" name="Picture 46" descr="fp_B25E00.png"/>
          <p:cNvPicPr>
            <a:picLocks noChangeAspect="1"/>
          </p:cNvPicPr>
          <p:nvPr/>
        </p:nvPicPr>
        <p:blipFill>
          <a:blip r:embed="rId8"/>
          <a:stretch>
            <a:fillRect/>
          </a:stretch>
        </p:blipFill>
        <p:spPr>
          <a:xfrm>
            <a:off x="9966960" y="3392423"/>
            <a:ext cx="237744" cy="237744"/>
          </a:xfrm>
          <a:prstGeom prst="rect">
            <a:avLst/>
          </a:prstGeom>
        </p:spPr>
      </p:pic>
      <p:sp>
        <p:nvSpPr>
          <p:cNvPr id="48" name="D5 out 2"/>
          <p:cNvSpPr txBox="1"/>
          <p:nvPr/>
        </p:nvSpPr>
        <p:spPr>
          <a:xfrm>
            <a:off x="10259568" y="3364991"/>
            <a:ext cx="1463040" cy="292608"/>
          </a:xfrm>
          <a:prstGeom prst="rect">
            <a:avLst/>
          </a:prstGeom>
          <a:noFill/>
        </p:spPr>
        <p:txBody>
          <a:bodyPr wrap="square" lIns="0" rIns="0" tIns="0" bIns="0" anchor="ctr">
            <a:spAutoFit/>
          </a:bodyPr>
          <a:lstStyle/>
          <a:p>
            <a:pPr algn="l"/>
            <a:r>
              <a:rPr sz="1200" b="1" i="0">
                <a:solidFill>
                  <a:srgbClr val="B25E00"/>
                </a:solidFill>
                <a:latin typeface="Calibri"/>
              </a:rPr>
              <a:t>CHALLENGE</a:t>
            </a:r>
          </a:p>
        </p:txBody>
      </p:sp>
      <p:pic>
        <p:nvPicPr>
          <p:cNvPr id="49" name="Picture 48" descr="xc_C62828.png"/>
          <p:cNvPicPr>
            <a:picLocks noChangeAspect="1"/>
          </p:cNvPicPr>
          <p:nvPr/>
        </p:nvPicPr>
        <p:blipFill>
          <a:blip r:embed="rId9"/>
          <a:stretch>
            <a:fillRect/>
          </a:stretch>
        </p:blipFill>
        <p:spPr>
          <a:xfrm>
            <a:off x="9966960" y="3739896"/>
            <a:ext cx="237744" cy="237744"/>
          </a:xfrm>
          <a:prstGeom prst="rect">
            <a:avLst/>
          </a:prstGeom>
        </p:spPr>
      </p:pic>
      <p:sp>
        <p:nvSpPr>
          <p:cNvPr id="50" name="D5 out 3"/>
          <p:cNvSpPr txBox="1"/>
          <p:nvPr/>
        </p:nvSpPr>
        <p:spPr>
          <a:xfrm>
            <a:off x="10259568" y="3712463"/>
            <a:ext cx="1463040" cy="292608"/>
          </a:xfrm>
          <a:prstGeom prst="rect">
            <a:avLst/>
          </a:prstGeom>
          <a:noFill/>
        </p:spPr>
        <p:txBody>
          <a:bodyPr wrap="square" lIns="0" rIns="0" tIns="0" bIns="0" anchor="ctr">
            <a:spAutoFit/>
          </a:bodyPr>
          <a:lstStyle/>
          <a:p>
            <a:pPr algn="l"/>
            <a:r>
              <a:rPr sz="1200" b="1" i="0">
                <a:solidFill>
                  <a:srgbClr val="C62828"/>
                </a:solidFill>
                <a:latin typeface="Calibri"/>
              </a:rPr>
              <a:t>BLOCK</a:t>
            </a:r>
          </a:p>
        </p:txBody>
      </p:sp>
      <p:sp>
        <p:nvSpPr>
          <p:cNvPr id="51" name="D5 note"/>
          <p:cNvSpPr txBox="1"/>
          <p:nvPr/>
        </p:nvSpPr>
        <p:spPr>
          <a:xfrm>
            <a:off x="9966960" y="4041648"/>
            <a:ext cx="1737360" cy="274320"/>
          </a:xfrm>
          <a:prstGeom prst="rect">
            <a:avLst/>
          </a:prstGeom>
          <a:noFill/>
        </p:spPr>
        <p:txBody>
          <a:bodyPr wrap="square" lIns="0" rIns="0" tIns="0" bIns="0" anchor="t">
            <a:spAutoFit/>
          </a:bodyPr>
          <a:lstStyle/>
          <a:p>
            <a:pPr algn="l"/>
            <a:r>
              <a:rPr sz="950" b="0" i="0">
                <a:solidFill>
                  <a:srgbClr val="222222"/>
                </a:solidFill>
                <a:latin typeface="Calibri"/>
              </a:rPr>
              <a:t>+ score · reasons · latency</a:t>
            </a:r>
          </a:p>
        </p:txBody>
      </p:sp>
      <p:cxnSp>
        <p:nvCxnSpPr>
          <p:cNvPr id="52" name="A1"/>
          <p:cNvCxnSpPr/>
          <p:nvPr/>
        </p:nvCxnSpPr>
        <p:spPr>
          <a:xfrm>
            <a:off x="2286000" y="3383279"/>
            <a:ext cx="301752"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A2"/>
          <p:cNvCxnSpPr/>
          <p:nvPr/>
        </p:nvCxnSpPr>
        <p:spPr>
          <a:xfrm>
            <a:off x="4233672" y="3383279"/>
            <a:ext cx="301752"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A3"/>
          <p:cNvCxnSpPr/>
          <p:nvPr/>
        </p:nvCxnSpPr>
        <p:spPr>
          <a:xfrm>
            <a:off x="6364224" y="3383279"/>
            <a:ext cx="301752"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A4"/>
          <p:cNvCxnSpPr/>
          <p:nvPr/>
        </p:nvCxnSpPr>
        <p:spPr>
          <a:xfrm>
            <a:off x="9546336" y="3383279"/>
            <a:ext cx="301752"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n8n head"/>
          <p:cNvSpPr/>
          <p:nvPr/>
        </p:nvSpPr>
        <p:spPr>
          <a:xfrm>
            <a:off x="457200" y="4416552"/>
            <a:ext cx="1874519" cy="438912"/>
          </a:xfrm>
          <a:prstGeom prst="roundRect">
            <a:avLst>
              <a:gd name="adj" fmla="val 20000"/>
            </a:avLst>
          </a:prstGeom>
          <a:solidFill>
            <a:srgbClr val="EA4B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20624" rIns="73152" tIns="51206" bIns="51206"/>
          <a:lstStyle/>
          <a:p>
            <a:pPr algn="l"/>
            <a:r>
              <a:rPr sz="1100" b="1" i="0">
                <a:solidFill>
                  <a:srgbClr val="FFFFFF"/>
                </a:solidFill>
                <a:latin typeface="Calibri"/>
              </a:rPr>
              <a:t>POWERED BY n8n</a:t>
            </a:r>
          </a:p>
          <a:p>
            <a:pPr algn="l"/>
            <a:r>
              <a:rPr sz="850" b="0" i="1">
                <a:solidFill>
                  <a:srgbClr val="FFFFFF"/>
                </a:solidFill>
                <a:latin typeface="Calibri"/>
              </a:rPr>
              <a:t>guardian loop</a:t>
            </a:r>
          </a:p>
        </p:txBody>
      </p:sp>
      <p:pic>
        <p:nvPicPr>
          <p:cNvPr id="57" name="Picture 56" descr="refresh_FFFFFF.png"/>
          <p:cNvPicPr>
            <a:picLocks noChangeAspect="1"/>
          </p:cNvPicPr>
          <p:nvPr/>
        </p:nvPicPr>
        <p:blipFill>
          <a:blip r:embed="rId10"/>
          <a:stretch>
            <a:fillRect/>
          </a:stretch>
        </p:blipFill>
        <p:spPr>
          <a:xfrm>
            <a:off x="548640" y="4535424"/>
            <a:ext cx="237744" cy="237744"/>
          </a:xfrm>
          <a:prstGeom prst="rect">
            <a:avLst/>
          </a:prstGeom>
        </p:spPr>
      </p:pic>
      <p:sp>
        <p:nvSpPr>
          <p:cNvPr id="58" name="n8n step 1"/>
          <p:cNvSpPr/>
          <p:nvPr/>
        </p:nvSpPr>
        <p:spPr>
          <a:xfrm>
            <a:off x="2514600" y="4416552"/>
            <a:ext cx="1722729" cy="438912"/>
          </a:xfrm>
          <a:prstGeom prst="roundRect">
            <a:avLst>
              <a:gd name="adj" fmla="val 20000"/>
            </a:avLst>
          </a:prstGeom>
          <a:solidFill>
            <a:srgbClr val="EEF1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59" name="Picture 58" descr="pause_B25E00.png"/>
          <p:cNvPicPr>
            <a:picLocks noChangeAspect="1"/>
          </p:cNvPicPr>
          <p:nvPr/>
        </p:nvPicPr>
        <p:blipFill>
          <a:blip r:embed="rId11"/>
          <a:stretch>
            <a:fillRect/>
          </a:stretch>
        </p:blipFill>
        <p:spPr>
          <a:xfrm>
            <a:off x="2606040" y="4526280"/>
            <a:ext cx="237744" cy="237744"/>
          </a:xfrm>
          <a:prstGeom prst="rect">
            <a:avLst/>
          </a:prstGeom>
        </p:spPr>
      </p:pic>
      <p:sp>
        <p:nvSpPr>
          <p:cNvPr id="60" name="n8n step 1 text"/>
          <p:cNvSpPr txBox="1"/>
          <p:nvPr/>
        </p:nvSpPr>
        <p:spPr>
          <a:xfrm>
            <a:off x="2898648" y="4416552"/>
            <a:ext cx="1302105" cy="438912"/>
          </a:xfrm>
          <a:prstGeom prst="rect">
            <a:avLst/>
          </a:prstGeom>
          <a:noFill/>
        </p:spPr>
        <p:txBody>
          <a:bodyPr wrap="square" lIns="0" rIns="0" tIns="0" bIns="0" anchor="ctr">
            <a:spAutoFit/>
          </a:bodyPr>
          <a:lstStyle/>
          <a:p>
            <a:pPr algn="l"/>
            <a:r>
              <a:rPr sz="1000" b="1" i="0">
                <a:solidFill>
                  <a:srgbClr val="222222"/>
                </a:solidFill>
                <a:latin typeface="Calibri"/>
              </a:rPr>
              <a:t>Scam-risk HOLD</a:t>
            </a:r>
          </a:p>
        </p:txBody>
      </p:sp>
      <p:cxnSp>
        <p:nvCxnSpPr>
          <p:cNvPr id="61" name="n8n arrow 1"/>
          <p:cNvCxnSpPr/>
          <p:nvPr/>
        </p:nvCxnSpPr>
        <p:spPr>
          <a:xfrm>
            <a:off x="4237329" y="4636008"/>
            <a:ext cx="155448" cy="0"/>
          </a:xfrm>
          <a:prstGeom prst="line">
            <a:avLst/>
          </a:prstGeom>
          <a:ln w="1587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n8n step 2"/>
          <p:cNvSpPr/>
          <p:nvPr/>
        </p:nvSpPr>
        <p:spPr>
          <a:xfrm>
            <a:off x="4392777" y="4416552"/>
            <a:ext cx="1722729" cy="438912"/>
          </a:xfrm>
          <a:prstGeom prst="roundRect">
            <a:avLst>
              <a:gd name="adj" fmla="val 20000"/>
            </a:avLst>
          </a:prstGeom>
          <a:solidFill>
            <a:srgbClr val="FDE8EE"/>
          </a:solidFill>
          <a:ln w="12700">
            <a:solidFill>
              <a:srgbClr val="EA4B7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63" name="Picture 62" descr="zap_EA4B71.png"/>
          <p:cNvPicPr>
            <a:picLocks noChangeAspect="1"/>
          </p:cNvPicPr>
          <p:nvPr/>
        </p:nvPicPr>
        <p:blipFill>
          <a:blip r:embed="rId12"/>
          <a:stretch>
            <a:fillRect/>
          </a:stretch>
        </p:blipFill>
        <p:spPr>
          <a:xfrm>
            <a:off x="4484217" y="4526280"/>
            <a:ext cx="237744" cy="237744"/>
          </a:xfrm>
          <a:prstGeom prst="rect">
            <a:avLst/>
          </a:prstGeom>
        </p:spPr>
      </p:pic>
      <p:sp>
        <p:nvSpPr>
          <p:cNvPr id="64" name="n8n step 2 text"/>
          <p:cNvSpPr txBox="1"/>
          <p:nvPr/>
        </p:nvSpPr>
        <p:spPr>
          <a:xfrm>
            <a:off x="4776825" y="4416552"/>
            <a:ext cx="1302105" cy="438912"/>
          </a:xfrm>
          <a:prstGeom prst="rect">
            <a:avLst/>
          </a:prstGeom>
          <a:noFill/>
        </p:spPr>
        <p:txBody>
          <a:bodyPr wrap="square" lIns="0" rIns="0" tIns="0" bIns="0" anchor="ctr">
            <a:spAutoFit/>
          </a:bodyPr>
          <a:lstStyle/>
          <a:p>
            <a:pPr algn="l"/>
            <a:r>
              <a:rPr sz="1000" b="1" i="0">
                <a:solidFill>
                  <a:srgbClr val="EA4B71"/>
                </a:solidFill>
                <a:latin typeface="Calibri"/>
              </a:rPr>
              <a:t>n8n</a:t>
            </a:r>
            <a:r>
              <a:rPr sz="1000" b="1" i="0">
                <a:solidFill>
                  <a:srgbClr val="222222"/>
                </a:solidFill>
                <a:latin typeface="Calibri"/>
              </a:rPr>
              <a:t> workflow triggered</a:t>
            </a:r>
          </a:p>
        </p:txBody>
      </p:sp>
      <p:cxnSp>
        <p:nvCxnSpPr>
          <p:cNvPr id="65" name="n8n arrow 2"/>
          <p:cNvCxnSpPr/>
          <p:nvPr/>
        </p:nvCxnSpPr>
        <p:spPr>
          <a:xfrm>
            <a:off x="6115507" y="4636008"/>
            <a:ext cx="155448" cy="0"/>
          </a:xfrm>
          <a:prstGeom prst="line">
            <a:avLst/>
          </a:prstGeom>
          <a:ln w="1587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66" name="n8n step 3"/>
          <p:cNvSpPr/>
          <p:nvPr/>
        </p:nvSpPr>
        <p:spPr>
          <a:xfrm>
            <a:off x="6270955" y="4416552"/>
            <a:ext cx="1722729" cy="438912"/>
          </a:xfrm>
          <a:prstGeom prst="roundRect">
            <a:avLst>
              <a:gd name="adj" fmla="val 20000"/>
            </a:avLst>
          </a:prstGeom>
          <a:solidFill>
            <a:srgbClr val="EEF1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67" name="Picture 66" descr="send_1E2761.png"/>
          <p:cNvPicPr>
            <a:picLocks noChangeAspect="1"/>
          </p:cNvPicPr>
          <p:nvPr/>
        </p:nvPicPr>
        <p:blipFill>
          <a:blip r:embed="rId13"/>
          <a:stretch>
            <a:fillRect/>
          </a:stretch>
        </p:blipFill>
        <p:spPr>
          <a:xfrm>
            <a:off x="6362395" y="4526280"/>
            <a:ext cx="237744" cy="237744"/>
          </a:xfrm>
          <a:prstGeom prst="rect">
            <a:avLst/>
          </a:prstGeom>
        </p:spPr>
      </p:pic>
      <p:sp>
        <p:nvSpPr>
          <p:cNvPr id="68" name="n8n step 3 text"/>
          <p:cNvSpPr txBox="1"/>
          <p:nvPr/>
        </p:nvSpPr>
        <p:spPr>
          <a:xfrm>
            <a:off x="6655003" y="4416552"/>
            <a:ext cx="1302105" cy="438912"/>
          </a:xfrm>
          <a:prstGeom prst="rect">
            <a:avLst/>
          </a:prstGeom>
          <a:noFill/>
        </p:spPr>
        <p:txBody>
          <a:bodyPr wrap="square" lIns="0" rIns="0" tIns="0" bIns="0" anchor="ctr">
            <a:spAutoFit/>
          </a:bodyPr>
          <a:lstStyle/>
          <a:p>
            <a:pPr algn="l"/>
            <a:r>
              <a:rPr sz="1000" b="1" i="0">
                <a:solidFill>
                  <a:srgbClr val="222222"/>
                </a:solidFill>
                <a:latin typeface="Calibri"/>
              </a:rPr>
              <a:t>Telegram: Approve / Cancel</a:t>
            </a:r>
          </a:p>
        </p:txBody>
      </p:sp>
      <p:cxnSp>
        <p:nvCxnSpPr>
          <p:cNvPr id="69" name="n8n arrow 3"/>
          <p:cNvCxnSpPr/>
          <p:nvPr/>
        </p:nvCxnSpPr>
        <p:spPr>
          <a:xfrm>
            <a:off x="7993684" y="4636008"/>
            <a:ext cx="155448" cy="0"/>
          </a:xfrm>
          <a:prstGeom prst="line">
            <a:avLst/>
          </a:prstGeom>
          <a:ln w="1587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n8n step 4"/>
          <p:cNvSpPr/>
          <p:nvPr/>
        </p:nvSpPr>
        <p:spPr>
          <a:xfrm>
            <a:off x="8149132" y="4416552"/>
            <a:ext cx="1722729" cy="438912"/>
          </a:xfrm>
          <a:prstGeom prst="roundRect">
            <a:avLst>
              <a:gd name="adj" fmla="val 20000"/>
            </a:avLst>
          </a:prstGeom>
          <a:solidFill>
            <a:srgbClr val="EEF1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71" name="Picture 70" descr="clock_1E2761.png"/>
          <p:cNvPicPr>
            <a:picLocks noChangeAspect="1"/>
          </p:cNvPicPr>
          <p:nvPr/>
        </p:nvPicPr>
        <p:blipFill>
          <a:blip r:embed="rId14"/>
          <a:stretch>
            <a:fillRect/>
          </a:stretch>
        </p:blipFill>
        <p:spPr>
          <a:xfrm>
            <a:off x="8240572" y="4526280"/>
            <a:ext cx="237744" cy="237744"/>
          </a:xfrm>
          <a:prstGeom prst="rect">
            <a:avLst/>
          </a:prstGeom>
        </p:spPr>
      </p:pic>
      <p:sp>
        <p:nvSpPr>
          <p:cNvPr id="72" name="n8n step 4 text"/>
          <p:cNvSpPr txBox="1"/>
          <p:nvPr/>
        </p:nvSpPr>
        <p:spPr>
          <a:xfrm>
            <a:off x="8533180" y="4416552"/>
            <a:ext cx="1302105" cy="438912"/>
          </a:xfrm>
          <a:prstGeom prst="rect">
            <a:avLst/>
          </a:prstGeom>
          <a:noFill/>
        </p:spPr>
        <p:txBody>
          <a:bodyPr wrap="square" lIns="0" rIns="0" tIns="0" bIns="0" anchor="ctr">
            <a:spAutoFit/>
          </a:bodyPr>
          <a:lstStyle/>
          <a:p>
            <a:pPr algn="l"/>
            <a:r>
              <a:rPr sz="1000" b="1" i="0">
                <a:solidFill>
                  <a:srgbClr val="222222"/>
                </a:solidFill>
                <a:latin typeface="Calibri"/>
              </a:rPr>
              <a:t>No reply in 30 min → cancel</a:t>
            </a:r>
          </a:p>
        </p:txBody>
      </p:sp>
      <p:cxnSp>
        <p:nvCxnSpPr>
          <p:cNvPr id="73" name="n8n arrow 4"/>
          <p:cNvCxnSpPr/>
          <p:nvPr/>
        </p:nvCxnSpPr>
        <p:spPr>
          <a:xfrm>
            <a:off x="9871862" y="4636008"/>
            <a:ext cx="155448" cy="0"/>
          </a:xfrm>
          <a:prstGeom prst="line">
            <a:avLst/>
          </a:prstGeom>
          <a:ln w="1587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4" name="n8n step 5"/>
          <p:cNvSpPr/>
          <p:nvPr/>
        </p:nvSpPr>
        <p:spPr>
          <a:xfrm>
            <a:off x="10027310" y="4416552"/>
            <a:ext cx="1722729" cy="438912"/>
          </a:xfrm>
          <a:prstGeom prst="roundRect">
            <a:avLst>
              <a:gd name="adj" fmla="val 20000"/>
            </a:avLst>
          </a:prstGeom>
          <a:solidFill>
            <a:srgbClr val="EEF1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75" name="Picture 74" descr="db_2E7D32.png"/>
          <p:cNvPicPr>
            <a:picLocks noChangeAspect="1"/>
          </p:cNvPicPr>
          <p:nvPr/>
        </p:nvPicPr>
        <p:blipFill>
          <a:blip r:embed="rId15"/>
          <a:stretch>
            <a:fillRect/>
          </a:stretch>
        </p:blipFill>
        <p:spPr>
          <a:xfrm>
            <a:off x="10118750" y="4526280"/>
            <a:ext cx="237744" cy="237744"/>
          </a:xfrm>
          <a:prstGeom prst="rect">
            <a:avLst/>
          </a:prstGeom>
        </p:spPr>
      </p:pic>
      <p:sp>
        <p:nvSpPr>
          <p:cNvPr id="76" name="n8n step 5 text"/>
          <p:cNvSpPr txBox="1"/>
          <p:nvPr/>
        </p:nvSpPr>
        <p:spPr>
          <a:xfrm>
            <a:off x="10411358" y="4416552"/>
            <a:ext cx="1302105" cy="438912"/>
          </a:xfrm>
          <a:prstGeom prst="rect">
            <a:avLst/>
          </a:prstGeom>
          <a:noFill/>
        </p:spPr>
        <p:txBody>
          <a:bodyPr wrap="square" lIns="0" rIns="0" tIns="0" bIns="0" anchor="ctr">
            <a:spAutoFit/>
          </a:bodyPr>
          <a:lstStyle/>
          <a:p>
            <a:pPr algn="l"/>
            <a:r>
              <a:rPr sz="1000" b="1" i="0">
                <a:solidFill>
                  <a:srgbClr val="222222"/>
                </a:solidFill>
                <a:latin typeface="Calibri"/>
              </a:rPr>
              <a:t>Outcome → training label</a:t>
            </a:r>
          </a:p>
        </p:txBody>
      </p:sp>
      <p:sp>
        <p:nvSpPr>
          <p:cNvPr id="77" name="Stack label"/>
          <p:cNvSpPr txBox="1"/>
          <p:nvPr/>
        </p:nvSpPr>
        <p:spPr>
          <a:xfrm>
            <a:off x="457200" y="5029200"/>
            <a:ext cx="3657600" cy="274320"/>
          </a:xfrm>
          <a:prstGeom prst="rect">
            <a:avLst/>
          </a:prstGeom>
          <a:noFill/>
        </p:spPr>
        <p:txBody>
          <a:bodyPr wrap="square" lIns="0" rIns="0" tIns="0" bIns="0" anchor="t">
            <a:spAutoFit/>
          </a:bodyPr>
          <a:lstStyle/>
          <a:p>
            <a:pPr algn="l"/>
            <a:r>
              <a:rPr sz="1100" b="1" i="0">
                <a:solidFill>
                  <a:srgbClr val="1E2761"/>
                </a:solidFill>
                <a:latin typeface="Calibri"/>
              </a:rPr>
              <a:t>STACK · ₹0 RUNNING COST</a:t>
            </a:r>
          </a:p>
        </p:txBody>
      </p:sp>
      <p:sp>
        <p:nvSpPr>
          <p:cNvPr id="78" name="Chip 1"/>
          <p:cNvSpPr/>
          <p:nvPr/>
        </p:nvSpPr>
        <p:spPr>
          <a:xfrm>
            <a:off x="457200" y="5358384"/>
            <a:ext cx="1783080" cy="384048"/>
          </a:xfrm>
          <a:prstGeom prst="roundRect">
            <a:avLst>
              <a:gd name="adj" fmla="val 3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79" name="Picture 78" descr="code_1E2761.png"/>
          <p:cNvPicPr>
            <a:picLocks noChangeAspect="1"/>
          </p:cNvPicPr>
          <p:nvPr/>
        </p:nvPicPr>
        <p:blipFill>
          <a:blip r:embed="rId16"/>
          <a:stretch>
            <a:fillRect/>
          </a:stretch>
        </p:blipFill>
        <p:spPr>
          <a:xfrm>
            <a:off x="566928" y="5431536"/>
            <a:ext cx="237744" cy="237744"/>
          </a:xfrm>
          <a:prstGeom prst="rect">
            <a:avLst/>
          </a:prstGeom>
        </p:spPr>
      </p:pic>
      <p:sp>
        <p:nvSpPr>
          <p:cNvPr id="80" name="Chip 1 text"/>
          <p:cNvSpPr txBox="1"/>
          <p:nvPr/>
        </p:nvSpPr>
        <p:spPr>
          <a:xfrm>
            <a:off x="859536" y="5358384"/>
            <a:ext cx="1371600" cy="384048"/>
          </a:xfrm>
          <a:prstGeom prst="rect">
            <a:avLst/>
          </a:prstGeom>
          <a:noFill/>
        </p:spPr>
        <p:txBody>
          <a:bodyPr wrap="square" lIns="0" rIns="0" tIns="0" bIns="0" anchor="ctr">
            <a:spAutoFit/>
          </a:bodyPr>
          <a:lstStyle/>
          <a:p>
            <a:pPr algn="l"/>
            <a:r>
              <a:rPr sz="1050" b="1" i="0">
                <a:solidFill>
                  <a:srgbClr val="222222"/>
                </a:solidFill>
                <a:latin typeface="Calibri"/>
              </a:rPr>
              <a:t>Python · FastAPI</a:t>
            </a:r>
          </a:p>
        </p:txBody>
      </p:sp>
      <p:sp>
        <p:nvSpPr>
          <p:cNvPr id="81" name="Chip 2"/>
          <p:cNvSpPr/>
          <p:nvPr/>
        </p:nvSpPr>
        <p:spPr>
          <a:xfrm>
            <a:off x="2313432" y="5358384"/>
            <a:ext cx="1783080" cy="384048"/>
          </a:xfrm>
          <a:prstGeom prst="roundRect">
            <a:avLst>
              <a:gd name="adj" fmla="val 3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82" name="Picture 81" descr="cpu_1E2761.png"/>
          <p:cNvPicPr>
            <a:picLocks noChangeAspect="1"/>
          </p:cNvPicPr>
          <p:nvPr/>
        </p:nvPicPr>
        <p:blipFill>
          <a:blip r:embed="rId6"/>
          <a:stretch>
            <a:fillRect/>
          </a:stretch>
        </p:blipFill>
        <p:spPr>
          <a:xfrm>
            <a:off x="2423160" y="5431536"/>
            <a:ext cx="237744" cy="237744"/>
          </a:xfrm>
          <a:prstGeom prst="rect">
            <a:avLst/>
          </a:prstGeom>
        </p:spPr>
      </p:pic>
      <p:sp>
        <p:nvSpPr>
          <p:cNvPr id="83" name="Chip 2 text"/>
          <p:cNvSpPr txBox="1"/>
          <p:nvPr/>
        </p:nvSpPr>
        <p:spPr>
          <a:xfrm>
            <a:off x="2715768" y="5358384"/>
            <a:ext cx="1371600" cy="384048"/>
          </a:xfrm>
          <a:prstGeom prst="rect">
            <a:avLst/>
          </a:prstGeom>
          <a:noFill/>
        </p:spPr>
        <p:txBody>
          <a:bodyPr wrap="square" lIns="0" rIns="0" tIns="0" bIns="0" anchor="ctr">
            <a:spAutoFit/>
          </a:bodyPr>
          <a:lstStyle/>
          <a:p>
            <a:pPr algn="l"/>
            <a:r>
              <a:rPr sz="1050" b="1" i="0">
                <a:solidFill>
                  <a:srgbClr val="222222"/>
                </a:solidFill>
                <a:latin typeface="Calibri"/>
              </a:rPr>
              <a:t>LightGBM + SHAP</a:t>
            </a:r>
          </a:p>
        </p:txBody>
      </p:sp>
      <p:sp>
        <p:nvSpPr>
          <p:cNvPr id="84" name="Chip 3"/>
          <p:cNvSpPr/>
          <p:nvPr/>
        </p:nvSpPr>
        <p:spPr>
          <a:xfrm>
            <a:off x="457200" y="5815584"/>
            <a:ext cx="1783080" cy="384048"/>
          </a:xfrm>
          <a:prstGeom prst="roundRect">
            <a:avLst>
              <a:gd name="adj" fmla="val 3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85" name="Picture 84" descr="eye_1E2761.png"/>
          <p:cNvPicPr>
            <a:picLocks noChangeAspect="1"/>
          </p:cNvPicPr>
          <p:nvPr/>
        </p:nvPicPr>
        <p:blipFill>
          <a:blip r:embed="rId17"/>
          <a:stretch>
            <a:fillRect/>
          </a:stretch>
        </p:blipFill>
        <p:spPr>
          <a:xfrm>
            <a:off x="566928" y="5888736"/>
            <a:ext cx="237744" cy="237744"/>
          </a:xfrm>
          <a:prstGeom prst="rect">
            <a:avLst/>
          </a:prstGeom>
        </p:spPr>
      </p:pic>
      <p:sp>
        <p:nvSpPr>
          <p:cNvPr id="86" name="Chip 3 text"/>
          <p:cNvSpPr txBox="1"/>
          <p:nvPr/>
        </p:nvSpPr>
        <p:spPr>
          <a:xfrm>
            <a:off x="859536" y="5815584"/>
            <a:ext cx="1371600" cy="384048"/>
          </a:xfrm>
          <a:prstGeom prst="rect">
            <a:avLst/>
          </a:prstGeom>
          <a:noFill/>
        </p:spPr>
        <p:txBody>
          <a:bodyPr wrap="square" lIns="0" rIns="0" tIns="0" bIns="0" anchor="ctr">
            <a:spAutoFit/>
          </a:bodyPr>
          <a:lstStyle/>
          <a:p>
            <a:pPr algn="l"/>
            <a:r>
              <a:rPr sz="1050" b="1" i="0">
                <a:solidFill>
                  <a:srgbClr val="222222"/>
                </a:solidFill>
                <a:latin typeface="Calibri"/>
              </a:rPr>
              <a:t>React dashboard</a:t>
            </a:r>
          </a:p>
        </p:txBody>
      </p:sp>
      <p:sp>
        <p:nvSpPr>
          <p:cNvPr id="87" name="Chip 4"/>
          <p:cNvSpPr/>
          <p:nvPr/>
        </p:nvSpPr>
        <p:spPr>
          <a:xfrm>
            <a:off x="2313432" y="5815584"/>
            <a:ext cx="1783080" cy="384048"/>
          </a:xfrm>
          <a:prstGeom prst="roundRect">
            <a:avLst>
              <a:gd name="adj" fmla="val 3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88" name="Picture 87" descr="db_1E2761.png"/>
          <p:cNvPicPr>
            <a:picLocks noChangeAspect="1"/>
          </p:cNvPicPr>
          <p:nvPr/>
        </p:nvPicPr>
        <p:blipFill>
          <a:blip r:embed="rId18"/>
          <a:stretch>
            <a:fillRect/>
          </a:stretch>
        </p:blipFill>
        <p:spPr>
          <a:xfrm>
            <a:off x="2423160" y="5888736"/>
            <a:ext cx="237744" cy="237744"/>
          </a:xfrm>
          <a:prstGeom prst="rect">
            <a:avLst/>
          </a:prstGeom>
        </p:spPr>
      </p:pic>
      <p:sp>
        <p:nvSpPr>
          <p:cNvPr id="89" name="Chip 4 text"/>
          <p:cNvSpPr txBox="1"/>
          <p:nvPr/>
        </p:nvSpPr>
        <p:spPr>
          <a:xfrm>
            <a:off x="2715768" y="5815584"/>
            <a:ext cx="1371600" cy="384048"/>
          </a:xfrm>
          <a:prstGeom prst="rect">
            <a:avLst/>
          </a:prstGeom>
          <a:noFill/>
        </p:spPr>
        <p:txBody>
          <a:bodyPr wrap="square" lIns="0" rIns="0" tIns="0" bIns="0" anchor="ctr">
            <a:spAutoFit/>
          </a:bodyPr>
          <a:lstStyle/>
          <a:p>
            <a:pPr algn="l"/>
            <a:r>
              <a:rPr sz="1050" b="1" i="0">
                <a:solidFill>
                  <a:srgbClr val="222222"/>
                </a:solidFill>
                <a:latin typeface="Calibri"/>
              </a:rPr>
              <a:t>Supabase</a:t>
            </a:r>
          </a:p>
        </p:txBody>
      </p:sp>
      <p:sp>
        <p:nvSpPr>
          <p:cNvPr id="90" name="Chip 5"/>
          <p:cNvSpPr/>
          <p:nvPr/>
        </p:nvSpPr>
        <p:spPr>
          <a:xfrm>
            <a:off x="457200" y="6272784"/>
            <a:ext cx="1783080" cy="384048"/>
          </a:xfrm>
          <a:prstGeom prst="roundRect">
            <a:avLst>
              <a:gd name="adj" fmla="val 30000"/>
            </a:avLst>
          </a:prstGeom>
          <a:solidFill>
            <a:srgbClr val="FDE8EE"/>
          </a:solidFill>
          <a:ln w="12700">
            <a:solidFill>
              <a:srgbClr val="EA4B7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91" name="Picture 90" descr="send_EA4B71.png"/>
          <p:cNvPicPr>
            <a:picLocks noChangeAspect="1"/>
          </p:cNvPicPr>
          <p:nvPr/>
        </p:nvPicPr>
        <p:blipFill>
          <a:blip r:embed="rId19"/>
          <a:stretch>
            <a:fillRect/>
          </a:stretch>
        </p:blipFill>
        <p:spPr>
          <a:xfrm>
            <a:off x="566928" y="6345936"/>
            <a:ext cx="237744" cy="237744"/>
          </a:xfrm>
          <a:prstGeom prst="rect">
            <a:avLst/>
          </a:prstGeom>
        </p:spPr>
      </p:pic>
      <p:sp>
        <p:nvSpPr>
          <p:cNvPr id="92" name="Chip 5 text"/>
          <p:cNvSpPr txBox="1"/>
          <p:nvPr/>
        </p:nvSpPr>
        <p:spPr>
          <a:xfrm>
            <a:off x="859536" y="6272784"/>
            <a:ext cx="1371600" cy="384048"/>
          </a:xfrm>
          <a:prstGeom prst="rect">
            <a:avLst/>
          </a:prstGeom>
          <a:noFill/>
        </p:spPr>
        <p:txBody>
          <a:bodyPr wrap="square" lIns="0" rIns="0" tIns="0" bIns="0" anchor="ctr">
            <a:spAutoFit/>
          </a:bodyPr>
          <a:lstStyle/>
          <a:p>
            <a:pPr algn="l"/>
            <a:r>
              <a:rPr sz="1050" b="1" i="0">
                <a:solidFill>
                  <a:srgbClr val="EA4B71"/>
                </a:solidFill>
                <a:latin typeface="Calibri"/>
              </a:rPr>
              <a:t>n8n</a:t>
            </a:r>
            <a:r>
              <a:rPr sz="1050" b="1" i="0">
                <a:solidFill>
                  <a:srgbClr val="222222"/>
                </a:solidFill>
                <a:latin typeface="Calibri"/>
              </a:rPr>
              <a:t> + Telegram</a:t>
            </a:r>
          </a:p>
        </p:txBody>
      </p:sp>
      <p:sp>
        <p:nvSpPr>
          <p:cNvPr id="93" name="Chip 6"/>
          <p:cNvSpPr/>
          <p:nvPr/>
        </p:nvSpPr>
        <p:spPr>
          <a:xfrm>
            <a:off x="2313432" y="6272784"/>
            <a:ext cx="1783080" cy="384048"/>
          </a:xfrm>
          <a:prstGeom prst="roundRect">
            <a:avLst>
              <a:gd name="adj" fmla="val 3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pic>
        <p:nvPicPr>
          <p:cNvPr id="94" name="Picture 93" descr="fp_1E2761.png"/>
          <p:cNvPicPr>
            <a:picLocks noChangeAspect="1"/>
          </p:cNvPicPr>
          <p:nvPr/>
        </p:nvPicPr>
        <p:blipFill>
          <a:blip r:embed="rId20"/>
          <a:stretch>
            <a:fillRect/>
          </a:stretch>
        </p:blipFill>
        <p:spPr>
          <a:xfrm>
            <a:off x="2423160" y="6345936"/>
            <a:ext cx="237744" cy="237744"/>
          </a:xfrm>
          <a:prstGeom prst="rect">
            <a:avLst/>
          </a:prstGeom>
        </p:spPr>
      </p:pic>
      <p:sp>
        <p:nvSpPr>
          <p:cNvPr id="95" name="Chip 6 text"/>
          <p:cNvSpPr txBox="1"/>
          <p:nvPr/>
        </p:nvSpPr>
        <p:spPr>
          <a:xfrm>
            <a:off x="2715768" y="6272784"/>
            <a:ext cx="1371600" cy="384048"/>
          </a:xfrm>
          <a:prstGeom prst="rect">
            <a:avLst/>
          </a:prstGeom>
          <a:noFill/>
        </p:spPr>
        <p:txBody>
          <a:bodyPr wrap="square" lIns="0" rIns="0" tIns="0" bIns="0" anchor="ctr">
            <a:spAutoFit/>
          </a:bodyPr>
          <a:lstStyle/>
          <a:p>
            <a:pPr algn="l"/>
            <a:r>
              <a:rPr sz="1050" b="1" i="0">
                <a:solidFill>
                  <a:srgbClr val="222222"/>
                </a:solidFill>
                <a:latin typeface="Calibri"/>
              </a:rPr>
              <a:t>WebAuthn passkeys</a:t>
            </a:r>
          </a:p>
        </p:txBody>
      </p:sp>
      <p:sp>
        <p:nvSpPr>
          <p:cNvPr id="96" name="Data label"/>
          <p:cNvSpPr txBox="1"/>
          <p:nvPr/>
        </p:nvSpPr>
        <p:spPr>
          <a:xfrm>
            <a:off x="4279392" y="5029200"/>
            <a:ext cx="3566160" cy="274320"/>
          </a:xfrm>
          <a:prstGeom prst="rect">
            <a:avLst/>
          </a:prstGeom>
          <a:noFill/>
        </p:spPr>
        <p:txBody>
          <a:bodyPr wrap="square" lIns="0" rIns="0" tIns="0" bIns="0" anchor="t">
            <a:spAutoFit/>
          </a:bodyPr>
          <a:lstStyle/>
          <a:p>
            <a:pPr algn="l"/>
            <a:r>
              <a:rPr sz="1100" b="1" i="0">
                <a:solidFill>
                  <a:srgbClr val="1E2761"/>
                </a:solidFill>
                <a:latin typeface="Calibri"/>
              </a:rPr>
              <a:t>SYNTHETIC DATA (NO PUBLIC SET HAS THESE SIGNALS)</a:t>
            </a:r>
          </a:p>
        </p:txBody>
      </p:sp>
      <p:sp>
        <p:nvSpPr>
          <p:cNvPr id="97" name="Data 1"/>
          <p:cNvSpPr/>
          <p:nvPr/>
        </p:nvSpPr>
        <p:spPr>
          <a:xfrm>
            <a:off x="4279392" y="5358384"/>
            <a:ext cx="1097280" cy="841248"/>
          </a:xfrm>
          <a:prstGeom prst="roundRect">
            <a:avLst>
              <a:gd name="adj" fmla="val 12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98" name="Data 1 big"/>
          <p:cNvSpPr txBox="1"/>
          <p:nvPr/>
        </p:nvSpPr>
        <p:spPr>
          <a:xfrm>
            <a:off x="4279392" y="5394960"/>
            <a:ext cx="1097280" cy="457200"/>
          </a:xfrm>
          <a:prstGeom prst="rect">
            <a:avLst/>
          </a:prstGeom>
          <a:noFill/>
        </p:spPr>
        <p:txBody>
          <a:bodyPr wrap="square" lIns="0" rIns="0" tIns="0" bIns="0" anchor="t">
            <a:spAutoFit/>
          </a:bodyPr>
          <a:lstStyle/>
          <a:p>
            <a:pPr algn="ctr"/>
            <a:r>
              <a:rPr sz="2400" b="1" i="0">
                <a:solidFill>
                  <a:srgbClr val="1E2761"/>
                </a:solidFill>
                <a:latin typeface="Cambria"/>
              </a:rPr>
              <a:t>5k</a:t>
            </a:r>
          </a:p>
        </p:txBody>
      </p:sp>
      <p:sp>
        <p:nvSpPr>
          <p:cNvPr id="99" name="Data 1 small"/>
          <p:cNvSpPr txBox="1"/>
          <p:nvPr/>
        </p:nvSpPr>
        <p:spPr>
          <a:xfrm>
            <a:off x="4279392" y="5852160"/>
            <a:ext cx="1097280" cy="274320"/>
          </a:xfrm>
          <a:prstGeom prst="rect">
            <a:avLst/>
          </a:prstGeom>
          <a:noFill/>
        </p:spPr>
        <p:txBody>
          <a:bodyPr wrap="square" lIns="0" rIns="0" tIns="0" bIns="0" anchor="t">
            <a:spAutoFit/>
          </a:bodyPr>
          <a:lstStyle/>
          <a:p>
            <a:pPr algn="ctr"/>
            <a:r>
              <a:rPr sz="1050" b="0" i="0">
                <a:solidFill>
                  <a:srgbClr val="222222"/>
                </a:solidFill>
                <a:latin typeface="Calibri"/>
              </a:rPr>
              <a:t>users</a:t>
            </a:r>
          </a:p>
        </p:txBody>
      </p:sp>
      <p:sp>
        <p:nvSpPr>
          <p:cNvPr id="100" name="Data 2"/>
          <p:cNvSpPr/>
          <p:nvPr/>
        </p:nvSpPr>
        <p:spPr>
          <a:xfrm>
            <a:off x="5477256" y="5358384"/>
            <a:ext cx="1097280" cy="841248"/>
          </a:xfrm>
          <a:prstGeom prst="roundRect">
            <a:avLst>
              <a:gd name="adj" fmla="val 12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101" name="Data 2 big"/>
          <p:cNvSpPr txBox="1"/>
          <p:nvPr/>
        </p:nvSpPr>
        <p:spPr>
          <a:xfrm>
            <a:off x="5477256" y="5394960"/>
            <a:ext cx="1097280" cy="457200"/>
          </a:xfrm>
          <a:prstGeom prst="rect">
            <a:avLst/>
          </a:prstGeom>
          <a:noFill/>
        </p:spPr>
        <p:txBody>
          <a:bodyPr wrap="square" lIns="0" rIns="0" tIns="0" bIns="0" anchor="t">
            <a:spAutoFit/>
          </a:bodyPr>
          <a:lstStyle/>
          <a:p>
            <a:pPr algn="ctr"/>
            <a:r>
              <a:rPr sz="2400" b="1" i="0">
                <a:solidFill>
                  <a:srgbClr val="1E2761"/>
                </a:solidFill>
                <a:latin typeface="Cambria"/>
              </a:rPr>
              <a:t>30</a:t>
            </a:r>
          </a:p>
        </p:txBody>
      </p:sp>
      <p:sp>
        <p:nvSpPr>
          <p:cNvPr id="102" name="Data 2 small"/>
          <p:cNvSpPr txBox="1"/>
          <p:nvPr/>
        </p:nvSpPr>
        <p:spPr>
          <a:xfrm>
            <a:off x="5477256" y="5852160"/>
            <a:ext cx="1097280" cy="274320"/>
          </a:xfrm>
          <a:prstGeom prst="rect">
            <a:avLst/>
          </a:prstGeom>
          <a:noFill/>
        </p:spPr>
        <p:txBody>
          <a:bodyPr wrap="square" lIns="0" rIns="0" tIns="0" bIns="0" anchor="t">
            <a:spAutoFit/>
          </a:bodyPr>
          <a:lstStyle/>
          <a:p>
            <a:pPr algn="ctr"/>
            <a:r>
              <a:rPr sz="1050" b="0" i="0">
                <a:solidFill>
                  <a:srgbClr val="222222"/>
                </a:solidFill>
                <a:latin typeface="Calibri"/>
              </a:rPr>
              <a:t>days</a:t>
            </a:r>
          </a:p>
        </p:txBody>
      </p:sp>
      <p:sp>
        <p:nvSpPr>
          <p:cNvPr id="103" name="Data 3"/>
          <p:cNvSpPr/>
          <p:nvPr/>
        </p:nvSpPr>
        <p:spPr>
          <a:xfrm>
            <a:off x="6675120" y="5358384"/>
            <a:ext cx="1097280" cy="841248"/>
          </a:xfrm>
          <a:prstGeom prst="roundRect">
            <a:avLst>
              <a:gd name="adj" fmla="val 12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104" name="Data 3 big"/>
          <p:cNvSpPr txBox="1"/>
          <p:nvPr/>
        </p:nvSpPr>
        <p:spPr>
          <a:xfrm>
            <a:off x="6675120" y="5394960"/>
            <a:ext cx="1097280" cy="457200"/>
          </a:xfrm>
          <a:prstGeom prst="rect">
            <a:avLst/>
          </a:prstGeom>
          <a:noFill/>
        </p:spPr>
        <p:txBody>
          <a:bodyPr wrap="square" lIns="0" rIns="0" tIns="0" bIns="0" anchor="t">
            <a:spAutoFit/>
          </a:bodyPr>
          <a:lstStyle/>
          <a:p>
            <a:pPr algn="ctr"/>
            <a:r>
              <a:rPr sz="2400" b="1" i="0">
                <a:solidFill>
                  <a:srgbClr val="1E2761"/>
                </a:solidFill>
                <a:latin typeface="Cambria"/>
              </a:rPr>
              <a:t>4</a:t>
            </a:r>
          </a:p>
        </p:txBody>
      </p:sp>
      <p:sp>
        <p:nvSpPr>
          <p:cNvPr id="105" name="Data 3 small"/>
          <p:cNvSpPr txBox="1"/>
          <p:nvPr/>
        </p:nvSpPr>
        <p:spPr>
          <a:xfrm>
            <a:off x="6675120" y="5852160"/>
            <a:ext cx="1097280" cy="274320"/>
          </a:xfrm>
          <a:prstGeom prst="rect">
            <a:avLst/>
          </a:prstGeom>
          <a:noFill/>
        </p:spPr>
        <p:txBody>
          <a:bodyPr wrap="square" lIns="0" rIns="0" tIns="0" bIns="0" anchor="t">
            <a:spAutoFit/>
          </a:bodyPr>
          <a:lstStyle/>
          <a:p>
            <a:pPr algn="ctr"/>
            <a:r>
              <a:rPr sz="1050" b="0" i="0">
                <a:solidFill>
                  <a:srgbClr val="222222"/>
                </a:solidFill>
                <a:latin typeface="Calibri"/>
              </a:rPr>
              <a:t>attack types</a:t>
            </a:r>
          </a:p>
        </p:txBody>
      </p:sp>
      <p:sp>
        <p:nvSpPr>
          <p:cNvPr id="106" name="Data note"/>
          <p:cNvSpPr txBox="1"/>
          <p:nvPr/>
        </p:nvSpPr>
        <p:spPr>
          <a:xfrm>
            <a:off x="4279392" y="6272784"/>
            <a:ext cx="3566160" cy="365760"/>
          </a:xfrm>
          <a:prstGeom prst="rect">
            <a:avLst/>
          </a:prstGeom>
          <a:noFill/>
        </p:spPr>
        <p:txBody>
          <a:bodyPr wrap="square" lIns="0" rIns="0" tIns="0" bIns="0" anchor="t">
            <a:spAutoFit/>
          </a:bodyPr>
          <a:lstStyle/>
          <a:p>
            <a:pPr algn="l"/>
            <a:r>
              <a:rPr sz="1000" b="0" i="1">
                <a:solidFill>
                  <a:srgbClr val="5A6275"/>
                </a:solidFill>
                <a:latin typeface="Calibri"/>
              </a:rPr>
              <a:t>+ hard negatives (travel, new phone) · checked on IEEE-CIS &amp; PaySim</a:t>
            </a:r>
          </a:p>
        </p:txBody>
      </p:sp>
      <p:graphicFrame>
        <p:nvGraphicFramePr>
          <p:cNvPr id="107" name="Decision rule chart"/>
          <p:cNvGraphicFramePr>
            <a:graphicFrameLocks noGrp="1"/>
          </p:cNvGraphicFramePr>
          <p:nvPr/>
        </p:nvGraphicFramePr>
        <p:xfrm>
          <a:off x="8046720" y="4983480"/>
          <a:ext cx="3703320" cy="1719072"/>
        </p:xfrm>
        <a:graphic>
          <a:graphicData uri="http://schemas.openxmlformats.org/drawingml/2006/chart">
            <c:chart xmlns:c="http://schemas.openxmlformats.org/drawingml/2006/chart" r:id="rId2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A deployed, working prototype in the hack, honest about its limits</a:t>
            </a:r>
            <a:endParaRPr lang="en-US" sz="2000" dirty="0"/>
          </a:p>
        </p:txBody>
      </p:sp>
      <p:sp>
        <p:nvSpPr>
          <p:cNvPr id="13" name="Text 1">
            <a:extLst>
              <a:ext uri="{FF2B5EF4-FFF2-40B4-BE49-F238E27FC236}">
                <a16:creationId xmlns:a16="http://schemas.microsoft.com/office/drawing/2014/main" id="{3F1D7908-2C9B-D0C1-C6B4-F476CD7593EC}"/>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5 OF 5</a:t>
            </a:r>
            <a:endParaRPr lang="en-US" sz="1200" dirty="0"/>
          </a:p>
        </p:txBody>
      </p:sp>
      <p:sp>
        <p:nvSpPr>
          <p:cNvPr id="15" name="Text 2">
            <a:extLst>
              <a:ext uri="{FF2B5EF4-FFF2-40B4-BE49-F238E27FC236}">
                <a16:creationId xmlns:a16="http://schemas.microsoft.com/office/drawing/2014/main" id="{AB4164AD-F079-5D4C-5467-4DABD5DBBFFD}"/>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Build Plan, Risks &amp; Impact</a:t>
            </a:r>
            <a:endParaRPr lang="en-US" sz="2800" dirty="0"/>
          </a:p>
        </p:txBody>
      </p:sp>
      <p:sp>
        <p:nvSpPr>
          <p:cNvPr id="16" name="Col head 1"/>
          <p:cNvSpPr/>
          <p:nvPr/>
        </p:nvSpPr>
        <p:spPr>
          <a:xfrm>
            <a:off x="457200" y="2560320"/>
            <a:ext cx="3630168" cy="420624"/>
          </a:xfrm>
          <a:prstGeom prst="roundRect">
            <a:avLst>
              <a:gd name="adj" fmla="val 3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109728" tIns="76809" bIns="76809"/>
          <a:lstStyle/>
          <a:p>
            <a:pPr algn="l"/>
            <a:r>
              <a:rPr sz="1200" b="1" i="0">
                <a:solidFill>
                  <a:srgbClr val="FFFFFF"/>
                </a:solidFill>
                <a:latin typeface="Calibri"/>
              </a:rPr>
              <a:t>1 · WHAT WE BUILD</a:t>
            </a:r>
          </a:p>
        </p:txBody>
      </p:sp>
      <p:pic>
        <p:nvPicPr>
          <p:cNvPr id="17" name="Picture 16" descr="code_FFFFFF.png"/>
          <p:cNvPicPr>
            <a:picLocks noChangeAspect="1"/>
          </p:cNvPicPr>
          <p:nvPr/>
        </p:nvPicPr>
        <p:blipFill>
          <a:blip r:embed="rId3"/>
          <a:stretch>
            <a:fillRect/>
          </a:stretch>
        </p:blipFill>
        <p:spPr>
          <a:xfrm>
            <a:off x="594360" y="2651760"/>
            <a:ext cx="237744" cy="237744"/>
          </a:xfrm>
          <a:prstGeom prst="rect">
            <a:avLst/>
          </a:prstGeom>
        </p:spPr>
      </p:pic>
      <p:sp>
        <p:nvSpPr>
          <p:cNvPr id="18" name="Col head 2"/>
          <p:cNvSpPr/>
          <p:nvPr/>
        </p:nvSpPr>
        <p:spPr>
          <a:xfrm>
            <a:off x="4288536" y="2560320"/>
            <a:ext cx="3630168" cy="420624"/>
          </a:xfrm>
          <a:prstGeom prst="roundRect">
            <a:avLst>
              <a:gd name="adj" fmla="val 3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109728" tIns="76809" bIns="76809"/>
          <a:lstStyle/>
          <a:p>
            <a:pPr algn="l"/>
            <a:r>
              <a:rPr sz="1200" b="1" i="0">
                <a:solidFill>
                  <a:srgbClr val="FFFFFF"/>
                </a:solidFill>
                <a:latin typeface="Calibri"/>
              </a:rPr>
              <a:t>2 · RISKS &amp; HOW WE HANDLE THEM</a:t>
            </a:r>
          </a:p>
        </p:txBody>
      </p:sp>
      <p:pic>
        <p:nvPicPr>
          <p:cNvPr id="19" name="Picture 18" descr="alert_FFFFFF.png"/>
          <p:cNvPicPr>
            <a:picLocks noChangeAspect="1"/>
          </p:cNvPicPr>
          <p:nvPr/>
        </p:nvPicPr>
        <p:blipFill>
          <a:blip r:embed="rId4"/>
          <a:stretch>
            <a:fillRect/>
          </a:stretch>
        </p:blipFill>
        <p:spPr>
          <a:xfrm>
            <a:off x="4425696" y="2651760"/>
            <a:ext cx="237744" cy="237744"/>
          </a:xfrm>
          <a:prstGeom prst="rect">
            <a:avLst/>
          </a:prstGeom>
        </p:spPr>
      </p:pic>
      <p:sp>
        <p:nvSpPr>
          <p:cNvPr id="20" name="Col head 3"/>
          <p:cNvSpPr/>
          <p:nvPr/>
        </p:nvSpPr>
        <p:spPr>
          <a:xfrm>
            <a:off x="8119872" y="2560320"/>
            <a:ext cx="3630168" cy="420624"/>
          </a:xfrm>
          <a:prstGeom prst="roundRect">
            <a:avLst>
              <a:gd name="adj" fmla="val 3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109728" tIns="76809" bIns="76809"/>
          <a:lstStyle/>
          <a:p>
            <a:pPr algn="l"/>
            <a:r>
              <a:rPr sz="1200" b="1" i="0">
                <a:solidFill>
                  <a:srgbClr val="FFFFFF"/>
                </a:solidFill>
                <a:latin typeface="Calibri"/>
              </a:rPr>
              <a:t>3 · EXPECTED IMPACT</a:t>
            </a:r>
          </a:p>
        </p:txBody>
      </p:sp>
      <p:pic>
        <p:nvPicPr>
          <p:cNvPr id="21" name="Picture 20" descr="target_FFFFFF.png"/>
          <p:cNvPicPr>
            <a:picLocks noChangeAspect="1"/>
          </p:cNvPicPr>
          <p:nvPr/>
        </p:nvPicPr>
        <p:blipFill>
          <a:blip r:embed="rId5"/>
          <a:stretch>
            <a:fillRect/>
          </a:stretch>
        </p:blipFill>
        <p:spPr>
          <a:xfrm>
            <a:off x="8257032" y="2651760"/>
            <a:ext cx="237744" cy="237744"/>
          </a:xfrm>
          <a:prstGeom prst="rect">
            <a:avLst/>
          </a:prstGeom>
        </p:spPr>
      </p:pic>
      <p:sp>
        <p:nvSpPr>
          <p:cNvPr id="22" name="Build body"/>
          <p:cNvSpPr/>
          <p:nvPr/>
        </p:nvSpPr>
        <p:spPr>
          <a:xfrm>
            <a:off x="457200" y="3072384"/>
            <a:ext cx="3630168" cy="3529584"/>
          </a:xfrm>
          <a:prstGeom prst="roundRect">
            <a:avLst>
              <a:gd name="adj" fmla="val 5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23" name="Badge check"/>
          <p:cNvSpPr/>
          <p:nvPr/>
        </p:nvSpPr>
        <p:spPr>
          <a:xfrm>
            <a:off x="594360" y="3236976"/>
            <a:ext cx="274320" cy="27432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FFFFFF.png"/>
          <p:cNvPicPr>
            <a:picLocks noChangeAspect="1"/>
          </p:cNvPicPr>
          <p:nvPr/>
        </p:nvPicPr>
        <p:blipFill>
          <a:blip r:embed="rId6"/>
          <a:stretch>
            <a:fillRect/>
          </a:stretch>
        </p:blipFill>
        <p:spPr>
          <a:xfrm>
            <a:off x="649224" y="3291840"/>
            <a:ext cx="164592" cy="164592"/>
          </a:xfrm>
          <a:prstGeom prst="rect">
            <a:avLst/>
          </a:prstGeom>
        </p:spPr>
      </p:pic>
      <p:sp>
        <p:nvSpPr>
          <p:cNvPr id="25" name="Build 1"/>
          <p:cNvSpPr txBox="1"/>
          <p:nvPr/>
        </p:nvSpPr>
        <p:spPr>
          <a:xfrm>
            <a:off x="978408" y="3200400"/>
            <a:ext cx="3017520" cy="347472"/>
          </a:xfrm>
          <a:prstGeom prst="rect">
            <a:avLst/>
          </a:prstGeom>
          <a:noFill/>
        </p:spPr>
        <p:txBody>
          <a:bodyPr wrap="square" lIns="0" rIns="0" tIns="0" bIns="0" anchor="ctr">
            <a:spAutoFit/>
          </a:bodyPr>
          <a:lstStyle/>
          <a:p>
            <a:pPr algn="l"/>
            <a:r>
              <a:rPr sz="1250" b="0" i="0">
                <a:solidFill>
                  <a:srgbClr val="222222"/>
                </a:solidFill>
                <a:latin typeface="Calibri"/>
              </a:rPr>
              <a:t>Live API with fail-safe to 2FA</a:t>
            </a:r>
          </a:p>
        </p:txBody>
      </p:sp>
      <p:sp>
        <p:nvSpPr>
          <p:cNvPr id="26" name="Badge check"/>
          <p:cNvSpPr/>
          <p:nvPr/>
        </p:nvSpPr>
        <p:spPr>
          <a:xfrm>
            <a:off x="594360" y="3639312"/>
            <a:ext cx="274320" cy="27432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heck_FFFFFF.png"/>
          <p:cNvPicPr>
            <a:picLocks noChangeAspect="1"/>
          </p:cNvPicPr>
          <p:nvPr/>
        </p:nvPicPr>
        <p:blipFill>
          <a:blip r:embed="rId6"/>
          <a:stretch>
            <a:fillRect/>
          </a:stretch>
        </p:blipFill>
        <p:spPr>
          <a:xfrm>
            <a:off x="649224" y="3694176"/>
            <a:ext cx="164592" cy="164592"/>
          </a:xfrm>
          <a:prstGeom prst="rect">
            <a:avLst/>
          </a:prstGeom>
        </p:spPr>
      </p:pic>
      <p:sp>
        <p:nvSpPr>
          <p:cNvPr id="28" name="Build 2"/>
          <p:cNvSpPr txBox="1"/>
          <p:nvPr/>
        </p:nvSpPr>
        <p:spPr>
          <a:xfrm>
            <a:off x="978408" y="3602736"/>
            <a:ext cx="3017520" cy="347472"/>
          </a:xfrm>
          <a:prstGeom prst="rect">
            <a:avLst/>
          </a:prstGeom>
          <a:noFill/>
        </p:spPr>
        <p:txBody>
          <a:bodyPr wrap="square" lIns="0" rIns="0" tIns="0" bIns="0" anchor="ctr">
            <a:spAutoFit/>
          </a:bodyPr>
          <a:lstStyle/>
          <a:p>
            <a:pPr algn="l"/>
            <a:r>
              <a:rPr sz="1250" b="0" i="0">
                <a:solidFill>
                  <a:srgbClr val="222222"/>
                </a:solidFill>
                <a:latin typeface="Calibri"/>
              </a:rPr>
              <a:t>Rules + LightGBM + TreeSHAP</a:t>
            </a:r>
          </a:p>
        </p:txBody>
      </p:sp>
      <p:sp>
        <p:nvSpPr>
          <p:cNvPr id="29" name="Badge check"/>
          <p:cNvSpPr/>
          <p:nvPr/>
        </p:nvSpPr>
        <p:spPr>
          <a:xfrm>
            <a:off x="594360" y="4041648"/>
            <a:ext cx="274320" cy="27432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heck_FFFFFF.png"/>
          <p:cNvPicPr>
            <a:picLocks noChangeAspect="1"/>
          </p:cNvPicPr>
          <p:nvPr/>
        </p:nvPicPr>
        <p:blipFill>
          <a:blip r:embed="rId6"/>
          <a:stretch>
            <a:fillRect/>
          </a:stretch>
        </p:blipFill>
        <p:spPr>
          <a:xfrm>
            <a:off x="649224" y="4096511"/>
            <a:ext cx="164592" cy="164592"/>
          </a:xfrm>
          <a:prstGeom prst="rect">
            <a:avLst/>
          </a:prstGeom>
        </p:spPr>
      </p:pic>
      <p:sp>
        <p:nvSpPr>
          <p:cNvPr id="31" name="Build 3"/>
          <p:cNvSpPr txBox="1"/>
          <p:nvPr/>
        </p:nvSpPr>
        <p:spPr>
          <a:xfrm>
            <a:off x="978408" y="4005072"/>
            <a:ext cx="3017520" cy="347472"/>
          </a:xfrm>
          <a:prstGeom prst="rect">
            <a:avLst/>
          </a:prstGeom>
          <a:noFill/>
        </p:spPr>
        <p:txBody>
          <a:bodyPr wrap="square" lIns="0" rIns="0" tIns="0" bIns="0" anchor="ctr">
            <a:spAutoFit/>
          </a:bodyPr>
          <a:lstStyle/>
          <a:p>
            <a:pPr algn="l"/>
            <a:r>
              <a:rPr sz="1250" b="0" i="0">
                <a:solidFill>
                  <a:srgbClr val="222222"/>
                </a:solidFill>
                <a:latin typeface="Calibri"/>
              </a:rPr>
              <a:t>Passkey fingerprint check</a:t>
            </a:r>
          </a:p>
        </p:txBody>
      </p:sp>
      <p:sp>
        <p:nvSpPr>
          <p:cNvPr id="32" name="Badge check"/>
          <p:cNvSpPr/>
          <p:nvPr/>
        </p:nvSpPr>
        <p:spPr>
          <a:xfrm>
            <a:off x="594360" y="4443984"/>
            <a:ext cx="274320" cy="27432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check_FFFFFF.png"/>
          <p:cNvPicPr>
            <a:picLocks noChangeAspect="1"/>
          </p:cNvPicPr>
          <p:nvPr/>
        </p:nvPicPr>
        <p:blipFill>
          <a:blip r:embed="rId6"/>
          <a:stretch>
            <a:fillRect/>
          </a:stretch>
        </p:blipFill>
        <p:spPr>
          <a:xfrm>
            <a:off x="649224" y="4498848"/>
            <a:ext cx="164592" cy="164592"/>
          </a:xfrm>
          <a:prstGeom prst="rect">
            <a:avLst/>
          </a:prstGeom>
        </p:spPr>
      </p:pic>
      <p:sp>
        <p:nvSpPr>
          <p:cNvPr id="34" name="Build 4"/>
          <p:cNvSpPr txBox="1"/>
          <p:nvPr/>
        </p:nvSpPr>
        <p:spPr>
          <a:xfrm>
            <a:off x="978408" y="4407408"/>
            <a:ext cx="3017520" cy="347472"/>
          </a:xfrm>
          <a:prstGeom prst="rect">
            <a:avLst/>
          </a:prstGeom>
          <a:noFill/>
        </p:spPr>
        <p:txBody>
          <a:bodyPr wrap="square" lIns="0" rIns="0" tIns="0" bIns="0" anchor="ctr">
            <a:spAutoFit/>
          </a:bodyPr>
          <a:lstStyle/>
          <a:p>
            <a:pPr algn="l"/>
            <a:r>
              <a:rPr sz="1250" b="1" i="0">
                <a:solidFill>
                  <a:srgbClr val="EA4B71"/>
                </a:solidFill>
                <a:latin typeface="Calibri"/>
              </a:rPr>
              <a:t>n8n</a:t>
            </a:r>
            <a:r>
              <a:rPr sz="1250" b="0" i="0">
                <a:solidFill>
                  <a:srgbClr val="222222"/>
                </a:solidFill>
                <a:latin typeface="Calibri"/>
              </a:rPr>
              <a:t> + Telegram trusted-contact loop</a:t>
            </a:r>
          </a:p>
        </p:txBody>
      </p:sp>
      <p:sp>
        <p:nvSpPr>
          <p:cNvPr id="35" name="Badge check"/>
          <p:cNvSpPr/>
          <p:nvPr/>
        </p:nvSpPr>
        <p:spPr>
          <a:xfrm>
            <a:off x="594360" y="4846320"/>
            <a:ext cx="274320" cy="27432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check_FFFFFF.png"/>
          <p:cNvPicPr>
            <a:picLocks noChangeAspect="1"/>
          </p:cNvPicPr>
          <p:nvPr/>
        </p:nvPicPr>
        <p:blipFill>
          <a:blip r:embed="rId6"/>
          <a:stretch>
            <a:fillRect/>
          </a:stretch>
        </p:blipFill>
        <p:spPr>
          <a:xfrm>
            <a:off x="649224" y="4901183"/>
            <a:ext cx="164592" cy="164592"/>
          </a:xfrm>
          <a:prstGeom prst="rect">
            <a:avLst/>
          </a:prstGeom>
        </p:spPr>
      </p:pic>
      <p:sp>
        <p:nvSpPr>
          <p:cNvPr id="37" name="Build 5"/>
          <p:cNvSpPr txBox="1"/>
          <p:nvPr/>
        </p:nvSpPr>
        <p:spPr>
          <a:xfrm>
            <a:off x="978408" y="4809744"/>
            <a:ext cx="3017520" cy="347472"/>
          </a:xfrm>
          <a:prstGeom prst="rect">
            <a:avLst/>
          </a:prstGeom>
          <a:noFill/>
        </p:spPr>
        <p:txBody>
          <a:bodyPr wrap="square" lIns="0" rIns="0" tIns="0" bIns="0" anchor="ctr">
            <a:spAutoFit/>
          </a:bodyPr>
          <a:lstStyle/>
          <a:p>
            <a:pPr algn="l"/>
            <a:r>
              <a:rPr sz="1250" b="0" i="0">
                <a:solidFill>
                  <a:srgbClr val="222222"/>
                </a:solidFill>
                <a:latin typeface="Calibri"/>
              </a:rPr>
              <a:t>Dashboard with “why” panel</a:t>
            </a:r>
          </a:p>
        </p:txBody>
      </p:sp>
      <p:sp>
        <p:nvSpPr>
          <p:cNvPr id="38" name="Timeline label"/>
          <p:cNvSpPr txBox="1"/>
          <p:nvPr/>
        </p:nvSpPr>
        <p:spPr>
          <a:xfrm>
            <a:off x="594360" y="5285232"/>
            <a:ext cx="3383280" cy="274320"/>
          </a:xfrm>
          <a:prstGeom prst="rect">
            <a:avLst/>
          </a:prstGeom>
          <a:noFill/>
        </p:spPr>
        <p:txBody>
          <a:bodyPr wrap="square" lIns="0" rIns="0" tIns="0" bIns="0" anchor="t">
            <a:spAutoFit/>
          </a:bodyPr>
          <a:lstStyle/>
          <a:p>
            <a:pPr algn="l"/>
            <a:r>
              <a:rPr sz="1050" b="1" i="0">
                <a:solidFill>
                  <a:srgbClr val="1E2761"/>
                </a:solidFill>
                <a:latin typeface="Calibri"/>
              </a:rPr>
              <a:t>24-HOUR PLAN</a:t>
            </a:r>
          </a:p>
        </p:txBody>
      </p:sp>
      <p:sp>
        <p:nvSpPr>
          <p:cNvPr id="39" name="Seg 1"/>
          <p:cNvSpPr/>
          <p:nvPr/>
        </p:nvSpPr>
        <p:spPr>
          <a:xfrm>
            <a:off x="594360" y="5559552"/>
            <a:ext cx="822960" cy="384048"/>
          </a:xfrm>
          <a:prstGeom prst="roundRect">
            <a:avLst>
              <a:gd name="adj" fmla="val 15000"/>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9202" bIns="19202"/>
          <a:lstStyle/>
          <a:p>
            <a:pPr algn="ctr"/>
            <a:r>
              <a:rPr sz="1000" b="1" i="0">
                <a:solidFill>
                  <a:srgbClr val="FFFFFF"/>
                </a:solidFill>
                <a:latin typeface="Calibri"/>
              </a:rPr>
              <a:t>Data</a:t>
            </a:r>
          </a:p>
        </p:txBody>
      </p:sp>
      <p:sp>
        <p:nvSpPr>
          <p:cNvPr id="40" name="Seg 1 h"/>
          <p:cNvSpPr txBox="1"/>
          <p:nvPr/>
        </p:nvSpPr>
        <p:spPr>
          <a:xfrm>
            <a:off x="594360" y="5961888"/>
            <a:ext cx="822960" cy="228600"/>
          </a:xfrm>
          <a:prstGeom prst="rect">
            <a:avLst/>
          </a:prstGeom>
          <a:noFill/>
        </p:spPr>
        <p:txBody>
          <a:bodyPr wrap="square" lIns="0" rIns="0" tIns="0" bIns="0" anchor="t">
            <a:spAutoFit/>
          </a:bodyPr>
          <a:lstStyle/>
          <a:p>
            <a:pPr algn="ctr"/>
            <a:r>
              <a:rPr sz="900" b="0" i="0">
                <a:solidFill>
                  <a:srgbClr val="5A6275"/>
                </a:solidFill>
                <a:latin typeface="Calibri"/>
              </a:rPr>
              <a:t>H0–6</a:t>
            </a:r>
          </a:p>
        </p:txBody>
      </p:sp>
      <p:sp>
        <p:nvSpPr>
          <p:cNvPr id="41" name="Seg 2"/>
          <p:cNvSpPr/>
          <p:nvPr/>
        </p:nvSpPr>
        <p:spPr>
          <a:xfrm>
            <a:off x="1435608" y="5559552"/>
            <a:ext cx="822960" cy="384048"/>
          </a:xfrm>
          <a:prstGeom prst="roundRect">
            <a:avLst>
              <a:gd name="adj" fmla="val 15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9202" bIns="19202"/>
          <a:lstStyle/>
          <a:p>
            <a:pPr algn="ctr"/>
            <a:r>
              <a:rPr sz="1000" b="1" i="0">
                <a:solidFill>
                  <a:srgbClr val="FFFFFF"/>
                </a:solidFill>
                <a:latin typeface="Calibri"/>
              </a:rPr>
              <a:t>Engine</a:t>
            </a:r>
          </a:p>
        </p:txBody>
      </p:sp>
      <p:sp>
        <p:nvSpPr>
          <p:cNvPr id="42" name="Seg 2 h"/>
          <p:cNvSpPr txBox="1"/>
          <p:nvPr/>
        </p:nvSpPr>
        <p:spPr>
          <a:xfrm>
            <a:off x="1435608" y="5961888"/>
            <a:ext cx="822960" cy="228600"/>
          </a:xfrm>
          <a:prstGeom prst="rect">
            <a:avLst/>
          </a:prstGeom>
          <a:noFill/>
        </p:spPr>
        <p:txBody>
          <a:bodyPr wrap="square" lIns="0" rIns="0" tIns="0" bIns="0" anchor="t">
            <a:spAutoFit/>
          </a:bodyPr>
          <a:lstStyle/>
          <a:p>
            <a:pPr algn="ctr"/>
            <a:r>
              <a:rPr sz="900" b="0" i="0">
                <a:solidFill>
                  <a:srgbClr val="5A6275"/>
                </a:solidFill>
                <a:latin typeface="Calibri"/>
              </a:rPr>
              <a:t>H6–12</a:t>
            </a:r>
          </a:p>
        </p:txBody>
      </p:sp>
      <p:sp>
        <p:nvSpPr>
          <p:cNvPr id="43" name="Seg 3"/>
          <p:cNvSpPr/>
          <p:nvPr/>
        </p:nvSpPr>
        <p:spPr>
          <a:xfrm>
            <a:off x="2276856" y="5559552"/>
            <a:ext cx="822960" cy="384048"/>
          </a:xfrm>
          <a:prstGeom prst="roundRect">
            <a:avLst>
              <a:gd name="adj" fmla="val 1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9202" bIns="19202"/>
          <a:lstStyle/>
          <a:p>
            <a:pPr algn="ctr"/>
            <a:r>
              <a:rPr sz="1000" b="1" i="0">
                <a:solidFill>
                  <a:srgbClr val="FFFFFF"/>
                </a:solidFill>
                <a:latin typeface="Calibri"/>
              </a:rPr>
              <a:t>App + UI</a:t>
            </a:r>
          </a:p>
        </p:txBody>
      </p:sp>
      <p:sp>
        <p:nvSpPr>
          <p:cNvPr id="44" name="Seg 3 h"/>
          <p:cNvSpPr txBox="1"/>
          <p:nvPr/>
        </p:nvSpPr>
        <p:spPr>
          <a:xfrm>
            <a:off x="2276856" y="5961888"/>
            <a:ext cx="822960" cy="228600"/>
          </a:xfrm>
          <a:prstGeom prst="rect">
            <a:avLst/>
          </a:prstGeom>
          <a:noFill/>
        </p:spPr>
        <p:txBody>
          <a:bodyPr wrap="square" lIns="0" rIns="0" tIns="0" bIns="0" anchor="t">
            <a:spAutoFit/>
          </a:bodyPr>
          <a:lstStyle/>
          <a:p>
            <a:pPr algn="ctr"/>
            <a:r>
              <a:rPr sz="900" b="0" i="0">
                <a:solidFill>
                  <a:srgbClr val="5A6275"/>
                </a:solidFill>
                <a:latin typeface="Calibri"/>
              </a:rPr>
              <a:t>H12–18</a:t>
            </a:r>
          </a:p>
        </p:txBody>
      </p:sp>
      <p:sp>
        <p:nvSpPr>
          <p:cNvPr id="45" name="Seg 4"/>
          <p:cNvSpPr/>
          <p:nvPr/>
        </p:nvSpPr>
        <p:spPr>
          <a:xfrm>
            <a:off x="3118104" y="5559552"/>
            <a:ext cx="822960" cy="384048"/>
          </a:xfrm>
          <a:prstGeom prst="roundRect">
            <a:avLst>
              <a:gd name="adj" fmla="val 1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9202" bIns="19202"/>
          <a:lstStyle/>
          <a:p>
            <a:pPr algn="ctr"/>
            <a:r>
              <a:rPr sz="1000" b="1" i="0">
                <a:solidFill>
                  <a:srgbClr val="FFFFFF"/>
                </a:solidFill>
                <a:latin typeface="Calibri"/>
              </a:rPr>
              <a:t>Deploy</a:t>
            </a:r>
          </a:p>
        </p:txBody>
      </p:sp>
      <p:sp>
        <p:nvSpPr>
          <p:cNvPr id="46" name="Seg 4 h"/>
          <p:cNvSpPr txBox="1"/>
          <p:nvPr/>
        </p:nvSpPr>
        <p:spPr>
          <a:xfrm>
            <a:off x="3118104" y="5961888"/>
            <a:ext cx="822960" cy="228600"/>
          </a:xfrm>
          <a:prstGeom prst="rect">
            <a:avLst/>
          </a:prstGeom>
          <a:noFill/>
        </p:spPr>
        <p:txBody>
          <a:bodyPr wrap="square" lIns="0" rIns="0" tIns="0" bIns="0" anchor="t">
            <a:spAutoFit/>
          </a:bodyPr>
          <a:lstStyle/>
          <a:p>
            <a:pPr algn="ctr"/>
            <a:r>
              <a:rPr sz="900" b="0" i="0">
                <a:solidFill>
                  <a:srgbClr val="5A6275"/>
                </a:solidFill>
                <a:latin typeface="Calibri"/>
              </a:rPr>
              <a:t>H18–24</a:t>
            </a:r>
          </a:p>
        </p:txBody>
      </p:sp>
      <p:sp>
        <p:nvSpPr>
          <p:cNvPr id="47" name="Cost"/>
          <p:cNvSpPr txBox="1"/>
          <p:nvPr/>
        </p:nvSpPr>
        <p:spPr>
          <a:xfrm>
            <a:off x="594360" y="6236208"/>
            <a:ext cx="3383280" cy="274320"/>
          </a:xfrm>
          <a:prstGeom prst="rect">
            <a:avLst/>
          </a:prstGeom>
          <a:noFill/>
        </p:spPr>
        <p:txBody>
          <a:bodyPr wrap="square" lIns="0" rIns="0" tIns="0" bIns="0" anchor="t">
            <a:spAutoFit/>
          </a:bodyPr>
          <a:lstStyle/>
          <a:p>
            <a:pPr algn="l"/>
            <a:r>
              <a:rPr sz="1100" b="1" i="0">
                <a:solidFill>
                  <a:srgbClr val="1E2761"/>
                </a:solidFill>
                <a:latin typeface="Calibri"/>
              </a:rPr>
              <a:t>Cost: </a:t>
            </a:r>
            <a:r>
              <a:rPr sz="1100" b="0" i="0">
                <a:solidFill>
                  <a:srgbClr val="222222"/>
                </a:solidFill>
                <a:latin typeface="Calibri"/>
              </a:rPr>
              <a:t>₹0, free tiers + open source</a:t>
            </a:r>
          </a:p>
        </p:txBody>
      </p:sp>
      <p:sp>
        <p:nvSpPr>
          <p:cNvPr id="48" name="Risk 1"/>
          <p:cNvSpPr/>
          <p:nvPr/>
        </p:nvSpPr>
        <p:spPr>
          <a:xfrm>
            <a:off x="4288536" y="3072384"/>
            <a:ext cx="3630168" cy="804672"/>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49" name="Badge db"/>
          <p:cNvSpPr/>
          <p:nvPr/>
        </p:nvSpPr>
        <p:spPr>
          <a:xfrm>
            <a:off x="4407408" y="3255264"/>
            <a:ext cx="438912" cy="438912"/>
          </a:xfrm>
          <a:prstGeom prst="ellipse">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db_C62828.png"/>
          <p:cNvPicPr>
            <a:picLocks noChangeAspect="1"/>
          </p:cNvPicPr>
          <p:nvPr/>
        </p:nvPicPr>
        <p:blipFill>
          <a:blip r:embed="rId7"/>
          <a:stretch>
            <a:fillRect/>
          </a:stretch>
        </p:blipFill>
        <p:spPr>
          <a:xfrm>
            <a:off x="4503968" y="3351824"/>
            <a:ext cx="245790" cy="245790"/>
          </a:xfrm>
          <a:prstGeom prst="rect">
            <a:avLst/>
          </a:prstGeom>
        </p:spPr>
      </p:pic>
      <p:sp>
        <p:nvSpPr>
          <p:cNvPr id="51" name="Risk 1 head"/>
          <p:cNvSpPr txBox="1"/>
          <p:nvPr/>
        </p:nvSpPr>
        <p:spPr>
          <a:xfrm>
            <a:off x="4956048" y="3163824"/>
            <a:ext cx="2880360" cy="274320"/>
          </a:xfrm>
          <a:prstGeom prst="rect">
            <a:avLst/>
          </a:prstGeom>
          <a:noFill/>
        </p:spPr>
        <p:txBody>
          <a:bodyPr wrap="square" lIns="0" rIns="0" tIns="0" bIns="0" anchor="t">
            <a:spAutoFit/>
          </a:bodyPr>
          <a:lstStyle/>
          <a:p>
            <a:pPr algn="l"/>
            <a:r>
              <a:rPr sz="1250" b="1" i="0">
                <a:solidFill>
                  <a:srgbClr val="C62828"/>
                </a:solidFill>
                <a:latin typeface="Calibri"/>
              </a:rPr>
              <a:t>Synthetic data</a:t>
            </a:r>
          </a:p>
        </p:txBody>
      </p:sp>
      <p:sp>
        <p:nvSpPr>
          <p:cNvPr id="52" name="Risk 1 fix"/>
          <p:cNvSpPr txBox="1"/>
          <p:nvPr/>
        </p:nvSpPr>
        <p:spPr>
          <a:xfrm>
            <a:off x="4956048" y="3456432"/>
            <a:ext cx="2880360" cy="384048"/>
          </a:xfrm>
          <a:prstGeom prst="rect">
            <a:avLst/>
          </a:prstGeom>
          <a:noFill/>
        </p:spPr>
        <p:txBody>
          <a:bodyPr wrap="square" lIns="0" rIns="0" tIns="0" bIns="0" anchor="t">
            <a:spAutoFit/>
          </a:bodyPr>
          <a:lstStyle/>
          <a:p>
            <a:pPr algn="l"/>
            <a:r>
              <a:rPr sz="1100" b="0" i="0">
                <a:solidFill>
                  <a:srgbClr val="222222"/>
                </a:solidFill>
                <a:latin typeface="Calibri"/>
              </a:rPr>
              <a:t>→ hard negatives, per-type metrics, public-set checks</a:t>
            </a:r>
          </a:p>
        </p:txBody>
      </p:sp>
      <p:sp>
        <p:nvSpPr>
          <p:cNvPr id="53" name="Risk 2"/>
          <p:cNvSpPr/>
          <p:nvPr/>
        </p:nvSpPr>
        <p:spPr>
          <a:xfrm>
            <a:off x="4288536" y="3968496"/>
            <a:ext cx="3630168" cy="804672"/>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54" name="Badge radio"/>
          <p:cNvSpPr/>
          <p:nvPr/>
        </p:nvSpPr>
        <p:spPr>
          <a:xfrm>
            <a:off x="4407408" y="4151376"/>
            <a:ext cx="438912" cy="438912"/>
          </a:xfrm>
          <a:prstGeom prst="ellipse">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radio_C62828.png"/>
          <p:cNvPicPr>
            <a:picLocks noChangeAspect="1"/>
          </p:cNvPicPr>
          <p:nvPr/>
        </p:nvPicPr>
        <p:blipFill>
          <a:blip r:embed="rId8"/>
          <a:stretch>
            <a:fillRect/>
          </a:stretch>
        </p:blipFill>
        <p:spPr>
          <a:xfrm>
            <a:off x="4503968" y="4247936"/>
            <a:ext cx="245790" cy="245790"/>
          </a:xfrm>
          <a:prstGeom prst="rect">
            <a:avLst/>
          </a:prstGeom>
        </p:spPr>
      </p:pic>
      <p:sp>
        <p:nvSpPr>
          <p:cNvPr id="56" name="Risk 2 head"/>
          <p:cNvSpPr txBox="1"/>
          <p:nvPr/>
        </p:nvSpPr>
        <p:spPr>
          <a:xfrm>
            <a:off x="4956048" y="4059935"/>
            <a:ext cx="2880360" cy="274320"/>
          </a:xfrm>
          <a:prstGeom prst="rect">
            <a:avLst/>
          </a:prstGeom>
          <a:noFill/>
        </p:spPr>
        <p:txBody>
          <a:bodyPr wrap="square" lIns="0" rIns="0" tIns="0" bIns="0" anchor="t">
            <a:spAutoFit/>
          </a:bodyPr>
          <a:lstStyle/>
          <a:p>
            <a:pPr algn="l"/>
            <a:r>
              <a:rPr sz="1250" b="1" i="0">
                <a:solidFill>
                  <a:srgbClr val="C62828"/>
                </a:solidFill>
                <a:latin typeface="Calibri"/>
              </a:rPr>
              <a:t>Call state needs an SDK</a:t>
            </a:r>
          </a:p>
        </p:txBody>
      </p:sp>
      <p:sp>
        <p:nvSpPr>
          <p:cNvPr id="57" name="Risk 2 fix"/>
          <p:cNvSpPr txBox="1"/>
          <p:nvPr/>
        </p:nvSpPr>
        <p:spPr>
          <a:xfrm>
            <a:off x="4956048" y="4352544"/>
            <a:ext cx="2880360" cy="384048"/>
          </a:xfrm>
          <a:prstGeom prst="rect">
            <a:avLst/>
          </a:prstGeom>
          <a:noFill/>
        </p:spPr>
        <p:txBody>
          <a:bodyPr wrap="square" lIns="0" rIns="0" tIns="0" bIns="0" anchor="t">
            <a:spAutoFit/>
          </a:bodyPr>
          <a:lstStyle/>
          <a:p>
            <a:pPr algn="l"/>
            <a:r>
              <a:rPr sz="1100" b="0" i="0">
                <a:solidFill>
                  <a:srgbClr val="222222"/>
                </a:solidFill>
                <a:latin typeface="Calibri"/>
              </a:rPr>
              <a:t>→ missing = “unknown”, never “safe”</a:t>
            </a:r>
          </a:p>
        </p:txBody>
      </p:sp>
      <p:sp>
        <p:nvSpPr>
          <p:cNvPr id="58" name="Risk 3"/>
          <p:cNvSpPr/>
          <p:nvPr/>
        </p:nvSpPr>
        <p:spPr>
          <a:xfrm>
            <a:off x="4288536" y="4864608"/>
            <a:ext cx="3630168" cy="804672"/>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59" name="Badge alert"/>
          <p:cNvSpPr/>
          <p:nvPr/>
        </p:nvSpPr>
        <p:spPr>
          <a:xfrm>
            <a:off x="4407408" y="5047488"/>
            <a:ext cx="438912" cy="438912"/>
          </a:xfrm>
          <a:prstGeom prst="ellipse">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alert_C62828.png"/>
          <p:cNvPicPr>
            <a:picLocks noChangeAspect="1"/>
          </p:cNvPicPr>
          <p:nvPr/>
        </p:nvPicPr>
        <p:blipFill>
          <a:blip r:embed="rId9"/>
          <a:stretch>
            <a:fillRect/>
          </a:stretch>
        </p:blipFill>
        <p:spPr>
          <a:xfrm>
            <a:off x="4503968" y="5144048"/>
            <a:ext cx="245790" cy="245790"/>
          </a:xfrm>
          <a:prstGeom prst="rect">
            <a:avLst/>
          </a:prstGeom>
        </p:spPr>
      </p:pic>
      <p:sp>
        <p:nvSpPr>
          <p:cNvPr id="61" name="Risk 3 head"/>
          <p:cNvSpPr txBox="1"/>
          <p:nvPr/>
        </p:nvSpPr>
        <p:spPr>
          <a:xfrm>
            <a:off x="4956048" y="4956048"/>
            <a:ext cx="2880360" cy="274320"/>
          </a:xfrm>
          <a:prstGeom prst="rect">
            <a:avLst/>
          </a:prstGeom>
          <a:noFill/>
        </p:spPr>
        <p:txBody>
          <a:bodyPr wrap="square" lIns="0" rIns="0" tIns="0" bIns="0" anchor="t">
            <a:spAutoFit/>
          </a:bodyPr>
          <a:lstStyle/>
          <a:p>
            <a:pPr algn="l"/>
            <a:r>
              <a:rPr sz="1250" b="1" i="0">
                <a:solidFill>
                  <a:srgbClr val="C62828"/>
                </a:solidFill>
                <a:latin typeface="Calibri"/>
              </a:rPr>
              <a:t>False positives</a:t>
            </a:r>
          </a:p>
        </p:txBody>
      </p:sp>
      <p:sp>
        <p:nvSpPr>
          <p:cNvPr id="62" name="Risk 3 fix"/>
          <p:cNvSpPr txBox="1"/>
          <p:nvPr/>
        </p:nvSpPr>
        <p:spPr>
          <a:xfrm>
            <a:off x="4956048" y="5248656"/>
            <a:ext cx="2880360" cy="384048"/>
          </a:xfrm>
          <a:prstGeom prst="rect">
            <a:avLst/>
          </a:prstGeom>
          <a:noFill/>
        </p:spPr>
        <p:txBody>
          <a:bodyPr wrap="square" lIns="0" rIns="0" tIns="0" bIns="0" anchor="t">
            <a:spAutoFit/>
          </a:bodyPr>
          <a:lstStyle/>
          <a:p>
            <a:pPr algn="l"/>
            <a:r>
              <a:rPr sz="1100" b="0" i="0">
                <a:solidFill>
                  <a:srgbClr val="222222"/>
                </a:solidFill>
                <a:latin typeface="Calibri"/>
              </a:rPr>
              <a:t>→ block only at p ≥ 0.9; ≤ 5% challenged</a:t>
            </a:r>
          </a:p>
        </p:txBody>
      </p:sp>
      <p:sp>
        <p:nvSpPr>
          <p:cNvPr id="63" name="Risk 4"/>
          <p:cNvSpPr/>
          <p:nvPr/>
        </p:nvSpPr>
        <p:spPr>
          <a:xfrm>
            <a:off x="4288536" y="5760720"/>
            <a:ext cx="3630168" cy="804672"/>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64" name="Badge lock"/>
          <p:cNvSpPr/>
          <p:nvPr/>
        </p:nvSpPr>
        <p:spPr>
          <a:xfrm>
            <a:off x="4407408" y="5943600"/>
            <a:ext cx="438912" cy="438912"/>
          </a:xfrm>
          <a:prstGeom prst="ellipse">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lock_C62828.png"/>
          <p:cNvPicPr>
            <a:picLocks noChangeAspect="1"/>
          </p:cNvPicPr>
          <p:nvPr/>
        </p:nvPicPr>
        <p:blipFill>
          <a:blip r:embed="rId10"/>
          <a:stretch>
            <a:fillRect/>
          </a:stretch>
        </p:blipFill>
        <p:spPr>
          <a:xfrm>
            <a:off x="4503968" y="6040160"/>
            <a:ext cx="245790" cy="245790"/>
          </a:xfrm>
          <a:prstGeom prst="rect">
            <a:avLst/>
          </a:prstGeom>
        </p:spPr>
      </p:pic>
      <p:sp>
        <p:nvSpPr>
          <p:cNvPr id="66" name="Risk 4 head"/>
          <p:cNvSpPr txBox="1"/>
          <p:nvPr/>
        </p:nvSpPr>
        <p:spPr>
          <a:xfrm>
            <a:off x="4956048" y="5852159"/>
            <a:ext cx="2880360" cy="274320"/>
          </a:xfrm>
          <a:prstGeom prst="rect">
            <a:avLst/>
          </a:prstGeom>
          <a:noFill/>
        </p:spPr>
        <p:txBody>
          <a:bodyPr wrap="square" lIns="0" rIns="0" tIns="0" bIns="0" anchor="t">
            <a:spAutoFit/>
          </a:bodyPr>
          <a:lstStyle/>
          <a:p>
            <a:pPr algn="l"/>
            <a:r>
              <a:rPr sz="1250" b="1" i="0">
                <a:solidFill>
                  <a:srgbClr val="C62828"/>
                </a:solidFill>
                <a:latin typeface="Calibri"/>
              </a:rPr>
              <a:t>Privacy (DPDP)</a:t>
            </a:r>
          </a:p>
        </p:txBody>
      </p:sp>
      <p:sp>
        <p:nvSpPr>
          <p:cNvPr id="67" name="Risk 4 fix"/>
          <p:cNvSpPr txBox="1"/>
          <p:nvPr/>
        </p:nvSpPr>
        <p:spPr>
          <a:xfrm>
            <a:off x="4956048" y="6144768"/>
            <a:ext cx="2880360" cy="384048"/>
          </a:xfrm>
          <a:prstGeom prst="rect">
            <a:avLst/>
          </a:prstGeom>
          <a:noFill/>
        </p:spPr>
        <p:txBody>
          <a:bodyPr wrap="square" lIns="0" rIns="0" tIns="0" bIns="0" anchor="t">
            <a:spAutoFit/>
          </a:bodyPr>
          <a:lstStyle/>
          <a:p>
            <a:pPr algn="l"/>
            <a:r>
              <a:rPr sz="1100" b="0" i="0">
                <a:solidFill>
                  <a:srgbClr val="222222"/>
                </a:solidFill>
                <a:latin typeface="Calibri"/>
              </a:rPr>
              <a:t>→ derived features only, hashed IDs</a:t>
            </a:r>
          </a:p>
        </p:txBody>
      </p:sp>
      <p:sp>
        <p:nvSpPr>
          <p:cNvPr id="68" name="Impact lead"/>
          <p:cNvSpPr/>
          <p:nvPr/>
        </p:nvSpPr>
        <p:spPr>
          <a:xfrm>
            <a:off x="8119872" y="3072384"/>
            <a:ext cx="3630168" cy="566928"/>
          </a:xfrm>
          <a:prstGeom prst="roundRect">
            <a:avLst>
              <a:gd name="adj" fmla="val 12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6012" bIns="96012"/>
          <a:lstStyle/>
          <a:p>
            <a:pPr algn="ctr"/>
            <a:r>
              <a:rPr sz="1200" b="1" i="0">
                <a:solidFill>
                  <a:srgbClr val="2E7D32"/>
                </a:solidFill>
                <a:latin typeface="Calibri"/>
              </a:rPr>
              <a:t>Honest payments stay instant.</a:t>
            </a:r>
          </a:p>
          <a:p>
            <a:pPr algn="ctr"/>
            <a:r>
              <a:rPr sz="1200" b="1" i="0">
                <a:solidFill>
                  <a:srgbClr val="2E7D32"/>
                </a:solidFill>
                <a:latin typeface="Calibri"/>
              </a:rPr>
              <a:t>Risky ones get stopped.</a:t>
            </a:r>
          </a:p>
        </p:txBody>
      </p:sp>
      <p:sp>
        <p:nvSpPr>
          <p:cNvPr id="69" name="Metric 1"/>
          <p:cNvSpPr/>
          <p:nvPr/>
        </p:nvSpPr>
        <p:spPr>
          <a:xfrm>
            <a:off x="8119872" y="3730752"/>
            <a:ext cx="3630168" cy="749808"/>
          </a:xfrm>
          <a:prstGeom prst="roundRect">
            <a:avLst>
              <a:gd name="adj" fmla="val 10000"/>
            </a:avLst>
          </a:prstGeom>
          <a:solidFill>
            <a:srgbClr val="FFFFFF"/>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70" name="Badge shield"/>
          <p:cNvSpPr/>
          <p:nvPr/>
        </p:nvSpPr>
        <p:spPr>
          <a:xfrm>
            <a:off x="8229600" y="3886200"/>
            <a:ext cx="438912" cy="43891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shield_FFFFFF.png"/>
          <p:cNvPicPr>
            <a:picLocks noChangeAspect="1"/>
          </p:cNvPicPr>
          <p:nvPr/>
        </p:nvPicPr>
        <p:blipFill>
          <a:blip r:embed="rId11"/>
          <a:stretch>
            <a:fillRect/>
          </a:stretch>
        </p:blipFill>
        <p:spPr>
          <a:xfrm>
            <a:off x="8326160" y="3982760"/>
            <a:ext cx="245790" cy="245790"/>
          </a:xfrm>
          <a:prstGeom prst="rect">
            <a:avLst/>
          </a:prstGeom>
        </p:spPr>
      </p:pic>
      <p:sp>
        <p:nvSpPr>
          <p:cNvPr id="72" name="Metric 1 value"/>
          <p:cNvSpPr txBox="1"/>
          <p:nvPr/>
        </p:nvSpPr>
        <p:spPr>
          <a:xfrm>
            <a:off x="8759952" y="3767328"/>
            <a:ext cx="2926080" cy="384048"/>
          </a:xfrm>
          <a:prstGeom prst="rect">
            <a:avLst/>
          </a:prstGeom>
          <a:noFill/>
        </p:spPr>
        <p:txBody>
          <a:bodyPr wrap="square" lIns="0" rIns="0" tIns="0" bIns="0" anchor="t">
            <a:spAutoFit/>
          </a:bodyPr>
          <a:lstStyle/>
          <a:p>
            <a:pPr algn="l"/>
            <a:r>
              <a:rPr sz="2000" b="1" i="0">
                <a:solidFill>
                  <a:srgbClr val="2E7D32"/>
                </a:solidFill>
                <a:latin typeface="Cambria"/>
              </a:rPr>
              <a:t>≥ 80%</a:t>
            </a:r>
          </a:p>
        </p:txBody>
      </p:sp>
      <p:sp>
        <p:nvSpPr>
          <p:cNvPr id="73" name="Metric 1 text"/>
          <p:cNvSpPr txBox="1"/>
          <p:nvPr/>
        </p:nvSpPr>
        <p:spPr>
          <a:xfrm>
            <a:off x="8759952" y="4151376"/>
            <a:ext cx="2926080" cy="310896"/>
          </a:xfrm>
          <a:prstGeom prst="rect">
            <a:avLst/>
          </a:prstGeom>
          <a:noFill/>
        </p:spPr>
        <p:txBody>
          <a:bodyPr wrap="square" lIns="0" rIns="0" tIns="0" bIns="0" anchor="t">
            <a:spAutoFit/>
          </a:bodyPr>
          <a:lstStyle/>
          <a:p>
            <a:pPr algn="l"/>
            <a:r>
              <a:rPr sz="1050" b="0" i="0">
                <a:solidFill>
                  <a:srgbClr val="222222"/>
                </a:solidFill>
                <a:latin typeface="Calibri"/>
              </a:rPr>
              <a:t>scams caught, ≤ 5% of honest payments challenged</a:t>
            </a:r>
          </a:p>
        </p:txBody>
      </p:sp>
      <p:sp>
        <p:nvSpPr>
          <p:cNvPr id="74" name="Metric 2"/>
          <p:cNvSpPr/>
          <p:nvPr/>
        </p:nvSpPr>
        <p:spPr>
          <a:xfrm>
            <a:off x="8119872" y="4572000"/>
            <a:ext cx="3630168" cy="749808"/>
          </a:xfrm>
          <a:prstGeom prst="roundRect">
            <a:avLst>
              <a:gd name="adj" fmla="val 10000"/>
            </a:avLst>
          </a:prstGeom>
          <a:solidFill>
            <a:srgbClr val="FFFFFF"/>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75" name="Badge zap"/>
          <p:cNvSpPr/>
          <p:nvPr/>
        </p:nvSpPr>
        <p:spPr>
          <a:xfrm>
            <a:off x="8229600" y="4727448"/>
            <a:ext cx="438912" cy="43891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zap_FFFFFF.png"/>
          <p:cNvPicPr>
            <a:picLocks noChangeAspect="1"/>
          </p:cNvPicPr>
          <p:nvPr/>
        </p:nvPicPr>
        <p:blipFill>
          <a:blip r:embed="rId12"/>
          <a:stretch>
            <a:fillRect/>
          </a:stretch>
        </p:blipFill>
        <p:spPr>
          <a:xfrm>
            <a:off x="8326160" y="4824008"/>
            <a:ext cx="245790" cy="245790"/>
          </a:xfrm>
          <a:prstGeom prst="rect">
            <a:avLst/>
          </a:prstGeom>
        </p:spPr>
      </p:pic>
      <p:sp>
        <p:nvSpPr>
          <p:cNvPr id="77" name="Metric 2 value"/>
          <p:cNvSpPr txBox="1"/>
          <p:nvPr/>
        </p:nvSpPr>
        <p:spPr>
          <a:xfrm>
            <a:off x="8759952" y="4608576"/>
            <a:ext cx="2926080" cy="384048"/>
          </a:xfrm>
          <a:prstGeom prst="rect">
            <a:avLst/>
          </a:prstGeom>
          <a:noFill/>
        </p:spPr>
        <p:txBody>
          <a:bodyPr wrap="square" lIns="0" rIns="0" tIns="0" bIns="0" anchor="t">
            <a:spAutoFit/>
          </a:bodyPr>
          <a:lstStyle/>
          <a:p>
            <a:pPr algn="l"/>
            <a:r>
              <a:rPr sz="2000" b="1" i="0">
                <a:solidFill>
                  <a:srgbClr val="2E7D32"/>
                </a:solidFill>
                <a:latin typeface="Cambria"/>
              </a:rPr>
              <a:t>≥ 90%</a:t>
            </a:r>
          </a:p>
        </p:txBody>
      </p:sp>
      <p:sp>
        <p:nvSpPr>
          <p:cNvPr id="78" name="Metric 2 text"/>
          <p:cNvSpPr txBox="1"/>
          <p:nvPr/>
        </p:nvSpPr>
        <p:spPr>
          <a:xfrm>
            <a:off x="8759952" y="4992624"/>
            <a:ext cx="2926080" cy="310896"/>
          </a:xfrm>
          <a:prstGeom prst="rect">
            <a:avLst/>
          </a:prstGeom>
          <a:noFill/>
        </p:spPr>
        <p:txBody>
          <a:bodyPr wrap="square" lIns="0" rIns="0" tIns="0" bIns="0" anchor="t">
            <a:spAutoFit/>
          </a:bodyPr>
          <a:lstStyle/>
          <a:p>
            <a:pPr algn="l"/>
            <a:r>
              <a:rPr sz="1050" b="0" i="0">
                <a:solidFill>
                  <a:srgbClr val="222222"/>
                </a:solidFill>
                <a:latin typeface="Calibri"/>
              </a:rPr>
              <a:t>honest ₹10k+ transfers with no delay</a:t>
            </a:r>
          </a:p>
        </p:txBody>
      </p:sp>
      <p:sp>
        <p:nvSpPr>
          <p:cNvPr id="79" name="Metric 3"/>
          <p:cNvSpPr/>
          <p:nvPr/>
        </p:nvSpPr>
        <p:spPr>
          <a:xfrm>
            <a:off x="8119872" y="5413248"/>
            <a:ext cx="3630168" cy="749808"/>
          </a:xfrm>
          <a:prstGeom prst="roundRect">
            <a:avLst>
              <a:gd name="adj" fmla="val 10000"/>
            </a:avLst>
          </a:prstGeom>
          <a:solidFill>
            <a:srgbClr val="FFFFFF"/>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ctr"/>
          </a:p>
        </p:txBody>
      </p:sp>
      <p:sp>
        <p:nvSpPr>
          <p:cNvPr id="80" name="Badge gauge"/>
          <p:cNvSpPr/>
          <p:nvPr/>
        </p:nvSpPr>
        <p:spPr>
          <a:xfrm>
            <a:off x="8229600" y="5568696"/>
            <a:ext cx="438912" cy="43891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1" name="Picture 80" descr="gauge_FFFFFF.png"/>
          <p:cNvPicPr>
            <a:picLocks noChangeAspect="1"/>
          </p:cNvPicPr>
          <p:nvPr/>
        </p:nvPicPr>
        <p:blipFill>
          <a:blip r:embed="rId13"/>
          <a:stretch>
            <a:fillRect/>
          </a:stretch>
        </p:blipFill>
        <p:spPr>
          <a:xfrm>
            <a:off x="8326160" y="5665256"/>
            <a:ext cx="245790" cy="245790"/>
          </a:xfrm>
          <a:prstGeom prst="rect">
            <a:avLst/>
          </a:prstGeom>
        </p:spPr>
      </p:pic>
      <p:sp>
        <p:nvSpPr>
          <p:cNvPr id="82" name="Metric 3 value"/>
          <p:cNvSpPr txBox="1"/>
          <p:nvPr/>
        </p:nvSpPr>
        <p:spPr>
          <a:xfrm>
            <a:off x="8759952" y="5449824"/>
            <a:ext cx="2926080" cy="384048"/>
          </a:xfrm>
          <a:prstGeom prst="rect">
            <a:avLst/>
          </a:prstGeom>
          <a:noFill/>
        </p:spPr>
        <p:txBody>
          <a:bodyPr wrap="square" lIns="0" rIns="0" tIns="0" bIns="0" anchor="t">
            <a:spAutoFit/>
          </a:bodyPr>
          <a:lstStyle/>
          <a:p>
            <a:pPr algn="l"/>
            <a:r>
              <a:rPr sz="2000" b="1" i="0">
                <a:solidFill>
                  <a:srgbClr val="2E7D32"/>
                </a:solidFill>
                <a:latin typeface="Cambria"/>
              </a:rPr>
              <a:t>&lt; 50 ms</a:t>
            </a:r>
          </a:p>
        </p:txBody>
      </p:sp>
      <p:sp>
        <p:nvSpPr>
          <p:cNvPr id="83" name="Metric 3 text"/>
          <p:cNvSpPr txBox="1"/>
          <p:nvPr/>
        </p:nvSpPr>
        <p:spPr>
          <a:xfrm>
            <a:off x="8759952" y="5833872"/>
            <a:ext cx="2926080" cy="310896"/>
          </a:xfrm>
          <a:prstGeom prst="rect">
            <a:avLst/>
          </a:prstGeom>
          <a:noFill/>
        </p:spPr>
        <p:txBody>
          <a:bodyPr wrap="square" lIns="0" rIns="0" tIns="0" bIns="0" anchor="t">
            <a:spAutoFit/>
          </a:bodyPr>
          <a:lstStyle/>
          <a:p>
            <a:pPr algn="l"/>
            <a:r>
              <a:rPr sz="1050" b="0" i="0">
                <a:solidFill>
                  <a:srgbClr val="222222"/>
                </a:solidFill>
                <a:latin typeface="Calibri"/>
              </a:rPr>
              <a:t>p95 decision time (UPI allows 15 s)</a:t>
            </a:r>
          </a:p>
        </p:txBody>
      </p:sp>
      <p:sp>
        <p:nvSpPr>
          <p:cNvPr id="84" name="Tagline"/>
          <p:cNvSpPr txBox="1"/>
          <p:nvPr/>
        </p:nvSpPr>
        <p:spPr>
          <a:xfrm>
            <a:off x="8119872" y="6291072"/>
            <a:ext cx="3630168" cy="274320"/>
          </a:xfrm>
          <a:prstGeom prst="rect">
            <a:avLst/>
          </a:prstGeom>
          <a:noFill/>
        </p:spPr>
        <p:txBody>
          <a:bodyPr wrap="square" lIns="0" rIns="0" tIns="0" bIns="0" anchor="t">
            <a:spAutoFit/>
          </a:bodyPr>
          <a:lstStyle/>
          <a:p>
            <a:pPr algn="ctr"/>
            <a:r>
              <a:rPr sz="1200" b="1" i="1">
                <a:solidFill>
                  <a:srgbClr val="1E2761"/>
                </a:solidFill>
                <a:latin typeface="Cambria"/>
              </a:rPr>
              <a:t>Fast. Secure. Explained.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